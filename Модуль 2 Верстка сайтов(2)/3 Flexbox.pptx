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84" r:id="rId2"/>
    <p:sldId id="274" r:id="rId3"/>
    <p:sldId id="281" r:id="rId4"/>
    <p:sldId id="282" r:id="rId5"/>
    <p:sldId id="283" r:id="rId6"/>
    <p:sldId id="280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65" r:id="rId19"/>
    <p:sldId id="268" r:id="rId20"/>
    <p:sldId id="269" r:id="rId21"/>
    <p:sldId id="270" r:id="rId22"/>
    <p:sldId id="271" r:id="rId23"/>
    <p:sldId id="272" r:id="rId24"/>
    <p:sldId id="273" r:id="rId25"/>
    <p:sldId id="279" r:id="rId26"/>
    <p:sldId id="276" r:id="rId27"/>
    <p:sldId id="277" r:id="rId28"/>
    <p:sldId id="285" r:id="rId29"/>
    <p:sldId id="291" r:id="rId30"/>
    <p:sldId id="292" r:id="rId31"/>
    <p:sldId id="293" r:id="rId32"/>
    <p:sldId id="286" r:id="rId33"/>
    <p:sldId id="287" r:id="rId34"/>
    <p:sldId id="288" r:id="rId35"/>
    <p:sldId id="289" r:id="rId36"/>
    <p:sldId id="290" r:id="rId37"/>
    <p:sldId id="278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42974-6D6F-4A59-8CB2-1AD5F72F48EB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AB26A-513E-4743-94D1-F5EE54925A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24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B65522-D5CA-46AA-98BE-B9251084F37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293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B65522-D5CA-46AA-98BE-B9251084F37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50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ED92-B7A8-45A1-B4C9-E3E632A02FAE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3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6CFF-261E-4DA5-ADD8-4F8F2B3808FE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4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63192-719B-4F7E-B808-2C63ED52FDA5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8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42E5-6959-4042-9B5F-0C9AC4C8D949}" type="datetime1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1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A517-20DD-43B8-872A-6727542F3B2D}" type="datetime1">
              <a:rPr lang="ru-RU" smtClean="0"/>
              <a:t>17.08.2026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44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6B47-F544-45EB-8600-37DB0F554547}" type="datetime1">
              <a:rPr lang="ru-RU" smtClean="0"/>
              <a:t>17.08.2026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90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7A23-2BD3-40BA-AD2A-AAAC4D6A7CDB}" type="datetime1">
              <a:rPr lang="ru-RU" smtClean="0"/>
              <a:t>17.08.2026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63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49C1B-8136-4039-8C1E-850E81A2E507}" type="datetime1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1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C797-08E5-400F-9821-7E35CDCF515E}" type="datetime1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17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08EE0-6A82-467B-B157-31CE505B738C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EEAE2-D99B-4AAD-ACF9-D3E54BF8E0E4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58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21F07-7E53-4EDF-ADF6-6DC41AA17313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0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st.github.com/monochromer/ab1034528c72c35e96fa01a236739589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rontender.info/a-guide-to-flexbox/" TargetMode="External"/><Relationship Id="rId2" Type="http://schemas.openxmlformats.org/officeDocument/2006/relationships/hyperlink" Target="https://tproger.ru/translations/how-css-flexbox-works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Гибкие блоки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Flexbox</a:t>
            </a:r>
            <a:endParaRPr lang="ru-RU" b="1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dirty="0" err="1" smtClean="0"/>
              <a:t>Рамилевна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616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Структура сайта</a:t>
            </a:r>
            <a:endParaRPr lang="ru-RU" b="1" dirty="0"/>
          </a:p>
        </p:txBody>
      </p:sp>
      <p:pic>
        <p:nvPicPr>
          <p:cNvPr id="3074" name="Picture 2" descr="Шаблон CSS Grid в действи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086" y="1666716"/>
            <a:ext cx="7720940" cy="506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69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Сетка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2862" y="1896667"/>
            <a:ext cx="6345589" cy="2786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Модульная сетка </a:t>
            </a:r>
            <a:r>
              <a:rPr lang="ru-RU" dirty="0"/>
              <a:t>в </a:t>
            </a:r>
            <a:r>
              <a:rPr lang="ru-RU" dirty="0" err="1"/>
              <a:t>web</a:t>
            </a:r>
            <a:r>
              <a:rPr lang="ru-RU" dirty="0"/>
              <a:t>-дизайне представляет собой единую схему расположения всех элементов и блоков сайта. 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70" y="587398"/>
            <a:ext cx="2955930" cy="5819898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63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сеток</a:t>
            </a:r>
            <a:endParaRPr lang="ru-RU" b="1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Блочная сетка — грубая разметка площади на блоки.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0" dirty="0" smtClean="0"/>
              <a:t>Колоночная </a:t>
            </a:r>
            <a:r>
              <a:rPr lang="ru-RU" b="0" dirty="0"/>
              <a:t>— имеющая колонки в своей структуре.</a:t>
            </a:r>
            <a:endParaRPr lang="ru-RU" dirty="0"/>
          </a:p>
        </p:txBody>
      </p:sp>
      <p:pic>
        <p:nvPicPr>
          <p:cNvPr id="2050" name="Picture 2" descr="https://webformyself.com/wp-content/uploads/2016/419/3.gif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217" y="2736057"/>
            <a:ext cx="3527797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ebformyself.com/wp-content/uploads/2016/419/4.gif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948" y="2736057"/>
            <a:ext cx="3527797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91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сеток</a:t>
            </a: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Модульная — состоящая из пересекающихся прямых, которые образуют модули.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Иерархическая — сетка с интуитивным размещением блоков, без какой-либо логической структуры.</a:t>
            </a:r>
            <a:endParaRPr lang="ru-RU" dirty="0"/>
          </a:p>
        </p:txBody>
      </p:sp>
      <p:pic>
        <p:nvPicPr>
          <p:cNvPr id="3074" name="Picture 2" descr="https://webformyself.com/wp-content/uploads/2016/419/5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56" y="2736057"/>
            <a:ext cx="3454301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ebformyself.com/wp-content/uploads/2016/419/6.gif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187" y="2736057"/>
            <a:ext cx="3535319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17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Способы верстки сеток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Тег </a:t>
            </a:r>
            <a:r>
              <a:rPr lang="en-US" dirty="0" smtClean="0"/>
              <a:t>div </a:t>
            </a:r>
            <a:r>
              <a:rPr lang="ru-RU" dirty="0" smtClean="0"/>
              <a:t>с </a:t>
            </a:r>
            <a:r>
              <a:rPr lang="en-US" dirty="0" smtClean="0"/>
              <a:t>CSS</a:t>
            </a:r>
            <a:r>
              <a:rPr lang="ru-RU" dirty="0" smtClean="0"/>
              <a:t>-свойствами </a:t>
            </a:r>
            <a:r>
              <a:rPr lang="en-US" dirty="0" smtClean="0"/>
              <a:t>display – block, inline, inline-block</a:t>
            </a:r>
          </a:p>
          <a:p>
            <a:r>
              <a:rPr lang="ru-RU" dirty="0" smtClean="0"/>
              <a:t>Одномерные гибкие блоки </a:t>
            </a:r>
            <a:r>
              <a:rPr lang="en-US" dirty="0" smtClean="0"/>
              <a:t>flexbox</a:t>
            </a:r>
          </a:p>
          <a:p>
            <a:r>
              <a:rPr lang="ru-RU" dirty="0" smtClean="0"/>
              <a:t>Система двумерных сеток </a:t>
            </a:r>
            <a:r>
              <a:rPr lang="en-US" dirty="0" smtClean="0"/>
              <a:t>grid layout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13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Flexbox</a:t>
            </a:r>
            <a:r>
              <a:rPr lang="ru-RU" b="1" dirty="0" smtClean="0"/>
              <a:t>:</a:t>
            </a:r>
            <a:r>
              <a:rPr lang="en-US" b="1" dirty="0" smtClean="0"/>
              <a:t> flex-</a:t>
            </a:r>
            <a:r>
              <a:rPr lang="ru-RU" b="1" smtClean="0"/>
              <a:t>контейнеры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77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</a:t>
            </a:r>
            <a:r>
              <a:rPr lang="ru-RU" b="1" dirty="0" err="1" smtClean="0"/>
              <a:t>флексбоксов</a:t>
            </a:r>
            <a:r>
              <a:rPr lang="ru-RU" b="1" dirty="0" smtClean="0"/>
              <a:t> – гибкого контейнера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690688"/>
            <a:ext cx="10915650" cy="490537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27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457" y="1673239"/>
            <a:ext cx="4948662" cy="4932490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Направление осей по умолчанию</a:t>
            </a:r>
            <a:endParaRPr lang="ru-RU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69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Направление осей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Стили у </a:t>
            </a:r>
            <a:r>
              <a:rPr lang="en-US" dirty="0" smtClean="0"/>
              <a:t>flex-</a:t>
            </a:r>
            <a:r>
              <a:rPr lang="ru-RU" dirty="0" smtClean="0"/>
              <a:t>контейнера</a:t>
            </a:r>
            <a:r>
              <a:rPr lang="en-US" dirty="0" smtClean="0"/>
              <a:t> flex-direction</a:t>
            </a:r>
            <a:endParaRPr lang="ru-RU" dirty="0" smtClean="0"/>
          </a:p>
          <a:p>
            <a:r>
              <a:rPr lang="en-US" dirty="0" err="1" smtClean="0"/>
              <a:t>flex-direction:row</a:t>
            </a:r>
            <a:r>
              <a:rPr lang="en-US" dirty="0" smtClean="0"/>
              <a:t>; </a:t>
            </a:r>
            <a:r>
              <a:rPr lang="ru-RU" dirty="0" smtClean="0"/>
              <a:t>(по умолчанию слева направо)</a:t>
            </a:r>
          </a:p>
          <a:p>
            <a:r>
              <a:rPr lang="en-US" dirty="0" err="1" smtClean="0"/>
              <a:t>flex-direction:column</a:t>
            </a:r>
            <a:r>
              <a:rPr lang="en-US" dirty="0" smtClean="0"/>
              <a:t>; </a:t>
            </a:r>
            <a:r>
              <a:rPr lang="ru-RU" dirty="0" smtClean="0"/>
              <a:t>(сверху вниз)</a:t>
            </a:r>
          </a:p>
          <a:p>
            <a:r>
              <a:rPr lang="en-US" dirty="0" err="1" smtClean="0"/>
              <a:t>flex-direction:row-reverse</a:t>
            </a:r>
            <a:r>
              <a:rPr lang="en-US" dirty="0" smtClean="0"/>
              <a:t>; </a:t>
            </a:r>
            <a:r>
              <a:rPr lang="ru-RU" dirty="0" smtClean="0"/>
              <a:t>(</a:t>
            </a:r>
            <a:r>
              <a:rPr lang="ru-RU" dirty="0" err="1" smtClean="0"/>
              <a:t>справо</a:t>
            </a:r>
            <a:r>
              <a:rPr lang="ru-RU" dirty="0" smtClean="0"/>
              <a:t> налево)</a:t>
            </a:r>
          </a:p>
          <a:p>
            <a:r>
              <a:rPr lang="en-US" dirty="0" err="1" smtClean="0"/>
              <a:t>flex-direction:column</a:t>
            </a:r>
            <a:r>
              <a:rPr lang="ru-RU" dirty="0" smtClean="0"/>
              <a:t>-</a:t>
            </a:r>
            <a:r>
              <a:rPr lang="en-US" dirty="0" smtClean="0"/>
              <a:t>reverse; </a:t>
            </a:r>
            <a:r>
              <a:rPr lang="ru-RU" dirty="0" smtClean="0"/>
              <a:t>(снизу вверх)</a:t>
            </a:r>
          </a:p>
          <a:p>
            <a:endParaRPr lang="ru-RU" dirty="0" smtClean="0"/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483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Направление осей </a:t>
            </a:r>
            <a:r>
              <a:rPr lang="en-US" b="1" dirty="0" smtClean="0"/>
              <a:t>column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490921"/>
            <a:ext cx="4811445" cy="4843204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52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Поперечная ось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главная ось направлена горизонтально, то поперечная ось смотрит вниз.</a:t>
            </a:r>
          </a:p>
          <a:p>
            <a:pPr marL="0" indent="0">
              <a:buNone/>
            </a:pPr>
            <a:r>
              <a:rPr lang="ru-RU" dirty="0"/>
              <a:t>Если главная ось направлена вертикально, то поперечная ось смотрит направо.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главной оси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48202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свойство </a:t>
            </a:r>
            <a:r>
              <a:rPr lang="en-US" b="1" dirty="0" smtClean="0"/>
              <a:t>justify-content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Возможные значения</a:t>
            </a:r>
          </a:p>
          <a:p>
            <a:r>
              <a:rPr lang="en-US" dirty="0" smtClean="0"/>
              <a:t>flex-start</a:t>
            </a:r>
          </a:p>
          <a:p>
            <a:r>
              <a:rPr lang="en-US" dirty="0" smtClean="0"/>
              <a:t>flex-end</a:t>
            </a:r>
          </a:p>
          <a:p>
            <a:r>
              <a:rPr lang="en-US" dirty="0" smtClean="0"/>
              <a:t>center</a:t>
            </a:r>
          </a:p>
          <a:p>
            <a:r>
              <a:rPr lang="en-US" dirty="0" smtClean="0"/>
              <a:t>space-between</a:t>
            </a:r>
          </a:p>
          <a:p>
            <a:r>
              <a:rPr lang="en-US" dirty="0" smtClean="0"/>
              <a:t>space-around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523" y="1695644"/>
            <a:ext cx="5876925" cy="18859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523" y="3330882"/>
            <a:ext cx="5848350" cy="16002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523" y="4931082"/>
            <a:ext cx="5848350" cy="171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8126" y="2249175"/>
            <a:ext cx="1483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flex-start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4523" y="4001294"/>
            <a:ext cx="1370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flex-end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8126" y="5489569"/>
            <a:ext cx="1120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center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96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76" y="4082358"/>
            <a:ext cx="5819775" cy="17526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76" y="1782684"/>
            <a:ext cx="5943600" cy="1771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560" y="2406899"/>
            <a:ext cx="2410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space-between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7000" y="4697048"/>
            <a:ext cx="2174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space-around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главной оси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27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свойство </a:t>
            </a:r>
            <a:r>
              <a:rPr lang="en-US" b="1" dirty="0" smtClean="0"/>
              <a:t>align-items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Возможные значения</a:t>
            </a:r>
          </a:p>
          <a:p>
            <a:r>
              <a:rPr lang="ru-RU" dirty="0" err="1" smtClean="0"/>
              <a:t>stretch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flex-start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flex-end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center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baseline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!!!</a:t>
            </a:r>
            <a:r>
              <a:rPr lang="ru-RU" dirty="0" smtClean="0">
                <a:solidFill>
                  <a:srgbClr val="FF0000"/>
                </a:solidFill>
              </a:rPr>
              <a:t>Уберите высоту у </a:t>
            </a:r>
            <a:r>
              <a:rPr lang="en-US" dirty="0" smtClean="0">
                <a:solidFill>
                  <a:srgbClr val="FF0000"/>
                </a:solidFill>
              </a:rPr>
              <a:t>flex-</a:t>
            </a:r>
            <a:r>
              <a:rPr lang="ru-RU" dirty="0" smtClean="0">
                <a:solidFill>
                  <a:srgbClr val="FF0000"/>
                </a:solidFill>
              </a:rPr>
              <a:t>элементов 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06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68" y="1520983"/>
            <a:ext cx="4665653" cy="4627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9149" y="3144465"/>
            <a:ext cx="1195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stretch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1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691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Верните высоту </a:t>
            </a:r>
            <a:r>
              <a:rPr lang="en-US" dirty="0" smtClean="0"/>
              <a:t>flex-</a:t>
            </a:r>
            <a:r>
              <a:rPr lang="ru-RU" dirty="0" smtClean="0"/>
              <a:t>элементам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65" y="2462543"/>
            <a:ext cx="3988995" cy="39889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4417" y="4058865"/>
            <a:ext cx="1483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flex-start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44" y="2460540"/>
            <a:ext cx="4004083" cy="39909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5399" y="4058865"/>
            <a:ext cx="1370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flex-end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173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1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Задайте разную высоту и разный размер шрифта у разных </a:t>
            </a:r>
            <a:r>
              <a:rPr lang="en-US" dirty="0" smtClean="0"/>
              <a:t>flex</a:t>
            </a:r>
            <a:r>
              <a:rPr lang="ru-RU" dirty="0" smtClean="0"/>
              <a:t>-элементов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080" y="2706122"/>
            <a:ext cx="3728942" cy="372282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605" y="2706122"/>
            <a:ext cx="3751207" cy="3769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2892" y="3254386"/>
            <a:ext cx="1120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center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4603" y="4305926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baseline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91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</a:t>
            </a:r>
            <a:r>
              <a:rPr lang="ru-RU" b="1" dirty="0"/>
              <a:t>э</a:t>
            </a:r>
            <a:r>
              <a:rPr lang="ru-RU" b="1" dirty="0" smtClean="0"/>
              <a:t>лементов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81" y="1416112"/>
            <a:ext cx="3257757" cy="325775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637" y="1416112"/>
            <a:ext cx="3241787" cy="325775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672" y="1416113"/>
            <a:ext cx="3247128" cy="3257757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416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</a:t>
            </a:r>
            <a:r>
              <a:rPr lang="ru-RU" b="1" dirty="0"/>
              <a:t>э</a:t>
            </a:r>
            <a:r>
              <a:rPr lang="ru-RU" b="1" dirty="0" smtClean="0"/>
              <a:t>лементов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686005" cy="4569643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207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элементов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ru-RU" dirty="0" err="1" smtClean="0"/>
              <a:t>flex-wrap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Возможные значения</a:t>
            </a:r>
          </a:p>
          <a:p>
            <a:r>
              <a:rPr lang="ru-RU" dirty="0" err="1" smtClean="0"/>
              <a:t>nowrap</a:t>
            </a:r>
            <a:r>
              <a:rPr lang="ru-RU" dirty="0" smtClean="0"/>
              <a:t> — перенос </a:t>
            </a:r>
            <a:r>
              <a:rPr lang="ru-RU" dirty="0" err="1" smtClean="0"/>
              <a:t>флекс</a:t>
            </a:r>
            <a:r>
              <a:rPr lang="ru-RU" dirty="0" smtClean="0"/>
              <a:t>-элементов на новую строку запрещён.</a:t>
            </a:r>
          </a:p>
          <a:p>
            <a:r>
              <a:rPr lang="ru-RU" dirty="0" err="1" smtClean="0"/>
              <a:t>wrap</a:t>
            </a:r>
            <a:r>
              <a:rPr lang="ru-RU" dirty="0" smtClean="0"/>
              <a:t> — разрешает перенос </a:t>
            </a:r>
            <a:r>
              <a:rPr lang="ru-RU" dirty="0" err="1" smtClean="0"/>
              <a:t>флекс</a:t>
            </a:r>
            <a:r>
              <a:rPr lang="ru-RU" dirty="0" smtClean="0"/>
              <a:t>-элементов на новую строку. Ряды элементов располагаются вдоль поперечной оси, первый ряд — в начале поперечной оси, последний — в конце.</a:t>
            </a:r>
          </a:p>
          <a:p>
            <a:r>
              <a:rPr lang="ru-RU" dirty="0" err="1" smtClean="0"/>
              <a:t>wrap-reverse</a:t>
            </a:r>
            <a:r>
              <a:rPr lang="ru-RU" dirty="0" smtClean="0"/>
              <a:t> —разрешает перенос </a:t>
            </a:r>
            <a:r>
              <a:rPr lang="ru-RU" dirty="0" err="1" smtClean="0"/>
              <a:t>флекс</a:t>
            </a:r>
            <a:r>
              <a:rPr lang="ru-RU" dirty="0" smtClean="0"/>
              <a:t>-элементов на новую строку. Ряды элементов располагаются в обратном порядке: первый — в конце поперечной оси, последний — в начале.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730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элементов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39" y="1690688"/>
            <a:ext cx="4861069" cy="48610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463" y="1688529"/>
            <a:ext cx="4873337" cy="48653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0092" y="3016251"/>
            <a:ext cx="919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wrap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037" y="3024439"/>
            <a:ext cx="2152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wrap-reverse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69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строк </a:t>
            </a:r>
            <a:r>
              <a:rPr lang="en-US" b="1" dirty="0" smtClean="0"/>
              <a:t>flex-</a:t>
            </a:r>
            <a:r>
              <a:rPr lang="ru-RU" b="1" dirty="0" smtClean="0"/>
              <a:t>контейнера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свойство </a:t>
            </a:r>
            <a:r>
              <a:rPr lang="ru-RU" b="1" dirty="0" err="1" smtClean="0"/>
              <a:t>align-content</a:t>
            </a:r>
            <a:r>
              <a:rPr lang="ru-RU" b="1" dirty="0" smtClean="0"/>
              <a:t>. </a:t>
            </a:r>
            <a:r>
              <a:rPr lang="ru-RU" dirty="0" smtClean="0"/>
              <a:t>Значения: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stretch</a:t>
            </a:r>
            <a:r>
              <a:rPr lang="ru-RU" dirty="0" smtClean="0"/>
              <a:t> — значение по умолчанию, </a:t>
            </a:r>
            <a:r>
              <a:rPr lang="ru-RU" dirty="0"/>
              <a:t>растягивает ряды </a:t>
            </a:r>
            <a:r>
              <a:rPr lang="ru-RU" dirty="0" err="1"/>
              <a:t>флекс</a:t>
            </a:r>
            <a:r>
              <a:rPr lang="ru-RU" dirty="0"/>
              <a:t>-элементов, при этом оставшееся свободное место между ними делится поровну. Отображение строк при этом зависит от значения </a:t>
            </a:r>
            <a:r>
              <a:rPr lang="ru-RU" dirty="0" err="1"/>
              <a:t>align-items</a:t>
            </a:r>
            <a:r>
              <a:rPr lang="ru-RU" dirty="0"/>
              <a:t>:</a:t>
            </a:r>
          </a:p>
          <a:p>
            <a:pPr lvl="1"/>
            <a:r>
              <a:rPr lang="ru-RU" dirty="0" smtClean="0"/>
              <a:t>если </a:t>
            </a:r>
            <a:r>
              <a:rPr lang="ru-RU" dirty="0"/>
              <a:t>у </a:t>
            </a:r>
            <a:r>
              <a:rPr lang="ru-RU" dirty="0" err="1"/>
              <a:t>align-items</a:t>
            </a:r>
            <a:r>
              <a:rPr lang="ru-RU" dirty="0"/>
              <a:t> задано значение </a:t>
            </a:r>
            <a:r>
              <a:rPr lang="ru-RU" dirty="0" err="1"/>
              <a:t>stretch</a:t>
            </a:r>
            <a:r>
              <a:rPr lang="ru-RU" dirty="0"/>
              <a:t>, то элементы в строках растягиваются на всю высоту своей строки.</a:t>
            </a:r>
          </a:p>
          <a:p>
            <a:pPr lvl="1"/>
            <a:r>
              <a:rPr lang="ru-RU" dirty="0" smtClean="0"/>
              <a:t>если </a:t>
            </a:r>
            <a:r>
              <a:rPr lang="ru-RU" dirty="0"/>
              <a:t>значение отлично от </a:t>
            </a:r>
            <a:r>
              <a:rPr lang="ru-RU" dirty="0" err="1"/>
              <a:t>stretch</a:t>
            </a:r>
            <a:r>
              <a:rPr lang="ru-RU" dirty="0"/>
              <a:t>, то элементы в строках ужимаются под своё содержимое и выравниваются в строках в зависимости от значения </a:t>
            </a:r>
            <a:r>
              <a:rPr lang="ru-RU" dirty="0" err="1"/>
              <a:t>align-items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flex-start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flex-end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center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space-between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space-around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align-content</a:t>
            </a:r>
            <a:r>
              <a:rPr lang="ru-RU" dirty="0"/>
              <a:t> «перекрывает» заданное значение </a:t>
            </a:r>
            <a:r>
              <a:rPr lang="ru-RU" dirty="0" err="1"/>
              <a:t>align-items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71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строк </a:t>
            </a:r>
            <a:r>
              <a:rPr lang="en-US" b="1" dirty="0" smtClean="0"/>
              <a:t>flex-</a:t>
            </a:r>
            <a:r>
              <a:rPr lang="ru-RU" b="1" dirty="0" smtClean="0"/>
              <a:t>контейнера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Самостоятельно поэкспериментируйте со свойством </a:t>
            </a:r>
            <a:r>
              <a:rPr lang="ru-RU" b="1" dirty="0" err="1"/>
              <a:t>align-content</a:t>
            </a:r>
            <a:r>
              <a:rPr lang="ru-RU" b="1" dirty="0"/>
              <a:t>.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А также сочетанием свойств </a:t>
            </a:r>
            <a:r>
              <a:rPr lang="ru-RU" b="1" dirty="0" err="1" smtClean="0"/>
              <a:t>align-content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en-US" b="1" dirty="0" smtClean="0"/>
              <a:t>align-items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179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Порядок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en-US" dirty="0" smtClean="0"/>
              <a:t>order</a:t>
            </a:r>
          </a:p>
          <a:p>
            <a:pPr marL="0" indent="0">
              <a:buNone/>
            </a:pPr>
            <a:r>
              <a:rPr lang="ru-RU" dirty="0" smtClean="0"/>
              <a:t>У всех </a:t>
            </a:r>
            <a:r>
              <a:rPr lang="en-US" dirty="0" smtClean="0"/>
              <a:t>flex-</a:t>
            </a:r>
            <a:r>
              <a:rPr lang="ru-RU" dirty="0" smtClean="0"/>
              <a:t>элементов по умолчанию порядок – 0.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Можно назначить порядок – положительное или отрицательное число.</a:t>
            </a:r>
          </a:p>
          <a:p>
            <a:pPr marL="0" indent="0">
              <a:buNone/>
            </a:pPr>
            <a:r>
              <a:rPr lang="ru-RU" dirty="0" smtClean="0"/>
              <a:t>Сортировка производится по возрастанию номера.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 </a:t>
            </a:r>
            <a:r>
              <a:rPr lang="en-US" b="1" dirty="0" smtClean="0"/>
              <a:t>flex</a:t>
            </a:r>
            <a:r>
              <a:rPr lang="ru-RU" b="1" dirty="0" smtClean="0"/>
              <a:t> в другом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Флексбокс</a:t>
            </a:r>
            <a:r>
              <a:rPr lang="ru-RU" dirty="0"/>
              <a:t> по своей </a:t>
            </a:r>
            <a:r>
              <a:rPr lang="ru-RU" dirty="0" smtClean="0"/>
              <a:t>является </a:t>
            </a:r>
            <a:r>
              <a:rPr lang="ru-RU" dirty="0"/>
              <a:t>моделью </a:t>
            </a:r>
            <a:r>
              <a:rPr lang="ru-RU" b="1" dirty="0"/>
              <a:t>одномерного</a:t>
            </a:r>
            <a:r>
              <a:rPr lang="ru-RU" dirty="0"/>
              <a:t> макета. </a:t>
            </a:r>
            <a:endParaRPr lang="en-US" dirty="0" smtClean="0"/>
          </a:p>
          <a:p>
            <a:pPr marL="0" indent="0">
              <a:buNone/>
            </a:pPr>
            <a:r>
              <a:rPr lang="ru-RU" dirty="0" err="1" smtClean="0"/>
              <a:t>Флекс</a:t>
            </a:r>
            <a:r>
              <a:rPr lang="ru-RU" dirty="0" smtClean="0"/>
              <a:t>-элементы </a:t>
            </a:r>
            <a:r>
              <a:rPr lang="ru-RU" dirty="0"/>
              <a:t>внутри </a:t>
            </a:r>
            <a:r>
              <a:rPr lang="ru-RU" dirty="0" err="1"/>
              <a:t>флекс</a:t>
            </a:r>
            <a:r>
              <a:rPr lang="ru-RU" dirty="0"/>
              <a:t>-контейнера можно размещать как горизонтально, так и вертикально, но не одновременно.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вы хотите располагать элементы в двух направлениях, вам потребуется вставить один </a:t>
            </a:r>
            <a:r>
              <a:rPr lang="ru-RU" dirty="0" err="1"/>
              <a:t>флекс</a:t>
            </a:r>
            <a:r>
              <a:rPr lang="ru-RU" dirty="0"/>
              <a:t>-контейнер в другой.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761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 </a:t>
            </a:r>
            <a:r>
              <a:rPr lang="en-US" b="1" dirty="0" smtClean="0"/>
              <a:t>flex</a:t>
            </a:r>
            <a:r>
              <a:rPr lang="ru-RU" b="1" dirty="0" smtClean="0"/>
              <a:t> в другом</a:t>
            </a:r>
            <a:endParaRPr lang="ru-RU" b="1" dirty="0"/>
          </a:p>
        </p:txBody>
      </p:sp>
      <p:pic>
        <p:nvPicPr>
          <p:cNvPr id="5122" name="Picture 2" descr="https://webref.ru/assets/images/flexbox-tutorial/flexbox-nest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491" y="1534626"/>
            <a:ext cx="5964568" cy="496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708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Flexbox</a:t>
            </a:r>
            <a:r>
              <a:rPr lang="ru-RU" b="1" dirty="0" smtClean="0"/>
              <a:t>:</a:t>
            </a:r>
            <a:r>
              <a:rPr lang="en-US" b="1" dirty="0" smtClean="0"/>
              <a:t> </a:t>
            </a:r>
            <a:r>
              <a:rPr lang="en-US" b="1" dirty="0" smtClean="0"/>
              <a:t>flex-</a:t>
            </a:r>
            <a:r>
              <a:rPr lang="ru-RU" b="1" dirty="0" smtClean="0"/>
              <a:t>элементы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303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Механизм распределения свободного места при использовании </a:t>
            </a:r>
            <a:r>
              <a:rPr lang="en-US" b="1" dirty="0" smtClean="0"/>
              <a:t>flex</a:t>
            </a:r>
            <a:r>
              <a:rPr lang="ru-RU" b="1" dirty="0" smtClean="0"/>
              <a:t>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находятся элементы, у которых есть внешние отступы со значением </a:t>
            </a:r>
            <a:r>
              <a:rPr lang="ru-RU" dirty="0" err="1"/>
              <a:t>auto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всё свободное место в соответствующих направлениях отдаётся таким отступам (то есть задаётся определённый размер отступа в пикселях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/>
              <a:t>если элементов с автоматическими отступами на одном направлении несколько, то место между ними перераспределяется поровну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только после этого запускаются механизмы выравнивания.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86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Magrin</a:t>
            </a:r>
            <a:r>
              <a:rPr lang="en-US" b="1" dirty="0" smtClean="0"/>
              <a:t> </a:t>
            </a:r>
            <a:r>
              <a:rPr lang="ru-RU" b="1" dirty="0" smtClean="0"/>
              <a:t>и главная ось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Margin</a:t>
            </a:r>
            <a:r>
              <a:rPr lang="ru-RU" dirty="0" smtClean="0"/>
              <a:t>, как и </a:t>
            </a:r>
            <a:r>
              <a:rPr lang="en-US" dirty="0" smtClean="0"/>
              <a:t>padding </a:t>
            </a:r>
            <a:r>
              <a:rPr lang="ru-RU" dirty="0" smtClean="0"/>
              <a:t>не «знают» понятия направление оси.</a:t>
            </a:r>
          </a:p>
          <a:p>
            <a:pPr marL="0" indent="0">
              <a:buNone/>
            </a:pPr>
            <a:r>
              <a:rPr lang="ru-RU" dirty="0" smtClean="0"/>
              <a:t>Поэтому когда </a:t>
            </a:r>
            <a:r>
              <a:rPr lang="ru-RU" dirty="0"/>
              <a:t>главная ось направлена слева направо, горизонтальные отступы перемещают </a:t>
            </a:r>
            <a:r>
              <a:rPr lang="en-US" dirty="0" smtClean="0"/>
              <a:t>flex</a:t>
            </a:r>
            <a:r>
              <a:rPr lang="ru-RU" dirty="0" smtClean="0"/>
              <a:t>-элементы </a:t>
            </a:r>
            <a:r>
              <a:rPr lang="ru-RU" dirty="0"/>
              <a:t>вдоль </a:t>
            </a:r>
            <a:r>
              <a:rPr lang="ru-RU" i="1" dirty="0"/>
              <a:t>главной</a:t>
            </a:r>
            <a:r>
              <a:rPr lang="ru-RU" dirty="0"/>
              <a:t> оси.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Но</a:t>
            </a:r>
            <a:r>
              <a:rPr lang="ru-RU" dirty="0"/>
              <a:t> если направить главную ось сверху вниз, то те же отступы начнут работать вдоль </a:t>
            </a:r>
            <a:r>
              <a:rPr lang="ru-RU" i="1" dirty="0"/>
              <a:t>поперечной</a:t>
            </a:r>
            <a:r>
              <a:rPr lang="ru-RU" dirty="0"/>
              <a:t> оси.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76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Размеры </a:t>
            </a:r>
            <a:r>
              <a:rPr lang="en-US" b="1" dirty="0" smtClean="0"/>
              <a:t>flex-</a:t>
            </a:r>
            <a:r>
              <a:rPr lang="ru-RU" b="1" dirty="0" smtClean="0"/>
              <a:t>элементы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ширина </a:t>
            </a:r>
            <a:r>
              <a:rPr lang="en-US" dirty="0" smtClean="0"/>
              <a:t>width – </a:t>
            </a:r>
            <a:r>
              <a:rPr lang="ru-RU" dirty="0" smtClean="0"/>
              <a:t>размер блока по горизонтали всегда</a:t>
            </a:r>
          </a:p>
          <a:p>
            <a:r>
              <a:rPr lang="ru-RU" dirty="0" smtClean="0"/>
              <a:t>высота </a:t>
            </a:r>
            <a:r>
              <a:rPr lang="en-US" dirty="0" smtClean="0"/>
              <a:t>height </a:t>
            </a:r>
            <a:r>
              <a:rPr lang="en-US" dirty="0"/>
              <a:t>– </a:t>
            </a:r>
            <a:r>
              <a:rPr lang="ru-RU" dirty="0"/>
              <a:t>размер блока по </a:t>
            </a:r>
            <a:r>
              <a:rPr lang="ru-RU" dirty="0" smtClean="0"/>
              <a:t>вертикали всегда</a:t>
            </a:r>
          </a:p>
          <a:p>
            <a:r>
              <a:rPr lang="ru-RU" dirty="0" smtClean="0"/>
              <a:t>базовый размер </a:t>
            </a:r>
            <a:r>
              <a:rPr lang="en-US" dirty="0" smtClean="0"/>
              <a:t>flex-basis</a:t>
            </a:r>
            <a:r>
              <a:rPr lang="ru-RU" dirty="0" smtClean="0"/>
              <a:t> – размер элемента вдоль главной оси</a:t>
            </a:r>
            <a:endParaRPr lang="ru-RU" dirty="0"/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67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Коэффициент растягивания </a:t>
            </a:r>
            <a:r>
              <a:rPr lang="en-US" b="1" dirty="0" smtClean="0"/>
              <a:t>flex-grow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flex-grow</a:t>
            </a:r>
            <a:r>
              <a:rPr lang="ru-RU" dirty="0"/>
              <a:t> принимает неотрицательные числовые значения, его значение по умолчанию — 0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значение </a:t>
            </a:r>
            <a:r>
              <a:rPr lang="ru-RU" dirty="0" err="1"/>
              <a:t>flex-grow</a:t>
            </a:r>
            <a:r>
              <a:rPr lang="ru-RU" dirty="0"/>
              <a:t> равно </a:t>
            </a:r>
            <a:r>
              <a:rPr lang="en-US" dirty="0" smtClean="0"/>
              <a:t>0</a:t>
            </a:r>
            <a:r>
              <a:rPr lang="ru-RU" dirty="0" smtClean="0"/>
              <a:t>, </a:t>
            </a:r>
            <a:r>
              <a:rPr lang="ru-RU" dirty="0"/>
              <a:t>то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элемент </a:t>
            </a:r>
            <a:r>
              <a:rPr lang="ru-RU" dirty="0"/>
              <a:t>«не претендует» на оставшееся свободное место во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контейнере </a:t>
            </a:r>
            <a:r>
              <a:rPr lang="ru-RU" dirty="0"/>
              <a:t>и не будет увеличиваться, чтобы занять это место.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значение </a:t>
            </a:r>
            <a:r>
              <a:rPr lang="ru-RU" dirty="0" err="1"/>
              <a:t>flex-grow</a:t>
            </a:r>
            <a:r>
              <a:rPr lang="ru-RU" dirty="0"/>
              <a:t> больше нуля, то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элемент </a:t>
            </a:r>
            <a:r>
              <a:rPr lang="ru-RU" dirty="0"/>
              <a:t>будет увеличиваться, «захватывая» оставшееся свободное место.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13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Коэффициент сжатия </a:t>
            </a:r>
            <a:r>
              <a:rPr lang="en-US" b="1" dirty="0" smtClean="0"/>
              <a:t>flex-shrink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flex-shrink</a:t>
            </a:r>
            <a:r>
              <a:rPr lang="ru-RU" dirty="0"/>
              <a:t> принимает неотрицательные числовые значения, его значение по умолчанию — 1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значение </a:t>
            </a:r>
            <a:r>
              <a:rPr lang="ru-RU" dirty="0" err="1"/>
              <a:t>flex-shrink</a:t>
            </a:r>
            <a:r>
              <a:rPr lang="ru-RU" dirty="0"/>
              <a:t> больше нуля, то </a:t>
            </a:r>
            <a:r>
              <a:rPr lang="ru-RU" dirty="0" err="1"/>
              <a:t>flex</a:t>
            </a:r>
            <a:r>
              <a:rPr lang="ru-RU" dirty="0" smtClean="0"/>
              <a:t>-элемент </a:t>
            </a:r>
            <a:r>
              <a:rPr lang="ru-RU" dirty="0"/>
              <a:t>будет уменьшаться, «впитывая» часть отрицательного пространства, если оно существует.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значение </a:t>
            </a:r>
            <a:r>
              <a:rPr lang="ru-RU" dirty="0" err="1"/>
              <a:t>flex-shrink</a:t>
            </a:r>
            <a:r>
              <a:rPr lang="ru-RU" dirty="0"/>
              <a:t> равно нулю, то </a:t>
            </a:r>
            <a:r>
              <a:rPr lang="ru-RU" dirty="0" err="1"/>
              <a:t>flex</a:t>
            </a:r>
            <a:r>
              <a:rPr lang="ru-RU" dirty="0" smtClean="0"/>
              <a:t>-элемент </a:t>
            </a:r>
            <a:r>
              <a:rPr lang="ru-RU" dirty="0"/>
              <a:t>уменьшаться не будет.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860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Расчет </a:t>
            </a:r>
            <a:r>
              <a:rPr lang="en-US" b="1" dirty="0" smtClean="0"/>
              <a:t>flex-grow</a:t>
            </a:r>
            <a:r>
              <a:rPr lang="ru-RU" b="1" dirty="0" smtClean="0"/>
              <a:t> и </a:t>
            </a:r>
            <a:r>
              <a:rPr lang="en-US" b="1" dirty="0" smtClean="0"/>
              <a:t>flex-shrink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gist.github.com/monochromer/ab1034528c72c35e96fa01a236739589</a:t>
            </a:r>
            <a:r>
              <a:rPr lang="en-US" dirty="0" smtClean="0"/>
              <a:t>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25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Порядок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en-US" dirty="0" smtClean="0"/>
              <a:t>order</a:t>
            </a:r>
          </a:p>
          <a:p>
            <a:pPr marL="0" indent="0">
              <a:buNone/>
            </a:pPr>
            <a:r>
              <a:rPr lang="ru-RU" dirty="0" smtClean="0"/>
              <a:t>У всех </a:t>
            </a:r>
            <a:r>
              <a:rPr lang="en-US" dirty="0" smtClean="0"/>
              <a:t>flex-</a:t>
            </a:r>
            <a:r>
              <a:rPr lang="ru-RU" dirty="0" smtClean="0"/>
              <a:t>элементов по умолчанию порядок – 0.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Можно назначить порядок – положительное или отрицательное число.</a:t>
            </a:r>
          </a:p>
          <a:p>
            <a:pPr marL="0" indent="0">
              <a:buNone/>
            </a:pPr>
            <a:r>
              <a:rPr lang="ru-RU" dirty="0" smtClean="0"/>
              <a:t>Сортировка производится по возрастанию номера.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7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Полезные ресурсы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flexboxfroggy.com</a:t>
            </a:r>
          </a:p>
          <a:p>
            <a:endParaRPr lang="en-US" dirty="0">
              <a:hlinkClick r:id="rId2"/>
            </a:endParaRPr>
          </a:p>
          <a:p>
            <a:r>
              <a:rPr lang="ru-RU" dirty="0" smtClean="0">
                <a:hlinkClick r:id="rId2"/>
              </a:rPr>
              <a:t>https</a:t>
            </a:r>
            <a:r>
              <a:rPr lang="ru-RU" dirty="0">
                <a:hlinkClick r:id="rId2"/>
              </a:rPr>
              <a:t>://tproger.ru/translations/how-css-flexbox-works/</a:t>
            </a:r>
            <a:r>
              <a:rPr lang="ru-RU" dirty="0"/>
              <a:t> </a:t>
            </a:r>
            <a:endParaRPr lang="en-US" dirty="0"/>
          </a:p>
          <a:p>
            <a:endParaRPr lang="en-US" dirty="0" smtClean="0">
              <a:hlinkClick r:id="rId3"/>
            </a:endParaRPr>
          </a:p>
          <a:p>
            <a:r>
              <a:rPr lang="ru-RU" dirty="0" smtClean="0">
                <a:hlinkClick r:id="rId3"/>
              </a:rPr>
              <a:t>https</a:t>
            </a:r>
            <a:r>
              <a:rPr lang="ru-RU" dirty="0">
                <a:hlinkClick r:id="rId3"/>
              </a:rPr>
              <a:t>://frontender.info/a-guide-to-flexbox/</a:t>
            </a:r>
            <a:r>
              <a:rPr lang="ru-RU" dirty="0"/>
              <a:t> 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670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Итоги. </a:t>
            </a:r>
            <a:r>
              <a:rPr lang="ru-RU" b="1" dirty="0" smtClean="0"/>
              <a:t>Использование </a:t>
            </a:r>
            <a:r>
              <a:rPr lang="en-US" b="1" dirty="0" smtClean="0"/>
              <a:t>Flexbox </a:t>
            </a:r>
            <a:r>
              <a:rPr lang="ru-RU" b="1" dirty="0" smtClean="0"/>
              <a:t>позволяет: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Располагать элементы в одном из четырех направлений: слева направо, справа налево, сверху вниз или снизу вверх.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Переопределять порядок отображения элементов.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Автоматически определять размеры элементов таким образом, чтобы они вписывались в доступное пространство.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Решать проблему с горизонтальным и вертикальным центрированием.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Переносить элементы внутри контейнера, не допуская его переполнения.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Создавать колонки одинаковой высоты.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Создавать прижатый к низу страницы подвал сайта.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3656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894</Words>
  <Application>Microsoft Office PowerPoint</Application>
  <PresentationFormat>Широкоэкранный</PresentationFormat>
  <Paragraphs>177</Paragraphs>
  <Slides>37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Тема Office</vt:lpstr>
      <vt:lpstr>Гибкие блоки  Flexbox</vt:lpstr>
      <vt:lpstr>Структура сайта</vt:lpstr>
      <vt:lpstr>Сетка</vt:lpstr>
      <vt:lpstr>Типы сеток</vt:lpstr>
      <vt:lpstr>Типы сеток</vt:lpstr>
      <vt:lpstr>Способы верстки сеток</vt:lpstr>
      <vt:lpstr>Flexbox: flex-контейнеры</vt:lpstr>
      <vt:lpstr>Создание флексбоксов – гибкого контейнера</vt:lpstr>
      <vt:lpstr>Направление осей по умолчанию</vt:lpstr>
      <vt:lpstr>Направление осей</vt:lpstr>
      <vt:lpstr>Направление осей column</vt:lpstr>
      <vt:lpstr>Поперечная ось</vt:lpstr>
      <vt:lpstr>Выравнивание по главной оси</vt:lpstr>
      <vt:lpstr>Выравнивание по главной оси</vt:lpstr>
      <vt:lpstr>Выравнивание по поперечной оси</vt:lpstr>
      <vt:lpstr>Выравнивание по поперечной оси</vt:lpstr>
      <vt:lpstr>Выравнивание по поперечной оси</vt:lpstr>
      <vt:lpstr>Выравнивание по поперечной оси</vt:lpstr>
      <vt:lpstr>Расположение элементов</vt:lpstr>
      <vt:lpstr>Расположение элементов</vt:lpstr>
      <vt:lpstr>Расположение элементов</vt:lpstr>
      <vt:lpstr>Расположение элементов</vt:lpstr>
      <vt:lpstr>Выравнивание строк flex-контейнера</vt:lpstr>
      <vt:lpstr>Выравнивание строк flex-контейнера</vt:lpstr>
      <vt:lpstr>Порядок элементов</vt:lpstr>
      <vt:lpstr>Один flex в другом</vt:lpstr>
      <vt:lpstr>Один flex в другом</vt:lpstr>
      <vt:lpstr>Flexbox: flex-элементы</vt:lpstr>
      <vt:lpstr>Механизм распределения свободного места при использовании flex:</vt:lpstr>
      <vt:lpstr>Magrin и главная ось</vt:lpstr>
      <vt:lpstr>Размеры flex-элементы</vt:lpstr>
      <vt:lpstr>Коэффициент растягивания flex-grow</vt:lpstr>
      <vt:lpstr>Коэффициент сжатия flex-shrink</vt:lpstr>
      <vt:lpstr>Расчет flex-grow и flex-shrink</vt:lpstr>
      <vt:lpstr>Порядок элементов</vt:lpstr>
      <vt:lpstr>Полезные ресурсы</vt:lpstr>
      <vt:lpstr>Итоги. Использование Flexbox позволяет: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Yulya</dc:creator>
  <cp:lastModifiedBy>julia</cp:lastModifiedBy>
  <cp:revision>29</cp:revision>
  <dcterms:created xsi:type="dcterms:W3CDTF">2020-11-25T10:08:33Z</dcterms:created>
  <dcterms:modified xsi:type="dcterms:W3CDTF">2026-08-17T07:52:52Z</dcterms:modified>
</cp:coreProperties>
</file>