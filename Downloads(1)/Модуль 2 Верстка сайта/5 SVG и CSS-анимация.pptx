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67"/>
  </p:notesMasterIdLst>
  <p:handoutMasterIdLst>
    <p:handoutMasterId r:id="rId68"/>
  </p:handoutMasterIdLst>
  <p:sldIdLst>
    <p:sldId id="256" r:id="rId2"/>
    <p:sldId id="312" r:id="rId3"/>
    <p:sldId id="257" r:id="rId4"/>
    <p:sldId id="258" r:id="rId5"/>
    <p:sldId id="259" r:id="rId6"/>
    <p:sldId id="260" r:id="rId7"/>
    <p:sldId id="262" r:id="rId8"/>
    <p:sldId id="261" r:id="rId9"/>
    <p:sldId id="274" r:id="rId10"/>
    <p:sldId id="275" r:id="rId11"/>
    <p:sldId id="276" r:id="rId12"/>
    <p:sldId id="277" r:id="rId13"/>
    <p:sldId id="278" r:id="rId14"/>
    <p:sldId id="280" r:id="rId15"/>
    <p:sldId id="279" r:id="rId16"/>
    <p:sldId id="284" r:id="rId17"/>
    <p:sldId id="266" r:id="rId18"/>
    <p:sldId id="263" r:id="rId19"/>
    <p:sldId id="310" r:id="rId20"/>
    <p:sldId id="311" r:id="rId21"/>
    <p:sldId id="314" r:id="rId22"/>
    <p:sldId id="315" r:id="rId23"/>
    <p:sldId id="316" r:id="rId24"/>
    <p:sldId id="317" r:id="rId25"/>
    <p:sldId id="318" r:id="rId26"/>
    <p:sldId id="319" r:id="rId27"/>
    <p:sldId id="308" r:id="rId28"/>
    <p:sldId id="321" r:id="rId29"/>
    <p:sldId id="322" r:id="rId30"/>
    <p:sldId id="313" r:id="rId31"/>
    <p:sldId id="265" r:id="rId32"/>
    <p:sldId id="267" r:id="rId33"/>
    <p:sldId id="268" r:id="rId34"/>
    <p:sldId id="269" r:id="rId35"/>
    <p:sldId id="271" r:id="rId36"/>
    <p:sldId id="272" r:id="rId37"/>
    <p:sldId id="285" r:id="rId38"/>
    <p:sldId id="281" r:id="rId39"/>
    <p:sldId id="273" r:id="rId40"/>
    <p:sldId id="282" r:id="rId41"/>
    <p:sldId id="283" r:id="rId42"/>
    <p:sldId id="270" r:id="rId43"/>
    <p:sldId id="286" r:id="rId44"/>
    <p:sldId id="303" r:id="rId45"/>
    <p:sldId id="292" r:id="rId46"/>
    <p:sldId id="304" r:id="rId47"/>
    <p:sldId id="305" r:id="rId48"/>
    <p:sldId id="306" r:id="rId49"/>
    <p:sldId id="287" r:id="rId50"/>
    <p:sldId id="288" r:id="rId51"/>
    <p:sldId id="289" r:id="rId52"/>
    <p:sldId id="290" r:id="rId53"/>
    <p:sldId id="291" r:id="rId54"/>
    <p:sldId id="323" r:id="rId55"/>
    <p:sldId id="293" r:id="rId56"/>
    <p:sldId id="294" r:id="rId57"/>
    <p:sldId id="295" r:id="rId58"/>
    <p:sldId id="296" r:id="rId59"/>
    <p:sldId id="299" r:id="rId60"/>
    <p:sldId id="297" r:id="rId61"/>
    <p:sldId id="298" r:id="rId62"/>
    <p:sldId id="300" r:id="rId63"/>
    <p:sldId id="302" r:id="rId64"/>
    <p:sldId id="301" r:id="rId65"/>
    <p:sldId id="309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2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90F1D0-8A73-4C03-91F0-C3722BF78401}" type="datetimeFigureOut">
              <a:rPr lang="ru-RU" smtClean="0"/>
              <a:t>12.10.2022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BC8D9-8D2C-4F62-A500-1DE93BCF677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2749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9869D6-48B8-4C92-B849-0B94A3A6A63C}" type="datetimeFigureOut">
              <a:rPr lang="ru-RU" smtClean="0"/>
              <a:t>12.10.2022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0147A-A9D5-4746-A3C5-C8D15B9CF4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478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0147A-A9D5-4746-A3C5-C8D15B9CF46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048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90147A-A9D5-4746-A3C5-C8D15B9CF46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338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55F5FAF-E265-4EF8-8358-7536F54CC764}" type="datetime1">
              <a:rPr lang="ru-RU" smtClean="0"/>
              <a:t>12.10.2022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392AE72-68DF-47B0-AC54-C1883C1D5035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99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250EB-71D9-45BF-BA66-D391D0E5A9E1}" type="datetime1">
              <a:rPr lang="ru-RU" smtClean="0"/>
              <a:t>12.10.2022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5166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FBD34-D2DF-44F2-AD5B-5CE03FCCFE77}" type="datetime1">
              <a:rPr lang="ru-RU" smtClean="0"/>
              <a:t>12.10.2022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09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E467B-0872-46AF-B5E5-7199ACBA3326}" type="datetime1">
              <a:rPr lang="ru-RU" smtClean="0"/>
              <a:t>12.10.2022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1896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FF186-02B6-41DF-8A85-08F4E6A1E049}" type="datetime1">
              <a:rPr lang="ru-RU" smtClean="0"/>
              <a:t>12.10.2022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117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BD210-E0FE-46F9-845C-695A44741A60}" type="datetime1">
              <a:rPr lang="ru-RU" smtClean="0"/>
              <a:t>12.10.2022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1488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CAD3D-CC0D-45DF-BFF1-6922A03FE7E7}" type="datetime1">
              <a:rPr lang="ru-RU" smtClean="0"/>
              <a:t>12.10.2022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4458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11DE3-9979-4BAD-97D3-12F67E77871A}" type="datetime1">
              <a:rPr lang="ru-RU" smtClean="0"/>
              <a:t>12.10.2022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453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B06F8-027D-4656-BDB7-D9AB7C599B7C}" type="datetime1">
              <a:rPr lang="ru-RU" smtClean="0"/>
              <a:t>12.10.2022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6800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AC5A3-59E5-4CA5-90A0-8F831F9EEF42}" type="datetime1">
              <a:rPr lang="ru-RU" smtClean="0"/>
              <a:t>12.10.2022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5549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53AC6-95B8-441B-8D81-1414C5A16852}" type="datetime1">
              <a:rPr lang="ru-RU" smtClean="0"/>
              <a:t>12.10.2022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820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9C8759C1-95BB-44DC-AB82-0DD2AFD5A8A3}" type="datetime1">
              <a:rPr lang="ru-RU" smtClean="0"/>
              <a:t>12.10.2022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92AE72-68DF-47B0-AC54-C1883C1D503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01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ru/docs/Web/SVG/Tutorial/Basic_Shape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CSS/transform-origin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CSS/clip-path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ss-transform.moro.es/" TargetMode="External"/><Relationship Id="rId2" Type="http://schemas.openxmlformats.org/officeDocument/2006/relationships/hyperlink" Target="https://ru.w3docs.com/css3-maker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ennettfeely.com/clippy/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CSS/CSS_animated_properties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idg.net.ua/blog/uchebnik-css/ispolzovanie-css/css3-transition/timing-function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cubic-bezier.com/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easings.net/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ru/docs/Web/CSS/:focus-within" TargetMode="Externa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easings.net/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ru/docs/Web/CSS/animation" TargetMode="Externa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www.figma.com/file/4SnofUrAU6x84TlGx9WxkH/svg?node-id=1:2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ianlunn.github.io/Hover/" TargetMode="External"/><Relationship Id="rId2" Type="http://schemas.openxmlformats.org/officeDocument/2006/relationships/hyperlink" Target="https://animate.style/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hyperlink" Target="https://htmlacademy.ru/blog/useful/html/pure-css-parallax-websit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SVG</a:t>
            </a:r>
            <a:r>
              <a:rPr lang="ru-RU" dirty="0" smtClean="0"/>
              <a:t> и </a:t>
            </a:r>
            <a:br>
              <a:rPr lang="ru-RU" dirty="0" smtClean="0"/>
            </a:br>
            <a:r>
              <a:rPr lang="en-US" dirty="0" smtClean="0"/>
              <a:t>CSS</a:t>
            </a:r>
            <a:r>
              <a:rPr lang="ru-RU" dirty="0" smtClean="0"/>
              <a:t>-анимация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566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SVG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014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SVG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err="1"/>
              <a:t>Scalable</a:t>
            </a:r>
            <a:r>
              <a:rPr lang="ru-RU" sz="2400" dirty="0"/>
              <a:t> </a:t>
            </a:r>
            <a:r>
              <a:rPr lang="ru-RU" sz="2400" dirty="0" err="1"/>
              <a:t>Vector</a:t>
            </a:r>
            <a:r>
              <a:rPr lang="ru-RU" sz="2400" dirty="0"/>
              <a:t> </a:t>
            </a:r>
            <a:r>
              <a:rPr lang="ru-RU" sz="2400" dirty="0" err="1" smtClean="0"/>
              <a:t>Graphics</a:t>
            </a:r>
            <a:endParaRPr lang="ru-RU" sz="2400" dirty="0" smtClean="0"/>
          </a:p>
          <a:p>
            <a:r>
              <a:rPr lang="ru-RU" sz="2400" dirty="0" smtClean="0"/>
              <a:t>масштабируемая </a:t>
            </a:r>
            <a:r>
              <a:rPr lang="ru-RU" sz="2400" dirty="0"/>
              <a:t>векторная </a:t>
            </a:r>
            <a:r>
              <a:rPr lang="ru-RU" sz="2400" dirty="0" smtClean="0"/>
              <a:t>графика</a:t>
            </a:r>
            <a:endParaRPr lang="ru-RU" sz="24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660" y="3553900"/>
            <a:ext cx="6581775" cy="2257425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120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SVG</a:t>
            </a:r>
            <a:r>
              <a:rPr lang="ru-RU" b="1" dirty="0" smtClean="0"/>
              <a:t>-код</a:t>
            </a:r>
            <a:endParaRPr lang="ru-RU" b="1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87142"/>
            <a:ext cx="8667750" cy="3209925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642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Способы добавления </a:t>
            </a:r>
            <a:r>
              <a:rPr lang="en-US" b="1" dirty="0" err="1" smtClean="0"/>
              <a:t>svg</a:t>
            </a:r>
            <a:r>
              <a:rPr lang="en-US" b="1" dirty="0" smtClean="0"/>
              <a:t> </a:t>
            </a:r>
            <a:r>
              <a:rPr lang="ru-RU" b="1" dirty="0" smtClean="0"/>
              <a:t>на страницу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4254910"/>
          </a:xfrm>
        </p:spPr>
        <p:txBody>
          <a:bodyPr>
            <a:normAutofit fontScale="85000" lnSpcReduction="20000"/>
          </a:bodyPr>
          <a:lstStyle/>
          <a:p>
            <a:pPr marL="502920" indent="-457200">
              <a:buFont typeface="+mj-lt"/>
              <a:buAutoNum type="arabicPeriod"/>
            </a:pPr>
            <a:r>
              <a:rPr lang="ru-RU" sz="2800" dirty="0" smtClean="0"/>
              <a:t>С помощью тега </a:t>
            </a:r>
            <a:r>
              <a:rPr lang="en-US" sz="2800" dirty="0" err="1" smtClean="0"/>
              <a:t>img</a:t>
            </a:r>
            <a:endParaRPr lang="ru-RU" sz="2800" dirty="0" smtClean="0"/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src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/smile-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regular.svg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02920" indent="-457200">
              <a:buFont typeface="+mj-lt"/>
              <a:buAutoNum type="arabicPeriod" startAt="2"/>
            </a:pPr>
            <a:r>
              <a:rPr lang="ru-RU" sz="2800" dirty="0" smtClean="0"/>
              <a:t>С помощью </a:t>
            </a:r>
            <a:r>
              <a:rPr lang="en-US" sz="2800" dirty="0" smtClean="0"/>
              <a:t>CSS</a:t>
            </a:r>
            <a:r>
              <a:rPr lang="ru-RU" sz="2800" dirty="0" smtClean="0"/>
              <a:t>-стиля </a:t>
            </a:r>
            <a:r>
              <a:rPr lang="en-US" sz="2800" dirty="0" smtClean="0"/>
              <a:t>background-image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svg-img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"&gt;&lt;/div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svg-img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background-image: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(../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img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/smile-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regular.svg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background-repeat: no-repeat;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width: 400px;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height: 400px;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089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Способы добавления </a:t>
            </a:r>
            <a:r>
              <a:rPr lang="en-US" b="1" dirty="0" err="1" smtClean="0"/>
              <a:t>svg</a:t>
            </a:r>
            <a:r>
              <a:rPr lang="en-US" b="1" dirty="0" smtClean="0"/>
              <a:t> </a:t>
            </a:r>
            <a:r>
              <a:rPr lang="ru-RU" b="1" dirty="0" smtClean="0"/>
              <a:t>на страницу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4254910"/>
          </a:xfrm>
        </p:spPr>
        <p:txBody>
          <a:bodyPr>
            <a:normAutofit fontScale="92500"/>
          </a:bodyPr>
          <a:lstStyle/>
          <a:p>
            <a:pPr marL="502920" indent="-457200">
              <a:buFont typeface="+mj-lt"/>
              <a:buAutoNum type="arabicPeriod" startAt="3"/>
            </a:pPr>
            <a:r>
              <a:rPr lang="en-US" sz="2600" dirty="0" smtClean="0"/>
              <a:t>SVG</a:t>
            </a:r>
            <a:r>
              <a:rPr lang="ru-RU" sz="2600" dirty="0" smtClean="0"/>
              <a:t>-код</a:t>
            </a:r>
            <a:endParaRPr lang="en-US" sz="2600" dirty="0" smtClean="0"/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viewBox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="0 0 496 512"&gt;</a:t>
            </a:r>
          </a:p>
          <a:p>
            <a:pPr marL="987425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path fill="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currentColor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" d="M248 8C111 8 0 119 0 256s111 248 248 248 248-111 248-248S385 8 248 8zm0 448c-110.3 0-200-89.7-200-200S137.7 56 248 56s200 89.7 200 200-89.7 200-200 200zm-80-216c17.7 0 32-14.3 32-32s-14.3-32-32-32-32 14.3-32 32 14.3 32 32 32zm160 0c17.7 0 32-14.3 32-32s-14.3-32-32-32-32 14.3-32 32 14.3 32 32 32zm4 72.6c-20.8 25-51.5 39.4-84 39.4s-63.2-14.3-84-39.4c-8.5-10.2-23.7-11.5-33.8-3.1-10.2 8.5-11.5 23.6-3.1 33.8 30 36 74.1 56.6 120.9 56.6s90.9-20.6 120.9-56.6c8.5-10.2 7.1-25.3-3.1-33.8-10.1-8.4-25.3-7.1-33.8 3.1z"/&gt;</a:t>
            </a:r>
          </a:p>
          <a:p>
            <a:pPr marL="45720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777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Создание </a:t>
            </a:r>
            <a:r>
              <a:rPr lang="en-US" b="1" dirty="0" smtClean="0"/>
              <a:t>SVG</a:t>
            </a:r>
            <a:endParaRPr lang="ru-RU" b="1" dirty="0"/>
          </a:p>
        </p:txBody>
      </p:sp>
      <p:pic>
        <p:nvPicPr>
          <p:cNvPr id="1026" name="Picture 2" descr="https://developer.mozilla.org/@api/deki/files/359/=Shap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3758" y="1810512"/>
            <a:ext cx="1668356" cy="394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810512"/>
            <a:ext cx="9225116" cy="40386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2400" dirty="0">
                <a:hlinkClick r:id="rId3"/>
              </a:rPr>
              <a:t>https://</a:t>
            </a:r>
            <a:r>
              <a:rPr lang="en-US" sz="2400" dirty="0" smtClean="0">
                <a:hlinkClick r:id="rId3"/>
              </a:rPr>
              <a:t>developer.mozilla.org/ru/docs/Web/SVG/Tutorial/Basic_Shapes</a:t>
            </a:r>
            <a:r>
              <a:rPr lang="en-US" sz="2400" dirty="0" smtClean="0"/>
              <a:t> 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width="200" height="250" 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x="10" y="10" width="30" height="30" stroke="black" fill="transparent" stroke-width="5"/&gt;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x="60" y="10"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="10"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="10" width="30" height="30" stroke="black" fill="transparent" stroke-width="5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circle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cx="25" cy="75" r="20" stroke="red" fill="transparent" stroke-width="5"/&gt;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ellipse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cx="75" cy="75"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="20"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="5" stroke="red" fill="transparent" stroke-width="5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8768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Создание </a:t>
            </a:r>
            <a:r>
              <a:rPr lang="en-US" b="1" dirty="0" smtClean="0"/>
              <a:t>SVG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746691"/>
            <a:ext cx="8822472" cy="4038600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line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x1="10" x2="50" y1="110" y2="150" stroke="orange" fill="transparent" stroke-width="5"/&gt;</a:t>
            </a:r>
          </a:p>
          <a:p>
            <a:pPr marL="4572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polyline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points="60 110 65 120 70 115 75 130 80 125 85 140 90 135 95 150 100 145"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stroke="orange" fill="transparent" stroke-width="5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polygon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points="50 160 55 180 70 180 60 190 65 205 50 195 35 205 40 190 30 180 45 180"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stroke="green" fill="transparent" stroke-width="5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path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d="M20,230 Q40,205 50,230 T90,230" fill="none" stroke="blue" stroke-width="5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"/&gt;</a:t>
            </a:r>
            <a:endParaRPr lang="ru-RU" sz="2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026" name="Picture 2" descr="https://developer.mozilla.org/@api/deki/files/359/=Shap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8122" y="2013565"/>
            <a:ext cx="1668356" cy="39433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89431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Еще </a:t>
            </a:r>
            <a:r>
              <a:rPr lang="en-US" b="1" dirty="0" smtClean="0"/>
              <a:t>SVG</a:t>
            </a:r>
            <a:r>
              <a:rPr lang="ru-RU" b="1" dirty="0" smtClean="0"/>
              <a:t>-теги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b="1" dirty="0" smtClean="0"/>
              <a:t>Тег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&lt;g id="home" fill="red" stroke="black"&gt;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x="60" y="60" width="30" height="30"/&gt;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polyline points="60 60 75 40 90 60" /&gt;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075" y="3936283"/>
            <a:ext cx="2173386" cy="2159717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492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Еще </a:t>
            </a:r>
            <a:r>
              <a:rPr lang="en-US" b="1" dirty="0" smtClean="0"/>
              <a:t>SVG</a:t>
            </a:r>
            <a:r>
              <a:rPr lang="ru-RU" b="1" dirty="0" smtClean="0"/>
              <a:t>-теги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1" y="2057400"/>
            <a:ext cx="7185074" cy="4038600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ru-RU" sz="3100" b="1" dirty="0" smtClean="0"/>
              <a:t>Тег </a:t>
            </a:r>
            <a:r>
              <a:rPr lang="en-US" sz="31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defs</a:t>
            </a:r>
            <a:endParaRPr lang="en-US" sz="3100" b="1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width="80px" height="30px"&gt;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linearGradient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id="Gradient01"&gt;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&lt;stop offset="20%" stop-color="#39F" /&gt;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&lt;stop offset="90%" stop-color="#F3F" /&gt;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&lt;/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linearGradient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&lt;/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defs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 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 x="10" y="10" width="60" height="10"  fill="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(#Gradient01)" /&gt;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45720" indent="0"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1422" y="2057400"/>
            <a:ext cx="2481943" cy="868680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8447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en-US" b="1" dirty="0" err="1"/>
              <a:t>viewBox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800077"/>
            <a:ext cx="9872871" cy="4301197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2000" dirty="0" smtClean="0"/>
              <a:t>CSS:</a:t>
            </a:r>
          </a:p>
          <a:p>
            <a:pPr marL="45720" indent="0">
              <a:buNone/>
            </a:pP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{width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600px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height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 600px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000" dirty="0" smtClean="0"/>
              <a:t>HTML: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="http://www.w3.org/2000/svg"&gt;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 id="home" fill="red" stroke="black"&gt;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x="00" y="100" width="400" height="400"/&gt;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polyline points="0 100 200 0 400 100 0 100" /&gt;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g&gt;</a:t>
            </a:r>
          </a:p>
          <a:p>
            <a:pPr marL="4572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8688" y="609600"/>
            <a:ext cx="2097310" cy="2500531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1623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en-US" b="1" dirty="0" err="1"/>
              <a:t>viewBox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800077"/>
            <a:ext cx="9872871" cy="4301197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2000" dirty="0" smtClean="0"/>
              <a:t>CSS:</a:t>
            </a:r>
          </a:p>
          <a:p>
            <a:pPr marL="45720" indent="0">
              <a:buNone/>
            </a:pP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{width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200px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height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250px;}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000" dirty="0" smtClean="0"/>
              <a:t>HTML: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="http://www.w3.org/2000/svg"&gt;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 id="home" fill="red" stroke="black"&gt;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x="00" y="100" width="400" height="400"/&gt;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polyline points="0 100 200 0 400 100 0 100" /&gt;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g&gt;</a:t>
            </a:r>
          </a:p>
          <a:p>
            <a:pPr marL="4572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46" y="703897"/>
            <a:ext cx="2497941" cy="2524125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848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Свойство </a:t>
            </a:r>
            <a:r>
              <a:rPr lang="en-US" b="1" dirty="0" err="1"/>
              <a:t>viewBox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1800077"/>
            <a:ext cx="9872871" cy="4301197"/>
          </a:xfrm>
        </p:spPr>
        <p:txBody>
          <a:bodyPr>
            <a:noAutofit/>
          </a:bodyPr>
          <a:lstStyle/>
          <a:p>
            <a:pPr marL="45720" indent="0">
              <a:buNone/>
            </a:pPr>
            <a:r>
              <a:rPr lang="en-US" sz="2000" dirty="0" smtClean="0"/>
              <a:t>CSS:</a:t>
            </a:r>
          </a:p>
          <a:p>
            <a:pPr marL="45720" indent="0">
              <a:buNone/>
            </a:pP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{width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200px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height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: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250px;}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000" dirty="0" smtClean="0"/>
              <a:t>HTML:</a:t>
            </a:r>
          </a:p>
          <a:p>
            <a:pPr marL="4572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viewBox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="0 0 500 500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 </a:t>
            </a:r>
            <a:r>
              <a:rPr lang="en-US" sz="20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xmlns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="http://www.w3.org/2000/svg"&gt;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 id="home" fill="red" stroke="black"&gt;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x="00" y="100" width="400" height="400"/&gt;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polyline points="0 100 200 0 400 100 0 100" /&gt;</a:t>
            </a:r>
          </a:p>
          <a:p>
            <a:pPr marL="4572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g&gt;</a:t>
            </a:r>
          </a:p>
          <a:p>
            <a:pPr marL="45720" indent="0">
              <a:buNone/>
            </a:pP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3760" y="994593"/>
            <a:ext cx="1423435" cy="1942734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54078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</a:t>
            </a:r>
            <a:r>
              <a:rPr lang="en-US" b="1" dirty="0" smtClean="0"/>
              <a:t>SVG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265" y="2057400"/>
            <a:ext cx="10930597" cy="4038600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viewBox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="0 0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200 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300"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preserveAspectRatio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="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xMinYMid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&lt;/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818" y="2904867"/>
            <a:ext cx="5626857" cy="3608254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2980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Пропорции в </a:t>
            </a:r>
            <a:r>
              <a:rPr lang="en-US" dirty="0" smtClean="0"/>
              <a:t>SVG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10462846" cy="4038600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+mj-lt"/>
                <a:cs typeface="Courier New" panose="02070309020205020404" pitchFamily="49" charset="0"/>
              </a:rPr>
              <a:t>Можно  сохранить пропорции, масштабируя </a:t>
            </a:r>
            <a:r>
              <a:rPr lang="en-US" sz="2400" dirty="0" err="1">
                <a:latin typeface="+mj-lt"/>
                <a:cs typeface="Courier New" panose="02070309020205020404" pitchFamily="49" charset="0"/>
              </a:rPr>
              <a:t>viewBox</a:t>
            </a:r>
            <a:r>
              <a:rPr lang="ru-RU" sz="2400" dirty="0">
                <a:latin typeface="+mj-lt"/>
                <a:cs typeface="Courier New" panose="02070309020205020404" pitchFamily="49" charset="0"/>
              </a:rPr>
              <a:t> (по умолчанию</a:t>
            </a:r>
            <a:r>
              <a:rPr lang="ru-RU" sz="2400" dirty="0" smtClean="0">
                <a:latin typeface="+mj-lt"/>
                <a:cs typeface="Courier New" panose="02070309020205020404" pitchFamily="49" charset="0"/>
              </a:rPr>
              <a:t>)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preserveAspectRatio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xMinYMid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meet"</a:t>
            </a:r>
          </a:p>
          <a:p>
            <a:r>
              <a:rPr lang="ru-RU" sz="2400" dirty="0" smtClean="0"/>
              <a:t>Можно отменить сохранение пропорций с помощью атрибута </a:t>
            </a:r>
          </a:p>
          <a:p>
            <a:pPr marL="45720" indent="0">
              <a:buNone/>
            </a:pP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preserveAspectRatio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"none"</a:t>
            </a:r>
          </a:p>
          <a:p>
            <a:r>
              <a:rPr lang="ru-RU" sz="2400" dirty="0" smtClean="0">
                <a:cs typeface="Courier New" panose="02070309020205020404" pitchFamily="49" charset="0"/>
              </a:rPr>
              <a:t>Можно заполнить </a:t>
            </a:r>
            <a:r>
              <a:rPr lang="ru-RU" sz="2400" dirty="0">
                <a:cs typeface="Courier New" panose="02070309020205020404" pitchFamily="49" charset="0"/>
              </a:rPr>
              <a:t>область </a:t>
            </a:r>
            <a:r>
              <a:rPr lang="ru-RU" sz="2400" dirty="0" smtClean="0">
                <a:cs typeface="Courier New" panose="02070309020205020404" pitchFamily="49" charset="0"/>
              </a:rPr>
              <a:t>просмотра </a:t>
            </a:r>
            <a:r>
              <a:rPr lang="ru-RU" sz="2400" dirty="0" err="1" smtClean="0">
                <a:cs typeface="Courier New" panose="02070309020205020404" pitchFamily="49" charset="0"/>
              </a:rPr>
              <a:t>viewBox</a:t>
            </a:r>
            <a:r>
              <a:rPr lang="ru-RU" sz="2400" dirty="0" smtClean="0">
                <a:cs typeface="Courier New" panose="02070309020205020404" pitchFamily="49" charset="0"/>
              </a:rPr>
              <a:t> </a:t>
            </a:r>
            <a:r>
              <a:rPr lang="ru-RU" sz="2400" dirty="0">
                <a:cs typeface="Courier New" panose="02070309020205020404" pitchFamily="49" charset="0"/>
              </a:rPr>
              <a:t>и затем обрезать все части изображения, которые не поместились в область просмотра после этого </a:t>
            </a:r>
            <a:r>
              <a:rPr lang="ru-RU" sz="2400" dirty="0" smtClean="0">
                <a:cs typeface="Courier New" panose="02070309020205020404" pitchFamily="49" charset="0"/>
              </a:rPr>
              <a:t>масштабирования</a:t>
            </a:r>
          </a:p>
          <a:p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preserveAspectRatio</a:t>
            </a:r>
            <a:r>
              <a:rPr lang="ru-RU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xMinYMid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slice"</a:t>
            </a:r>
          </a:p>
          <a:p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62531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Выравнивание </a:t>
            </a:r>
            <a:r>
              <a:rPr lang="en-US" b="1" dirty="0" smtClean="0"/>
              <a:t>SVG</a:t>
            </a:r>
            <a:endParaRPr lang="ru-RU" b="1" dirty="0"/>
          </a:p>
        </p:txBody>
      </p:sp>
      <p:pic>
        <p:nvPicPr>
          <p:cNvPr id="2052" name="Picture 4" descr="Coordinate Systems, Transformations and Units - W3C SVG 1.0 Specification -  Candidate Recommendation 200008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224" y="1758779"/>
            <a:ext cx="8176016" cy="4256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6665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Создание </a:t>
            </a:r>
            <a:r>
              <a:rPr lang="en-US" b="1" dirty="0" smtClean="0"/>
              <a:t>SVG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С помощью </a:t>
            </a:r>
            <a:r>
              <a:rPr lang="en-US" sz="2400" dirty="0" smtClean="0"/>
              <a:t>SVG</a:t>
            </a:r>
            <a:r>
              <a:rPr lang="ru-RU" sz="2400" dirty="0" smtClean="0"/>
              <a:t>-кода</a:t>
            </a:r>
          </a:p>
          <a:p>
            <a:pPr marL="502920" indent="-457200">
              <a:buFont typeface="+mj-lt"/>
              <a:buAutoNum type="arabicPeriod"/>
            </a:pPr>
            <a:r>
              <a:rPr lang="en-US" sz="2400" dirty="0" err="1" smtClean="0"/>
              <a:t>Figma</a:t>
            </a:r>
            <a:endParaRPr lang="en-US" sz="2400" dirty="0" smtClean="0"/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Онлайн-редакторы </a:t>
            </a:r>
            <a:r>
              <a:rPr lang="en-US" sz="2400" dirty="0" smtClean="0"/>
              <a:t>SVG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252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Изменение свойств </a:t>
            </a:r>
            <a:r>
              <a:rPr lang="en-US" b="1" dirty="0" smtClean="0"/>
              <a:t>SVG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dirty="0" smtClean="0"/>
              <a:t>Изменение цвета при наведении</a:t>
            </a:r>
          </a:p>
          <a:p>
            <a:pPr marL="4572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svg:hover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path{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fill:aqua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2366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Свойство </a:t>
            </a:r>
            <a:r>
              <a:rPr lang="en-US" dirty="0" smtClean="0"/>
              <a:t>transform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7298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Свойство </a:t>
            </a:r>
            <a:r>
              <a:rPr lang="en-US" dirty="0" smtClean="0"/>
              <a:t>transform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dirty="0"/>
              <a:t>С</a:t>
            </a:r>
            <a:r>
              <a:rPr lang="ru-RU" dirty="0" smtClean="0"/>
              <a:t>войство </a:t>
            </a:r>
            <a:r>
              <a:rPr lang="ru-RU" dirty="0" err="1"/>
              <a:t>transform</a:t>
            </a:r>
            <a:r>
              <a:rPr lang="ru-RU" dirty="0"/>
              <a:t> позволяет вам поворачивать, масштабировать, наклонять или сдвигать </a:t>
            </a:r>
            <a:r>
              <a:rPr lang="ru-RU" dirty="0" smtClean="0"/>
              <a:t>элемент.</a:t>
            </a:r>
          </a:p>
          <a:p>
            <a:pPr marL="45720" indent="0">
              <a:buNone/>
            </a:pPr>
            <a:r>
              <a:rPr lang="ru-RU" dirty="0" smtClean="0"/>
              <a:t>Позволяет трансформировать объекты как в 2</a:t>
            </a:r>
            <a:r>
              <a:rPr lang="en-US" dirty="0" smtClean="0"/>
              <a:t>D</a:t>
            </a:r>
            <a:r>
              <a:rPr lang="ru-RU" dirty="0" smtClean="0"/>
              <a:t> так и в 3</a:t>
            </a:r>
            <a:r>
              <a:rPr lang="en-US" dirty="0" smtClean="0"/>
              <a:t>D</a:t>
            </a:r>
            <a:r>
              <a:rPr lang="ru-RU" dirty="0" smtClean="0"/>
              <a:t> пространстве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02512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Перемещение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transform: </a:t>
            </a:r>
            <a:r>
              <a:rPr lang="en-US" dirty="0" err="1" smtClean="0"/>
              <a:t>translateX</a:t>
            </a:r>
            <a:r>
              <a:rPr lang="en-US" dirty="0" smtClean="0"/>
              <a:t>(</a:t>
            </a:r>
            <a:r>
              <a:rPr lang="ru-RU" dirty="0" smtClean="0"/>
              <a:t>50</a:t>
            </a:r>
            <a:r>
              <a:rPr lang="en-US" dirty="0" err="1" smtClean="0"/>
              <a:t>px</a:t>
            </a:r>
            <a:r>
              <a:rPr lang="en-US" dirty="0" smtClean="0"/>
              <a:t>);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transform: </a:t>
            </a:r>
            <a:r>
              <a:rPr lang="en-US" dirty="0" err="1" smtClean="0"/>
              <a:t>translateY</a:t>
            </a:r>
            <a:r>
              <a:rPr lang="en-US" dirty="0" smtClean="0"/>
              <a:t>(50%);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transform: </a:t>
            </a:r>
            <a:r>
              <a:rPr lang="en-US" dirty="0" err="1"/>
              <a:t>translateZ</a:t>
            </a:r>
            <a:r>
              <a:rPr lang="en-US" dirty="0"/>
              <a:t>(2px);</a:t>
            </a:r>
            <a:endParaRPr lang="ru-RU" dirty="0"/>
          </a:p>
          <a:p>
            <a:pPr marL="45720" indent="0">
              <a:buNone/>
            </a:pPr>
            <a:r>
              <a:rPr lang="en-US" dirty="0" smtClean="0"/>
              <a:t>transform</a:t>
            </a:r>
            <a:r>
              <a:rPr lang="en-US" dirty="0"/>
              <a:t>: translate(12px, 50%);</a:t>
            </a:r>
          </a:p>
          <a:p>
            <a:pPr marL="45720" indent="0">
              <a:buNone/>
            </a:pPr>
            <a:r>
              <a:rPr lang="en-US" dirty="0"/>
              <a:t>transform: translate3d(12px, 50%, 3em</a:t>
            </a:r>
            <a:r>
              <a:rPr lang="en-US" dirty="0" smtClean="0"/>
              <a:t>);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4907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Поворот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/>
              <a:t>transform: </a:t>
            </a:r>
            <a:r>
              <a:rPr lang="en-US" dirty="0" err="1"/>
              <a:t>rotateX</a:t>
            </a:r>
            <a:r>
              <a:rPr lang="en-US" dirty="0"/>
              <a:t>(10deg);</a:t>
            </a:r>
          </a:p>
          <a:p>
            <a:pPr marL="45720" indent="0">
              <a:buNone/>
            </a:pPr>
            <a:r>
              <a:rPr lang="en-US" dirty="0"/>
              <a:t>transform: </a:t>
            </a:r>
            <a:r>
              <a:rPr lang="en-US" dirty="0" err="1"/>
              <a:t>rotateY</a:t>
            </a:r>
            <a:r>
              <a:rPr lang="en-US" dirty="0"/>
              <a:t>(10deg);</a:t>
            </a:r>
          </a:p>
          <a:p>
            <a:pPr marL="45720" indent="0">
              <a:buNone/>
            </a:pPr>
            <a:r>
              <a:rPr lang="en-US" dirty="0"/>
              <a:t>transform: </a:t>
            </a:r>
            <a:r>
              <a:rPr lang="en-US" dirty="0" err="1"/>
              <a:t>rotateZ</a:t>
            </a:r>
            <a:r>
              <a:rPr lang="en-US" dirty="0"/>
              <a:t>(10deg);</a:t>
            </a:r>
            <a:endParaRPr lang="ru-RU" dirty="0"/>
          </a:p>
          <a:p>
            <a:pPr marL="45720" indent="0">
              <a:buNone/>
            </a:pPr>
            <a:r>
              <a:rPr lang="en-US" dirty="0" smtClean="0"/>
              <a:t>transform</a:t>
            </a:r>
            <a:r>
              <a:rPr lang="en-US" dirty="0"/>
              <a:t>: </a:t>
            </a:r>
            <a:r>
              <a:rPr lang="en-US" dirty="0" smtClean="0"/>
              <a:t>rotate(</a:t>
            </a:r>
            <a:r>
              <a:rPr lang="ru-RU" dirty="0" smtClean="0"/>
              <a:t>50</a:t>
            </a:r>
            <a:r>
              <a:rPr lang="en-US" dirty="0" err="1" smtClean="0"/>
              <a:t>deg</a:t>
            </a:r>
            <a:r>
              <a:rPr lang="en-US" dirty="0" smtClean="0"/>
              <a:t>);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transform: rotate3d(1, 2.0, 3.0, 10deg</a:t>
            </a:r>
            <a:r>
              <a:rPr lang="en-US" dirty="0" smtClean="0"/>
              <a:t>); //</a:t>
            </a:r>
            <a:r>
              <a:rPr lang="ru-RU" dirty="0" smtClean="0"/>
              <a:t>вектор оси и поворот вокруг нее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18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Масштаб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 smtClean="0"/>
              <a:t>transform</a:t>
            </a:r>
            <a:r>
              <a:rPr lang="en-US" dirty="0"/>
              <a:t>: </a:t>
            </a:r>
            <a:r>
              <a:rPr lang="en-US" dirty="0" err="1"/>
              <a:t>scaleX</a:t>
            </a:r>
            <a:r>
              <a:rPr lang="en-US" dirty="0"/>
              <a:t>(2);</a:t>
            </a:r>
          </a:p>
          <a:p>
            <a:pPr marL="45720" indent="0">
              <a:buNone/>
            </a:pPr>
            <a:r>
              <a:rPr lang="en-US" dirty="0"/>
              <a:t>transform: </a:t>
            </a:r>
            <a:r>
              <a:rPr lang="en-US" dirty="0" err="1"/>
              <a:t>scaleY</a:t>
            </a:r>
            <a:r>
              <a:rPr lang="en-US" dirty="0"/>
              <a:t>(0.5);</a:t>
            </a:r>
          </a:p>
          <a:p>
            <a:pPr marL="45720" indent="0">
              <a:buNone/>
            </a:pPr>
            <a:r>
              <a:rPr lang="en-US" dirty="0"/>
              <a:t>transform: </a:t>
            </a:r>
            <a:r>
              <a:rPr lang="en-US" dirty="0" err="1"/>
              <a:t>scaleZ</a:t>
            </a:r>
            <a:r>
              <a:rPr lang="en-US" dirty="0"/>
              <a:t>(0.3</a:t>
            </a:r>
            <a:r>
              <a:rPr lang="en-US" dirty="0" smtClean="0"/>
              <a:t>);</a:t>
            </a:r>
            <a:endParaRPr lang="ru-RU" dirty="0" smtClean="0"/>
          </a:p>
          <a:p>
            <a:pPr marL="45720" indent="0">
              <a:buNone/>
            </a:pPr>
            <a:r>
              <a:rPr lang="en-US" dirty="0"/>
              <a:t>transform: scale3d(2.5, 1.2, 0.3);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86184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Наклон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 smtClean="0"/>
              <a:t>transform</a:t>
            </a:r>
            <a:r>
              <a:rPr lang="en-US" dirty="0"/>
              <a:t>: </a:t>
            </a:r>
            <a:r>
              <a:rPr lang="en-US" dirty="0" err="1"/>
              <a:t>skewX</a:t>
            </a:r>
            <a:r>
              <a:rPr lang="en-US" dirty="0"/>
              <a:t>(30deg);</a:t>
            </a:r>
          </a:p>
          <a:p>
            <a:pPr marL="45720" indent="0">
              <a:buNone/>
            </a:pPr>
            <a:r>
              <a:rPr lang="en-US" dirty="0"/>
              <a:t>transform: </a:t>
            </a:r>
            <a:r>
              <a:rPr lang="en-US" dirty="0" err="1"/>
              <a:t>skewY</a:t>
            </a:r>
            <a:r>
              <a:rPr lang="en-US" dirty="0"/>
              <a:t>(1.07rad</a:t>
            </a:r>
            <a:r>
              <a:rPr lang="en-US" dirty="0" smtClean="0"/>
              <a:t>);</a:t>
            </a:r>
            <a:endParaRPr lang="ru-RU" dirty="0" smtClean="0"/>
          </a:p>
          <a:p>
            <a:pPr marL="45720" indent="0">
              <a:buNone/>
            </a:pPr>
            <a:r>
              <a:rPr lang="en-US" dirty="0"/>
              <a:t>transform: skew(30deg, 20deg);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55674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Перспектива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dirty="0" smtClean="0"/>
              <a:t>Расстояние </a:t>
            </a:r>
            <a:r>
              <a:rPr lang="ru-RU" dirty="0"/>
              <a:t>между пользователем и плоскостью z=0, перспективу, с которой находился бы зритель, если бы двумерный интерфейс был трехмерным.</a:t>
            </a:r>
            <a:endParaRPr lang="ru-RU" dirty="0" smtClean="0"/>
          </a:p>
          <a:p>
            <a:pPr marL="45720" indent="0">
              <a:buNone/>
            </a:pPr>
            <a:r>
              <a:rPr lang="en-US" dirty="0" smtClean="0"/>
              <a:t>transform</a:t>
            </a:r>
            <a:r>
              <a:rPr lang="en-US" dirty="0"/>
              <a:t>: perspective(17px</a:t>
            </a:r>
            <a:r>
              <a:rPr lang="en-US" dirty="0" smtClean="0"/>
              <a:t>);</a:t>
            </a:r>
            <a:endParaRPr lang="ru-RU" dirty="0" smtClean="0"/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r>
              <a:rPr lang="en-US" dirty="0"/>
              <a:t>transform: perspective(500px) </a:t>
            </a:r>
            <a:r>
              <a:rPr lang="en-US" dirty="0" err="1" smtClean="0"/>
              <a:t>rotateX</a:t>
            </a:r>
            <a:r>
              <a:rPr lang="en-US" dirty="0" smtClean="0"/>
              <a:t>(3deg</a:t>
            </a:r>
            <a:r>
              <a:rPr lang="en-US" dirty="0"/>
              <a:t>);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2530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Свойство </a:t>
            </a:r>
            <a:r>
              <a:rPr lang="en-US" dirty="0" smtClean="0"/>
              <a:t>transform-origin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dirty="0" smtClean="0"/>
              <a:t>Это свойство задает начало преобразования. То есть точку, </a:t>
            </a:r>
            <a:r>
              <a:rPr lang="ru-RU" dirty="0"/>
              <a:t>вокруг которой применяется преобразование. </a:t>
            </a:r>
            <a:endParaRPr lang="ru-RU" dirty="0">
              <a:hlinkClick r:id="rId2"/>
            </a:endParaRPr>
          </a:p>
          <a:p>
            <a:pPr marL="45720" indent="0">
              <a:buNone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developer.mozilla.org/en-US/docs/Web/CSS/transform-origin</a:t>
            </a:r>
            <a:r>
              <a:rPr lang="ru-RU" dirty="0" smtClean="0"/>
              <a:t> </a:t>
            </a:r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74158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Transform-origin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27</a:t>
            </a:fld>
            <a:endParaRPr lang="ru-RU"/>
          </a:p>
        </p:txBody>
      </p:sp>
      <p:pic>
        <p:nvPicPr>
          <p:cNvPr id="1026" name="Picture 2" descr="perspective-origin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6581" y="2533650"/>
            <a:ext cx="59055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5136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Свойство </a:t>
            </a:r>
            <a:r>
              <a:rPr lang="en-US" dirty="0" smtClean="0"/>
              <a:t>clip-path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dirty="0"/>
              <a:t>Свойство CSS </a:t>
            </a:r>
            <a:r>
              <a:rPr lang="ru-RU" dirty="0" err="1"/>
              <a:t>clip-path</a:t>
            </a:r>
            <a:r>
              <a:rPr lang="ru-RU" dirty="0"/>
              <a:t> создает область отсечения, которая определяет, какая часть элемента должна отображаться. Части, которые находятся внутри области, показаны, а те, что снаружи, скрыты</a:t>
            </a:r>
            <a:r>
              <a:rPr lang="ru-RU" dirty="0" smtClean="0"/>
              <a:t>.</a:t>
            </a:r>
            <a:endParaRPr lang="en-US" dirty="0" smtClean="0"/>
          </a:p>
          <a:p>
            <a:pPr marL="4572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developer.mozilla.org/en-US/docs/Web/CSS/clip-path</a:t>
            </a:r>
            <a:endParaRPr lang="en-US" dirty="0" smtClean="0"/>
          </a:p>
          <a:p>
            <a:pPr marL="45720" indent="0">
              <a:buNone/>
            </a:pPr>
            <a:r>
              <a:rPr lang="en-US" dirty="0"/>
              <a:t>clip-path: circle(50px at 0 100px);</a:t>
            </a:r>
          </a:p>
          <a:p>
            <a:pPr marL="45720" indent="0">
              <a:buNone/>
            </a:pPr>
            <a:r>
              <a:rPr lang="en-US" dirty="0"/>
              <a:t>clip-path: ellipse(50px 60px at 0 10% 20%);</a:t>
            </a:r>
          </a:p>
          <a:p>
            <a:pPr marL="45720" indent="0">
              <a:buNone/>
            </a:pPr>
            <a:r>
              <a:rPr lang="en-US" dirty="0"/>
              <a:t>clip-path: polygon(50% 0%, 100% 50%, 50% 100%, 0% 50%);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989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Генераторы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ru.w3docs.com/css3-maker</a:t>
            </a:r>
            <a:endParaRPr lang="ru-RU" dirty="0" smtClean="0"/>
          </a:p>
          <a:p>
            <a:pPr marL="45720" indent="0">
              <a:buNone/>
            </a:pPr>
            <a:r>
              <a:rPr lang="en-US" dirty="0">
                <a:hlinkClick r:id="rId3"/>
              </a:rPr>
              <a:t>https://css-transform.moro.es</a:t>
            </a:r>
            <a:r>
              <a:rPr lang="en-US" dirty="0" smtClean="0">
                <a:hlinkClick r:id="rId3"/>
              </a:rPr>
              <a:t>/</a:t>
            </a:r>
            <a:endParaRPr lang="ru-RU" dirty="0" smtClean="0"/>
          </a:p>
          <a:p>
            <a:pPr marL="45720" indent="0">
              <a:buNone/>
            </a:pPr>
            <a:r>
              <a:rPr lang="en-US" dirty="0">
                <a:hlinkClick r:id="rId4"/>
              </a:rPr>
              <a:t>https://bennettfeely.com/clippy</a:t>
            </a:r>
            <a:r>
              <a:rPr lang="en-US" dirty="0" smtClean="0">
                <a:hlinkClick r:id="rId4"/>
              </a:rPr>
              <a:t>/</a:t>
            </a:r>
            <a:endParaRPr lang="ru-RU" dirty="0" smtClean="0"/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063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</a:t>
            </a:r>
            <a:r>
              <a:rPr lang="ru-RU" dirty="0" smtClean="0"/>
              <a:t>-переходы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7373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CSS</a:t>
            </a:r>
            <a:r>
              <a:rPr lang="ru-RU" b="1" dirty="0" smtClean="0"/>
              <a:t>-анимации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US" sz="2400" dirty="0" smtClean="0"/>
              <a:t>CSS</a:t>
            </a:r>
            <a:r>
              <a:rPr lang="ru-RU" sz="2400" dirty="0" smtClean="0"/>
              <a:t>-переходы (свойства </a:t>
            </a:r>
            <a:r>
              <a:rPr lang="en-US" sz="2400" dirty="0" smtClean="0"/>
              <a:t>transition</a:t>
            </a:r>
            <a:r>
              <a:rPr lang="ru-RU" sz="2400" dirty="0"/>
              <a:t>): </a:t>
            </a:r>
            <a:r>
              <a:rPr lang="ru-RU" sz="2400" dirty="0" smtClean="0"/>
              <a:t>позволяет </a:t>
            </a:r>
            <a:r>
              <a:rPr lang="ru-RU" sz="2400" dirty="0"/>
              <a:t>определять переходное состояние между двумя состояниями элемента.</a:t>
            </a:r>
            <a:endParaRPr lang="ru-RU" sz="2400" dirty="0" smtClean="0"/>
          </a:p>
          <a:p>
            <a:pPr marL="502920" indent="-457200">
              <a:buFont typeface="+mj-lt"/>
              <a:buAutoNum type="arabicPeriod"/>
            </a:pPr>
            <a:r>
              <a:rPr lang="en-US" sz="2400" dirty="0" smtClean="0"/>
              <a:t>CSS</a:t>
            </a:r>
            <a:r>
              <a:rPr lang="ru-RU" sz="2400" dirty="0" smtClean="0"/>
              <a:t>-анимация (свойства </a:t>
            </a:r>
            <a:r>
              <a:rPr lang="en-US" sz="2400" dirty="0"/>
              <a:t>animation</a:t>
            </a:r>
            <a:r>
              <a:rPr lang="ru-RU" sz="2400" dirty="0" smtClean="0"/>
              <a:t>): для анимации по ключевым кадрам.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1159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CSS</a:t>
            </a:r>
            <a:r>
              <a:rPr lang="ru-RU" b="1" dirty="0"/>
              <a:t>-переходы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transition-property</a:t>
            </a:r>
            <a:r>
              <a:rPr lang="en-US" sz="2400" dirty="0"/>
              <a:t> – </a:t>
            </a:r>
            <a:r>
              <a:rPr lang="ru-RU" sz="2400" dirty="0"/>
              <a:t>свойство перехода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transition-duration</a:t>
            </a:r>
            <a:r>
              <a:rPr lang="en-US" sz="2400" dirty="0"/>
              <a:t> – </a:t>
            </a:r>
            <a:r>
              <a:rPr lang="ru-RU" sz="2400" dirty="0"/>
              <a:t>продолжительность перехода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transition-timing-function</a:t>
            </a:r>
            <a:r>
              <a:rPr lang="en-US" sz="2400" dirty="0"/>
              <a:t> – </a:t>
            </a:r>
            <a:r>
              <a:rPr lang="ru-RU" sz="2400" dirty="0"/>
              <a:t>временная функция перехода</a:t>
            </a:r>
          </a:p>
          <a:p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transition-delay </a:t>
            </a:r>
            <a:r>
              <a:rPr lang="en-US" sz="2400" dirty="0"/>
              <a:t>– </a:t>
            </a:r>
            <a:r>
              <a:rPr lang="ru-RU" sz="2400" dirty="0"/>
              <a:t>задержка начала перехода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2246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transition-property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400" dirty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developer.mozilla.org/en-US/docs/Web/CSS/CSS_animated_properties</a:t>
            </a:r>
            <a:r>
              <a:rPr lang="en-US" sz="2400" dirty="0" smtClean="0"/>
              <a:t> </a:t>
            </a:r>
          </a:p>
          <a:p>
            <a:pPr marL="45720" indent="0">
              <a:buNone/>
            </a:pPr>
            <a:r>
              <a:rPr lang="ru-RU" sz="2400" dirty="0" smtClean="0"/>
              <a:t>Например:</a:t>
            </a:r>
            <a:endParaRPr lang="en-US" sz="2400" dirty="0" smtClean="0"/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background-color;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width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opacity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all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9390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transition-duration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951271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 smtClean="0"/>
              <a:t>Измеряется в секундах </a:t>
            </a:r>
            <a:r>
              <a:rPr lang="en-US" sz="2400" dirty="0" smtClean="0"/>
              <a:t>(s)</a:t>
            </a:r>
            <a:r>
              <a:rPr lang="ru-RU" sz="2400" dirty="0" smtClean="0"/>
              <a:t> или миллисекундах (</a:t>
            </a:r>
            <a:r>
              <a:rPr lang="en-US" sz="2400" dirty="0" err="1" smtClean="0"/>
              <a:t>ms</a:t>
            </a:r>
            <a:r>
              <a:rPr lang="ru-RU" sz="2400" dirty="0" smtClean="0"/>
              <a:t>).</a:t>
            </a:r>
          </a:p>
          <a:p>
            <a:pPr marL="45720" indent="0">
              <a:buNone/>
            </a:pPr>
            <a:endParaRPr lang="ru-RU" sz="2400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1140351" y="2687156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transition-delay</a:t>
            </a:r>
            <a:endParaRPr lang="ru-RU" b="1" dirty="0"/>
          </a:p>
        </p:txBody>
      </p:sp>
      <p:sp>
        <p:nvSpPr>
          <p:cNvPr id="5" name="Объект 2"/>
          <p:cNvSpPr txBox="1">
            <a:spLocks/>
          </p:cNvSpPr>
          <p:nvPr/>
        </p:nvSpPr>
        <p:spPr>
          <a:xfrm>
            <a:off x="1140351" y="4043516"/>
            <a:ext cx="9872871" cy="9512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tx1"/>
              </a:buClr>
              <a:buSzPct val="80000"/>
              <a:buFont typeface="Corbe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SzPct val="80000"/>
              <a:buFont typeface="Corbe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</a:pPr>
            <a:r>
              <a:rPr lang="ru-RU" sz="2400" dirty="0" smtClean="0"/>
              <a:t>Измеряется в секундах </a:t>
            </a:r>
            <a:r>
              <a:rPr lang="en-US" sz="2400" dirty="0" smtClean="0"/>
              <a:t>(s)</a:t>
            </a:r>
            <a:r>
              <a:rPr lang="ru-RU" sz="2400" dirty="0" smtClean="0"/>
              <a:t> или миллисекундах (</a:t>
            </a:r>
            <a:r>
              <a:rPr lang="en-US" sz="2400" dirty="0" err="1" smtClean="0"/>
              <a:t>ms</a:t>
            </a:r>
            <a:r>
              <a:rPr lang="ru-RU" sz="2400" dirty="0" smtClean="0"/>
              <a:t>).</a:t>
            </a:r>
          </a:p>
          <a:p>
            <a:pPr marL="45720" indent="0">
              <a:buFont typeface="Corbel" pitchFamily="34" charset="0"/>
              <a:buNone/>
            </a:pPr>
            <a:r>
              <a:rPr lang="ru-RU" sz="2400" dirty="0" smtClean="0"/>
              <a:t>Может быть отрицательным и положительным числом.</a:t>
            </a:r>
          </a:p>
          <a:p>
            <a:pPr marL="45720" indent="0">
              <a:buFont typeface="Corbel" pitchFamily="34" charset="0"/>
              <a:buNone/>
            </a:pPr>
            <a:endParaRPr lang="ru-RU" sz="2400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220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 1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svg:hover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path{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fill:aqua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  transition: fill;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  transition-duration: 4s;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81087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 </a:t>
            </a:r>
            <a:r>
              <a:rPr lang="en-US" b="1" dirty="0" smtClean="0"/>
              <a:t>2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svg:hover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path{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fill:aqua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  transition: fill;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  transition-duration: 4s;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    transition-delay:2s ;</a:t>
            </a:r>
          </a:p>
          <a:p>
            <a:pPr marL="4572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9125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 </a:t>
            </a:r>
            <a:r>
              <a:rPr lang="en-US" b="1" dirty="0" smtClean="0"/>
              <a:t>2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4329332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#anchor path{</a:t>
            </a:r>
          </a:p>
          <a:p>
            <a:pPr marL="4572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stroke-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dasharray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 2 50;</a:t>
            </a:r>
          </a:p>
          <a:p>
            <a:pPr marL="4572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sz="2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stroke:black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sz="2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 transition-property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 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dasharray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transition-duration: 4s;     </a:t>
            </a:r>
          </a:p>
          <a:p>
            <a:pPr marL="4572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anchor:hover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 path{</a:t>
            </a:r>
          </a:p>
          <a:p>
            <a:pPr marL="4572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stroke-</a:t>
            </a:r>
            <a:r>
              <a:rPr 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dasharray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: 50 0</a:t>
            </a:r>
            <a:r>
              <a:rPr lang="en-US" sz="2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</a:t>
            </a:r>
          </a:p>
          <a:p>
            <a:pPr marL="45720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543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 3. </a:t>
            </a:r>
            <a:r>
              <a:rPr lang="ru-RU" b="1" smtClean="0"/>
              <a:t>Выпадающее меню</a:t>
            </a:r>
            <a:endParaRPr lang="ru-RU" b="1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585" y="1965960"/>
            <a:ext cx="7029659" cy="4474862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83659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 3. </a:t>
            </a:r>
            <a:r>
              <a:rPr lang="ru-RU" b="1" smtClean="0"/>
              <a:t>Выпадающее меню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2999" y="1965959"/>
            <a:ext cx="5398477" cy="410857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2514" y="1582136"/>
            <a:ext cx="3314187" cy="4885956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8625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 3. </a:t>
            </a:r>
            <a:r>
              <a:rPr lang="ru-RU" b="1" smtClean="0"/>
              <a:t>Выпадающее меню</a:t>
            </a:r>
            <a:endParaRPr lang="ru-RU" b="1" dirty="0"/>
          </a:p>
        </p:txBody>
      </p:sp>
      <p:pic>
        <p:nvPicPr>
          <p:cNvPr id="10" name="Объект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2071394"/>
            <a:ext cx="5229341" cy="3724495"/>
          </a:xfrm>
          <a:prstGeom prst="rect">
            <a:avLst/>
          </a:prstGeom>
        </p:spPr>
      </p:pic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4239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 3. Выпадающее меню</a:t>
            </a:r>
            <a:endParaRPr lang="ru-RU" b="1" dirty="0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Добавьте анимацию цвета фона</a:t>
            </a:r>
          </a:p>
          <a:p>
            <a:pPr marL="502920" indent="-457200">
              <a:buFont typeface="+mj-lt"/>
              <a:buAutoNum type="arabicPeriod"/>
            </a:pPr>
            <a:r>
              <a:rPr lang="ru-RU" sz="2400" dirty="0" smtClean="0"/>
              <a:t>Добавьте эффект выпадения меню сверху-вниз с помощью </a:t>
            </a:r>
            <a:r>
              <a:rPr lang="en-US" sz="2400" dirty="0" smtClean="0"/>
              <a:t>margin-top</a:t>
            </a:r>
            <a:endParaRPr lang="ru-RU" sz="2400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18947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transition-timing-function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9872871" cy="4329332"/>
          </a:xfrm>
        </p:spPr>
        <p:txBody>
          <a:bodyPr>
            <a:normAutofit lnSpcReduction="10000"/>
          </a:bodyPr>
          <a:lstStyle/>
          <a:p>
            <a:r>
              <a:rPr lang="ru-RU" sz="2400" dirty="0" err="1"/>
              <a:t>ease</a:t>
            </a:r>
            <a:r>
              <a:rPr lang="ru-RU" sz="2400" dirty="0"/>
              <a:t> (значение по умолчанию) — начало анимации медленное, к середине скорость повышается и в конце вновь </a:t>
            </a:r>
            <a:r>
              <a:rPr lang="ru-RU" sz="2400" dirty="0" smtClean="0"/>
              <a:t>снижается.</a:t>
            </a:r>
          </a:p>
          <a:p>
            <a:r>
              <a:rPr lang="ru-RU" sz="2400" dirty="0" err="1" smtClean="0"/>
              <a:t>ease-in</a:t>
            </a:r>
            <a:r>
              <a:rPr lang="ru-RU" sz="2400" dirty="0" smtClean="0"/>
              <a:t> </a:t>
            </a:r>
            <a:r>
              <a:rPr lang="ru-RU" sz="2400" dirty="0"/>
              <a:t>— начало анимации медленное, к концу она ускоряется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ru-RU" sz="2400" dirty="0" err="1"/>
              <a:t>ease-out</a:t>
            </a:r>
            <a:r>
              <a:rPr lang="ru-RU" sz="2400" dirty="0"/>
              <a:t> — начало анимации быстрое, к концу она замедляется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ru-RU" sz="2400" dirty="0" err="1"/>
              <a:t>ease-in-out</a:t>
            </a:r>
            <a:r>
              <a:rPr lang="ru-RU" sz="2400" dirty="0"/>
              <a:t> — начало и конец анимации медленные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ru-RU" sz="2400" dirty="0" err="1"/>
              <a:t>linear</a:t>
            </a:r>
            <a:r>
              <a:rPr lang="ru-RU" sz="2400" dirty="0"/>
              <a:t> — скорость равномерная на протяжении всей анимации</a:t>
            </a:r>
            <a:r>
              <a:rPr lang="ru-RU" sz="2400" dirty="0" smtClean="0"/>
              <a:t>.</a:t>
            </a:r>
          </a:p>
          <a:p>
            <a:r>
              <a:rPr lang="ru-RU" sz="2400" dirty="0" err="1"/>
              <a:t>step-start</a:t>
            </a:r>
            <a:r>
              <a:rPr lang="ru-RU" sz="2400" dirty="0"/>
              <a:t> — переход от одного стиля к другому происходит моментально и резко (анимации нет).</a:t>
            </a:r>
          </a:p>
          <a:p>
            <a:r>
              <a:rPr lang="ru-RU" sz="2400" dirty="0" err="1"/>
              <a:t>step-end</a:t>
            </a:r>
            <a:r>
              <a:rPr lang="ru-RU" sz="2400" dirty="0"/>
              <a:t> — по истечении заданного времени происходит резкий переход от одного стиля к другому (без анимации).</a:t>
            </a:r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4456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transition-timing-function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2400" dirty="0" err="1" smtClean="0"/>
              <a:t>steps</a:t>
            </a:r>
            <a:r>
              <a:rPr lang="ru-RU" sz="2400" dirty="0"/>
              <a:t>() — анимация происходит ступенчато. В скобках сначала указывается число шагов, за которые должен осуществиться переход от одного стиля к другому, после чего ставится запятая и указывается параметр </a:t>
            </a:r>
            <a:r>
              <a:rPr lang="ru-RU" sz="2400" dirty="0" err="1"/>
              <a:t>start</a:t>
            </a:r>
            <a:r>
              <a:rPr lang="ru-RU" sz="2400" dirty="0"/>
              <a:t> или </a:t>
            </a:r>
            <a:r>
              <a:rPr lang="ru-RU" sz="2400" dirty="0" err="1"/>
              <a:t>end</a:t>
            </a:r>
            <a:r>
              <a:rPr lang="ru-RU" sz="2400" dirty="0"/>
              <a:t>, от которого зависит, когда будет начинаться анимация — в начале первого шага или в конце. Пример записи</a:t>
            </a:r>
            <a:r>
              <a:rPr lang="ru-RU" sz="2400" dirty="0" smtClean="0"/>
              <a:t>:</a:t>
            </a:r>
            <a:endParaRPr lang="ru-RU" sz="2400" dirty="0"/>
          </a:p>
          <a:p>
            <a:pPr marL="45720" indent="0">
              <a:buNone/>
            </a:pPr>
            <a:r>
              <a:rPr lang="ru-RU" sz="2400" dirty="0" smtClean="0"/>
              <a:t>	</a:t>
            </a:r>
            <a:r>
              <a:rPr lang="ru-RU" sz="2400" dirty="0" err="1" smtClean="0"/>
              <a:t>transition-timing-function</a:t>
            </a:r>
            <a:r>
              <a:rPr lang="ru-RU" sz="2400" dirty="0"/>
              <a:t>: </a:t>
            </a:r>
            <a:r>
              <a:rPr lang="ru-RU" sz="2400" dirty="0" err="1"/>
              <a:t>steps</a:t>
            </a:r>
            <a:r>
              <a:rPr lang="ru-RU" sz="2400" dirty="0"/>
              <a:t>(10, </a:t>
            </a:r>
            <a:r>
              <a:rPr lang="ru-RU" sz="2400" dirty="0" err="1"/>
              <a:t>start</a:t>
            </a:r>
            <a:r>
              <a:rPr lang="ru-RU" sz="2400" dirty="0"/>
              <a:t>);</a:t>
            </a:r>
          </a:p>
          <a:p>
            <a:r>
              <a:rPr lang="ru-RU" sz="2400" dirty="0" err="1"/>
              <a:t>cubic-bezier</a:t>
            </a:r>
            <a:r>
              <a:rPr lang="ru-RU" sz="2400" dirty="0"/>
              <a:t>() — значение, позволяющее задать свою функцию движения в виде кубической кривой Безье</a:t>
            </a:r>
            <a:r>
              <a:rPr lang="ru-RU" sz="2400" dirty="0" smtClean="0"/>
              <a:t>.</a:t>
            </a:r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idg.net.ua/blog/uchebnik-css/ispolzovanie-css/css3-transition/timing-function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122282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https://cubic-bezier.com</a:t>
            </a:r>
            <a:r>
              <a:rPr lang="en-US" dirty="0" smtClean="0">
                <a:hlinkClick r:id="rId2"/>
              </a:rPr>
              <a:t>/</a:t>
            </a:r>
            <a:r>
              <a:rPr lang="ru-RU" dirty="0" smtClean="0"/>
              <a:t> 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87263" y="2057400"/>
            <a:ext cx="5184136" cy="4038600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42641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https://easings.net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37869" y="1740795"/>
            <a:ext cx="5697078" cy="4355205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0655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DevTools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46</a:t>
            </a:fld>
            <a:endParaRPr lang="ru-RU"/>
          </a:p>
        </p:txBody>
      </p:sp>
      <p:pic>
        <p:nvPicPr>
          <p:cNvPr id="1026" name="Picture 2" descr="Встроенный конструктор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3737" y="1849171"/>
            <a:ext cx="3954731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890014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Анимация и </a:t>
            </a:r>
            <a:r>
              <a:rPr lang="en-US" dirty="0" smtClean="0"/>
              <a:t>:focus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en-US" dirty="0" smtClean="0"/>
              <a:t>HTML</a:t>
            </a:r>
            <a:r>
              <a:rPr lang="ru-RU" dirty="0" smtClean="0"/>
              <a:t>-теги с фокусом:</a:t>
            </a:r>
            <a:endParaRPr lang="ru-RU" dirty="0"/>
          </a:p>
          <a:p>
            <a:pPr marL="45720" indent="0">
              <a:buNone/>
            </a:pPr>
            <a:r>
              <a:rPr lang="ru-RU" dirty="0" smtClean="0"/>
              <a:t>&lt;</a:t>
            </a:r>
            <a:r>
              <a:rPr lang="ru-RU" dirty="0"/>
              <a:t>a&gt; с атрибутом </a:t>
            </a:r>
            <a:r>
              <a:rPr lang="ru-RU" dirty="0" err="1"/>
              <a:t>href</a:t>
            </a:r>
            <a:r>
              <a:rPr lang="ru-RU" dirty="0"/>
              <a:t>,</a:t>
            </a:r>
          </a:p>
          <a:p>
            <a:pPr marL="45720" indent="0">
              <a:buNone/>
            </a:pPr>
            <a:r>
              <a:rPr lang="ru-RU" dirty="0"/>
              <a:t>&lt;</a:t>
            </a:r>
            <a:r>
              <a:rPr lang="ru-RU" dirty="0" err="1"/>
              <a:t>button</a:t>
            </a:r>
            <a:r>
              <a:rPr lang="ru-RU" dirty="0"/>
              <a:t>&gt;,</a:t>
            </a:r>
          </a:p>
          <a:p>
            <a:pPr marL="45720" indent="0">
              <a:buNone/>
            </a:pPr>
            <a:r>
              <a:rPr lang="ru-RU" dirty="0"/>
              <a:t>&lt;</a:t>
            </a:r>
            <a:r>
              <a:rPr lang="ru-RU" dirty="0" err="1"/>
              <a:t>input</a:t>
            </a:r>
            <a:r>
              <a:rPr lang="ru-RU" dirty="0"/>
              <a:t>&gt;,</a:t>
            </a:r>
          </a:p>
          <a:p>
            <a:pPr marL="45720" indent="0">
              <a:buNone/>
            </a:pPr>
            <a:r>
              <a:rPr lang="ru-RU" dirty="0"/>
              <a:t>&lt;</a:t>
            </a:r>
            <a:r>
              <a:rPr lang="ru-RU" dirty="0" err="1"/>
              <a:t>select</a:t>
            </a:r>
            <a:r>
              <a:rPr lang="ru-RU" dirty="0"/>
              <a:t>&gt;,</a:t>
            </a:r>
          </a:p>
          <a:p>
            <a:pPr marL="45720" indent="0">
              <a:buNone/>
            </a:pPr>
            <a:r>
              <a:rPr lang="ru-RU" dirty="0"/>
              <a:t>&lt;</a:t>
            </a:r>
            <a:r>
              <a:rPr lang="ru-RU" dirty="0" err="1"/>
              <a:t>textarea</a:t>
            </a:r>
            <a:r>
              <a:rPr lang="ru-RU" dirty="0" smtClean="0"/>
              <a:t>&gt;.</a:t>
            </a:r>
            <a:endParaRPr lang="en-US" dirty="0" smtClean="0"/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ru-RU" dirty="0" smtClean="0"/>
              <a:t>Атрибут </a:t>
            </a:r>
            <a:r>
              <a:rPr lang="en-US" dirty="0" err="1" smtClean="0"/>
              <a:t>tabindex</a:t>
            </a:r>
            <a:r>
              <a:rPr lang="en-US" dirty="0" smtClean="0"/>
              <a:t>=0</a:t>
            </a:r>
            <a:endParaRPr lang="ru-RU" dirty="0" smtClean="0"/>
          </a:p>
          <a:p>
            <a:pPr marL="45720" indent="0">
              <a:buNone/>
            </a:pPr>
            <a:r>
              <a:rPr lang="ru-RU" dirty="0" err="1" smtClean="0"/>
              <a:t>Псевдоклассы</a:t>
            </a:r>
            <a:r>
              <a:rPr lang="ru-RU" dirty="0" smtClean="0"/>
              <a:t>: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:</a:t>
            </a:r>
            <a:r>
              <a:rPr lang="en-US" dirty="0" smtClean="0"/>
              <a:t>focus</a:t>
            </a:r>
            <a:endParaRPr lang="ru-RU" dirty="0" smtClean="0"/>
          </a:p>
          <a:p>
            <a:pPr marL="45720" indent="0">
              <a:buNone/>
            </a:pPr>
            <a:r>
              <a:rPr lang="en-US" dirty="0" smtClean="0"/>
              <a:t>:focus-within</a:t>
            </a:r>
            <a:endParaRPr lang="ru-RU" dirty="0" smtClean="0"/>
          </a:p>
          <a:p>
            <a:pPr marL="45720" indent="0">
              <a:buNone/>
            </a:pPr>
            <a:endParaRPr lang="ru-RU" dirty="0"/>
          </a:p>
          <a:p>
            <a:pPr marL="45720" indent="0">
              <a:buNone/>
            </a:pPr>
            <a:r>
              <a:rPr lang="en-US" dirty="0">
                <a:hlinkClick r:id="rId2"/>
              </a:rPr>
              <a:t>https://developer.mozilla.org/ru/docs/Web/CSS/:</a:t>
            </a:r>
            <a:r>
              <a:rPr lang="en-US" dirty="0" smtClean="0">
                <a:hlinkClick r:id="rId2"/>
              </a:rPr>
              <a:t>focus-within</a:t>
            </a:r>
            <a:r>
              <a:rPr lang="ru-RU" dirty="0" smtClean="0"/>
              <a:t> </a:t>
            </a:r>
            <a:endParaRPr lang="ru-RU" dirty="0"/>
          </a:p>
          <a:p>
            <a:pPr marL="4572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27970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Правила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Делать не только :</a:t>
            </a:r>
            <a:r>
              <a:rPr lang="en-US" dirty="0" smtClean="0"/>
              <a:t>hover</a:t>
            </a:r>
            <a:r>
              <a:rPr lang="ru-RU" dirty="0" smtClean="0"/>
              <a:t>, но и :</a:t>
            </a:r>
            <a:r>
              <a:rPr lang="en-US" dirty="0" smtClean="0"/>
              <a:t>focus</a:t>
            </a:r>
            <a:endParaRPr lang="ru-RU" dirty="0"/>
          </a:p>
          <a:p>
            <a:r>
              <a:rPr lang="ru-RU" dirty="0"/>
              <a:t>Лучше не анимировать </a:t>
            </a:r>
            <a:r>
              <a:rPr lang="en-US" dirty="0"/>
              <a:t>border</a:t>
            </a:r>
            <a:r>
              <a:rPr lang="ru-RU" dirty="0"/>
              <a:t>, </a:t>
            </a:r>
            <a:r>
              <a:rPr lang="en-US" dirty="0"/>
              <a:t>width</a:t>
            </a:r>
            <a:r>
              <a:rPr lang="ru-RU" dirty="0"/>
              <a:t>, </a:t>
            </a:r>
            <a:r>
              <a:rPr lang="en-US" dirty="0"/>
              <a:t>height</a:t>
            </a:r>
            <a:r>
              <a:rPr lang="ru-RU" dirty="0"/>
              <a:t> и другие свойства влияющие на соседние элементы </a:t>
            </a:r>
          </a:p>
          <a:p>
            <a:r>
              <a:rPr lang="ru-RU" dirty="0" smtClean="0"/>
              <a:t>Назначать </a:t>
            </a:r>
            <a:r>
              <a:rPr lang="en-US" dirty="0" smtClean="0"/>
              <a:t>transition</a:t>
            </a:r>
            <a:r>
              <a:rPr lang="ru-RU" dirty="0" smtClean="0"/>
              <a:t> на сам элемент, а не на </a:t>
            </a:r>
            <a:r>
              <a:rPr lang="ru-RU" dirty="0" err="1" smtClean="0"/>
              <a:t>псевдокласс</a:t>
            </a:r>
            <a:r>
              <a:rPr lang="ru-RU" dirty="0" smtClean="0"/>
              <a:t> или класс, который добавляется через </a:t>
            </a:r>
            <a:r>
              <a:rPr lang="en-US" dirty="0" smtClean="0"/>
              <a:t>JS</a:t>
            </a:r>
          </a:p>
          <a:p>
            <a:r>
              <a:rPr lang="ru-RU" dirty="0" smtClean="0"/>
              <a:t>Если меняется размер, расположение и форма элемента назначать </a:t>
            </a:r>
            <a:r>
              <a:rPr lang="en-US" dirty="0" smtClean="0"/>
              <a:t>transition</a:t>
            </a:r>
            <a:r>
              <a:rPr lang="ru-RU" dirty="0" smtClean="0"/>
              <a:t> на обертку внутри или на </a:t>
            </a:r>
            <a:r>
              <a:rPr lang="en-US" dirty="0" smtClean="0"/>
              <a:t>before </a:t>
            </a:r>
            <a:r>
              <a:rPr lang="ru-RU" dirty="0" smtClean="0"/>
              <a:t>или </a:t>
            </a:r>
            <a:r>
              <a:rPr lang="en-US" dirty="0" smtClean="0"/>
              <a:t>after</a:t>
            </a:r>
            <a:endParaRPr lang="en-US" dirty="0" smtClean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7252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Пример 4. Подсветка кнопки</a:t>
            </a:r>
            <a:endParaRPr lang="ru-RU" b="1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046" y="2261550"/>
            <a:ext cx="2653930" cy="139680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742" y="1820417"/>
            <a:ext cx="3258357" cy="2279069"/>
          </a:xfrm>
          <a:prstGeom prst="rect">
            <a:avLst/>
          </a:prstGeom>
        </p:spPr>
      </p:pic>
      <p:cxnSp>
        <p:nvCxnSpPr>
          <p:cNvPr id="7" name="Прямая со стрелкой 6"/>
          <p:cNvCxnSpPr/>
          <p:nvPr/>
        </p:nvCxnSpPr>
        <p:spPr>
          <a:xfrm>
            <a:off x="4707802" y="2851842"/>
            <a:ext cx="1077362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076148" y="4099486"/>
            <a:ext cx="1656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Просто кнопка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403224" y="4099486"/>
            <a:ext cx="1794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Нажатая кнопка</a:t>
            </a:r>
            <a:endParaRPr lang="ru-RU" dirty="0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50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Пример 4. Подсветка кнопки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ru-RU" dirty="0" smtClean="0"/>
              <a:t>Создайте кнопку </a:t>
            </a:r>
            <a:r>
              <a:rPr lang="en-US" dirty="0" smtClean="0"/>
              <a:t>button </a:t>
            </a:r>
            <a:r>
              <a:rPr lang="ru-RU" dirty="0" smtClean="0"/>
              <a:t> с идентификатором "</a:t>
            </a:r>
            <a:r>
              <a:rPr lang="en-US" dirty="0" smtClean="0"/>
              <a:t>my-</a:t>
            </a:r>
            <a:r>
              <a:rPr lang="en-US" dirty="0" err="1" smtClean="0"/>
              <a:t>btn</a:t>
            </a:r>
            <a:r>
              <a:rPr lang="en-US" dirty="0" smtClean="0"/>
              <a:t>“</a:t>
            </a:r>
          </a:p>
          <a:p>
            <a:pPr marL="502920" indent="-457200">
              <a:buFont typeface="+mj-lt"/>
              <a:buAutoNum type="arabicPeriod" startAt="3"/>
            </a:pPr>
            <a:r>
              <a:rPr lang="ru-RU" dirty="0" smtClean="0"/>
              <a:t>Оформите кнопку, примерно как на картинке</a:t>
            </a:r>
          </a:p>
          <a:p>
            <a:pPr marL="45720" indent="0">
              <a:buNone/>
            </a:pPr>
            <a:endParaRPr lang="ru-RU" dirty="0"/>
          </a:p>
        </p:txBody>
      </p:sp>
      <p:pic>
        <p:nvPicPr>
          <p:cNvPr id="5" name="Объект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355" y="2963534"/>
            <a:ext cx="2653930" cy="1396805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880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Пример 4. Подсветка кнопки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02920" indent="-457200">
              <a:buFont typeface="+mj-lt"/>
              <a:buAutoNum type="arabicPeriod" startAt="4"/>
            </a:pPr>
            <a:r>
              <a:rPr lang="ru-RU" dirty="0" smtClean="0"/>
              <a:t>Добавьте переходы для теней и для размера текста. Установите  функцию переходов и длительность переходов на свое усмотрение.</a:t>
            </a:r>
          </a:p>
          <a:p>
            <a:pPr marL="502920" indent="-457200">
              <a:buFont typeface="+mj-lt"/>
              <a:buAutoNum type="arabicPeriod" startAt="4"/>
            </a:pPr>
            <a:endParaRPr lang="ru-RU" dirty="0"/>
          </a:p>
          <a:p>
            <a:pPr marL="502920" indent="-457200">
              <a:buFont typeface="+mj-lt"/>
              <a:buAutoNum type="arabicPeriod" startAt="4"/>
            </a:pPr>
            <a:endParaRPr lang="ru-RU" dirty="0" smtClean="0"/>
          </a:p>
          <a:p>
            <a:pPr marL="502920" indent="-457200">
              <a:buFont typeface="+mj-lt"/>
              <a:buAutoNum type="arabicPeriod" startAt="4"/>
            </a:pPr>
            <a:endParaRPr lang="ru-RU" dirty="0"/>
          </a:p>
          <a:p>
            <a:pPr marL="502920" indent="-457200">
              <a:buFont typeface="+mj-lt"/>
              <a:buAutoNum type="arabicPeriod" startAt="4"/>
            </a:pPr>
            <a:r>
              <a:rPr lang="ru-RU" dirty="0" smtClean="0"/>
              <a:t>Проверьте работу – при клике на кнопку текст должен плавно увеличиваться и расплываться тень.</a:t>
            </a:r>
          </a:p>
          <a:p>
            <a:pPr marL="502920" indent="-457200">
              <a:buFont typeface="+mj-lt"/>
              <a:buAutoNum type="arabicPeriod" startAt="4"/>
            </a:pPr>
            <a:endParaRPr lang="ru-RU" dirty="0" smtClean="0"/>
          </a:p>
          <a:p>
            <a:pPr marL="45720" indent="0">
              <a:buNone/>
            </a:pP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297" y="3061862"/>
            <a:ext cx="5169326" cy="1075571"/>
          </a:xfrm>
          <a:prstGeom prst="rect">
            <a:avLst/>
          </a:prstGeom>
        </p:spPr>
      </p:pic>
      <p:sp>
        <p:nvSpPr>
          <p:cNvPr id="8" name="Номер слайда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473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Пример 4. Подсветка кнопки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ru-RU" dirty="0" smtClean="0"/>
              <a:t>Изменим код так, чтобы кнопка осталась с оформлением и после отведения курсора.</a:t>
            </a:r>
          </a:p>
          <a:p>
            <a:pPr marL="502920" indent="-457200">
              <a:buFont typeface="+mj-lt"/>
              <a:buAutoNum type="arabicPeriod" startAt="6"/>
            </a:pPr>
            <a:r>
              <a:rPr lang="ru-RU" dirty="0" smtClean="0"/>
              <a:t>Изменим </a:t>
            </a:r>
            <a:r>
              <a:rPr lang="en-US" dirty="0" smtClean="0"/>
              <a:t>html</a:t>
            </a:r>
            <a:r>
              <a:rPr lang="ru-RU" dirty="0" smtClean="0"/>
              <a:t>-код кнопки</a:t>
            </a:r>
          </a:p>
          <a:p>
            <a:pPr marL="502920" indent="-457200">
              <a:buFont typeface="+mj-lt"/>
              <a:buAutoNum type="arabicPeriod" startAt="6"/>
            </a:pPr>
            <a:endParaRPr lang="ru-RU" dirty="0"/>
          </a:p>
          <a:p>
            <a:pPr marL="502920" indent="-457200">
              <a:buFont typeface="+mj-lt"/>
              <a:buAutoNum type="arabicPeriod" startAt="6"/>
            </a:pPr>
            <a:r>
              <a:rPr lang="ru-RU" dirty="0" smtClean="0"/>
              <a:t>Добавьте стилевое оформление для класса </a:t>
            </a:r>
            <a:r>
              <a:rPr lang="en-US" dirty="0" smtClean="0"/>
              <a:t>active-</a:t>
            </a:r>
            <a:r>
              <a:rPr lang="en-US" dirty="0" err="1" smtClean="0"/>
              <a:t>btn</a:t>
            </a:r>
            <a:endParaRPr lang="ru-RU" dirty="0" smtClean="0"/>
          </a:p>
          <a:p>
            <a:pPr marL="502920" indent="-457200">
              <a:buFont typeface="+mj-lt"/>
              <a:buAutoNum type="arabicPeriod" startAt="6"/>
            </a:pPr>
            <a:endParaRPr lang="ru-RU" dirty="0" smtClean="0"/>
          </a:p>
          <a:p>
            <a:pPr marL="502920" indent="-457200">
              <a:buFont typeface="+mj-lt"/>
              <a:buAutoNum type="arabicPeriod" startAt="6"/>
            </a:pPr>
            <a:endParaRPr lang="ru-RU" dirty="0"/>
          </a:p>
          <a:p>
            <a:pPr marL="502920" indent="-457200">
              <a:buFont typeface="+mj-lt"/>
              <a:buAutoNum type="arabicPeriod" startAt="6"/>
            </a:pPr>
            <a:endParaRPr lang="ru-RU" dirty="0" smtClean="0"/>
          </a:p>
          <a:p>
            <a:pPr marL="502920" indent="-457200">
              <a:buFont typeface="+mj-lt"/>
              <a:buAutoNum type="arabicPeriod" startAt="6"/>
            </a:pPr>
            <a:endParaRPr lang="ru-RU" dirty="0" smtClean="0"/>
          </a:p>
          <a:p>
            <a:pPr marL="45720" indent="0">
              <a:buNone/>
            </a:pP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916" y="3311398"/>
            <a:ext cx="8846292" cy="418629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916" y="4507775"/>
            <a:ext cx="6470281" cy="1367924"/>
          </a:xfrm>
          <a:prstGeom prst="rect">
            <a:avLst/>
          </a:prstGeom>
        </p:spPr>
      </p:pic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07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</a:t>
            </a:r>
            <a:r>
              <a:rPr lang="en-US" b="1" dirty="0" smtClean="0"/>
              <a:t> –</a:t>
            </a:r>
            <a:r>
              <a:rPr lang="ru-RU" b="1" dirty="0" smtClean="0"/>
              <a:t> Летающий шарик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0" y="2057400"/>
            <a:ext cx="8019107" cy="4038600"/>
          </a:xfrm>
        </p:spPr>
        <p:txBody>
          <a:bodyPr/>
          <a:lstStyle/>
          <a:p>
            <a:pPr marL="502920" indent="-457200">
              <a:buFont typeface="+mj-lt"/>
              <a:buAutoNum type="arabicPeriod"/>
            </a:pPr>
            <a:r>
              <a:rPr lang="ru-RU" dirty="0" smtClean="0"/>
              <a:t>Нарисуйте фон и шарик с помощью тегов </a:t>
            </a:r>
            <a:r>
              <a:rPr lang="en-US" dirty="0" smtClean="0"/>
              <a:t>SVG</a:t>
            </a:r>
          </a:p>
          <a:p>
            <a:pPr marL="502920" indent="-457200">
              <a:buFont typeface="+mj-lt"/>
              <a:buAutoNum type="arabicPeriod"/>
            </a:pPr>
            <a:r>
              <a:rPr lang="ru-RU" dirty="0" smtClean="0"/>
              <a:t>Создайте кнопку Лети.</a:t>
            </a:r>
            <a:endParaRPr lang="en-US" dirty="0" smtClean="0"/>
          </a:p>
          <a:p>
            <a:pPr marL="502920" indent="-457200">
              <a:buFont typeface="+mj-lt"/>
              <a:buAutoNum type="arabicPeriod"/>
            </a:pPr>
            <a:r>
              <a:rPr lang="ru-RU" dirty="0" smtClean="0"/>
              <a:t>При нажатии на кнопку Лети, шарик должен взлетать вверх.</a:t>
            </a:r>
          </a:p>
          <a:p>
            <a:pPr marL="502920" indent="-457200">
              <a:buFont typeface="+mj-lt"/>
              <a:buAutoNum type="arabicPeriod"/>
            </a:pPr>
            <a:r>
              <a:rPr lang="ru-RU" dirty="0" smtClean="0"/>
              <a:t>Для перемещения </a:t>
            </a:r>
            <a:r>
              <a:rPr lang="en-US" dirty="0" smtClean="0"/>
              <a:t>SVG</a:t>
            </a:r>
            <a:r>
              <a:rPr lang="ru-RU" dirty="0" smtClean="0"/>
              <a:t>-элементов использовать свойство </a:t>
            </a:r>
          </a:p>
          <a:p>
            <a:pPr marL="45720" indent="0">
              <a:buNone/>
            </a:pP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transform:translate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смещение_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x,</a:t>
            </a: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смещение_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y);</a:t>
            </a:r>
            <a:endParaRPr lang="ru-RU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02920" indent="-457200">
              <a:buFont typeface="+mj-lt"/>
              <a:buAutoNum type="arabicPeriod" startAt="5"/>
            </a:pPr>
            <a:r>
              <a:rPr lang="ru-RU" dirty="0" smtClean="0"/>
              <a:t>Анимацию реализовать через переходы </a:t>
            </a:r>
            <a:r>
              <a:rPr lang="en-US" dirty="0" smtClean="0"/>
              <a:t>transition</a:t>
            </a:r>
          </a:p>
          <a:p>
            <a:pPr marL="502920" indent="-457200">
              <a:buFont typeface="+mj-lt"/>
              <a:buAutoNum type="arabicPeriod" startAt="5"/>
            </a:pPr>
            <a:r>
              <a:rPr lang="ru-RU" dirty="0" smtClean="0"/>
              <a:t>Подберите на сервисе </a:t>
            </a:r>
            <a:r>
              <a:rPr lang="en-US" dirty="0" smtClean="0">
                <a:hlinkClick r:id="rId2"/>
              </a:rPr>
              <a:t>easings.net</a:t>
            </a:r>
            <a:r>
              <a:rPr lang="ru-RU" dirty="0" smtClean="0"/>
              <a:t> подходящую функцию перехода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4780" y="968722"/>
            <a:ext cx="1690936" cy="5427552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289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CSS</a:t>
            </a:r>
            <a:r>
              <a:rPr lang="ru-RU" dirty="0" smtClean="0"/>
              <a:t>-анимации</a:t>
            </a:r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25309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17075" y="338549"/>
            <a:ext cx="9875520" cy="1356360"/>
          </a:xfrm>
        </p:spPr>
        <p:txBody>
          <a:bodyPr/>
          <a:lstStyle/>
          <a:p>
            <a:r>
              <a:rPr lang="ru-RU" b="1" dirty="0" smtClean="0"/>
              <a:t>Анимация по ключевым кадрам </a:t>
            </a:r>
            <a:r>
              <a:rPr lang="en-US" b="1" dirty="0" smtClean="0"/>
              <a:t>@</a:t>
            </a:r>
            <a:r>
              <a:rPr lang="en-US" b="1" dirty="0" err="1" smtClean="0"/>
              <a:t>keyframes</a:t>
            </a:r>
            <a:endParaRPr lang="ru-RU" b="1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886773" y="2083214"/>
            <a:ext cx="5822220" cy="3756271"/>
          </a:xfrm>
          <a:prstGeom prst="rect">
            <a:avLst/>
          </a:prstGeom>
        </p:spPr>
      </p:pic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1068518" y="2083214"/>
            <a:ext cx="4754880" cy="4023360"/>
          </a:xfrm>
        </p:spPr>
        <p:txBody>
          <a:bodyPr/>
          <a:lstStyle/>
          <a:p>
            <a:pPr marL="45720" indent="0">
              <a:buNone/>
            </a:pPr>
            <a:r>
              <a:rPr lang="ru-RU" sz="2400" dirty="0" smtClean="0"/>
              <a:t>Это анимация независимо от событий.</a:t>
            </a:r>
          </a:p>
          <a:p>
            <a:pPr marL="45720" indent="0">
              <a:buNone/>
            </a:pPr>
            <a:r>
              <a:rPr lang="ru-RU" sz="2400" dirty="0" smtClean="0"/>
              <a:t>У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sz="2400" b="1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keyframes</a:t>
            </a:r>
            <a:r>
              <a:rPr lang="ru-RU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2400" dirty="0" smtClean="0"/>
              <a:t>должно быть </a:t>
            </a:r>
            <a:r>
              <a:rPr lang="ru-RU" sz="2400" b="1" dirty="0" smtClean="0"/>
              <a:t>уникальное имя</a:t>
            </a:r>
            <a:r>
              <a:rPr lang="ru-RU" sz="2400" dirty="0" smtClean="0"/>
              <a:t>.</a:t>
            </a:r>
          </a:p>
          <a:p>
            <a:pPr marL="45720" indent="0">
              <a:buNone/>
            </a:pPr>
            <a:r>
              <a:rPr lang="ru-RU" sz="2400" dirty="0" smtClean="0"/>
              <a:t>Вызывается (назначается) анимация через </a:t>
            </a:r>
            <a:r>
              <a:rPr lang="en-US" sz="2400" dirty="0" smtClean="0"/>
              <a:t>CSS</a:t>
            </a:r>
            <a:r>
              <a:rPr lang="ru-RU" sz="2400" dirty="0" smtClean="0"/>
              <a:t>-свойство </a:t>
            </a:r>
            <a:r>
              <a:rPr lang="en-US" sz="24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animation</a:t>
            </a:r>
            <a:endParaRPr lang="ru-RU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46255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@</a:t>
            </a:r>
            <a:r>
              <a:rPr lang="en-US" b="1" dirty="0" err="1"/>
              <a:t>keyframes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45720" indent="0">
              <a:buNone/>
            </a:pPr>
            <a:r>
              <a:rPr lang="ru-RU" sz="2400" dirty="0" smtClean="0">
                <a:latin typeface="+mj-lt"/>
              </a:rPr>
              <a:t>В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 smtClean="0">
                <a:latin typeface="+mj-lt"/>
              </a:rPr>
              <a:t>keyframes</a:t>
            </a:r>
            <a:r>
              <a:rPr lang="ru-RU" sz="2400" dirty="0" smtClean="0">
                <a:latin typeface="+mj-lt"/>
              </a:rPr>
              <a:t> задаются кадры. Обычно в пределах от 0 до 100%</a:t>
            </a:r>
            <a:endParaRPr lang="ru-RU" sz="2400" dirty="0">
              <a:latin typeface="+mj-lt"/>
            </a:endParaRPr>
          </a:p>
        </p:txBody>
      </p:sp>
      <p:pic>
        <p:nvPicPr>
          <p:cNvPr id="6" name="Объект 5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50128" y="2120994"/>
            <a:ext cx="3408684" cy="3863175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2826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animation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142999" y="2057399"/>
            <a:ext cx="9476715" cy="4023360"/>
          </a:xfrm>
        </p:spPr>
        <p:txBody>
          <a:bodyPr/>
          <a:lstStyle/>
          <a:p>
            <a:pPr marL="4572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developer.mozilla.org/ru/docs/Web/CSS/animation</a:t>
            </a:r>
            <a:r>
              <a:rPr lang="en-US" dirty="0" smtClean="0"/>
              <a:t> 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animation: 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название_анимации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длительность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анимации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функция_анимации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задержка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анимации 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количество_итераций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направление_анимации</a:t>
            </a:r>
            <a:endParaRPr lang="en-US" sz="2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ru-RU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точка_начала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/возврата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572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06622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animation</a:t>
            </a:r>
            <a:endParaRPr lang="ru-RU" b="1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58</a:t>
            </a:fld>
            <a:endParaRPr lang="ru-RU"/>
          </a:p>
        </p:txBody>
      </p:sp>
      <p:pic>
        <p:nvPicPr>
          <p:cNvPr id="7" name="Объект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215428" y="2113594"/>
            <a:ext cx="7140921" cy="337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09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59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Остановить анимацию</a:t>
            </a:r>
            <a:endParaRPr lang="ru-RU" b="1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19903"/>
            <a:ext cx="4497309" cy="1039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870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CSS</a:t>
            </a:r>
            <a:r>
              <a:rPr lang="ru-RU" b="1" dirty="0" smtClean="0"/>
              <a:t>-свойство </a:t>
            </a:r>
            <a:r>
              <a:rPr lang="en-US" b="1" dirty="0" smtClean="0"/>
              <a:t>transform</a:t>
            </a:r>
            <a:endParaRPr lang="ru-RU" b="1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transform: translate(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смещение_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смещение_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y)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translateX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смещение_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x)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translateY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смещение_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y)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rotate(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градусы в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deg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scale(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число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17913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CSS</a:t>
            </a:r>
            <a:r>
              <a:rPr lang="ru-RU" b="1" dirty="0" smtClean="0"/>
              <a:t>-свойство </a:t>
            </a:r>
            <a:r>
              <a:rPr lang="en-US" b="1" dirty="0" smtClean="0"/>
              <a:t>transform</a:t>
            </a:r>
            <a:endParaRPr lang="ru-RU" b="1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transform: translate(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смещение_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, смещение_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y)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translateX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смещение_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x)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translateY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смещение_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y)</a:t>
            </a:r>
          </a:p>
          <a:p>
            <a:pPr marL="4572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rotate(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градусы в </a:t>
            </a:r>
            <a:r>
              <a:rPr lang="en-US" sz="24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deg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45720" indent="0">
              <a:buNone/>
            </a:pP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	scale(</a:t>
            </a:r>
            <a:r>
              <a:rPr lang="ru-RU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число</a:t>
            </a:r>
            <a:r>
              <a:rPr lang="en-US" sz="2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ru-RU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" indent="0">
              <a:buNone/>
            </a:pPr>
            <a:endParaRPr lang="ru-R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4254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CSS</a:t>
            </a:r>
            <a:r>
              <a:rPr lang="ru-RU" b="1" dirty="0" smtClean="0"/>
              <a:t>-свойство </a:t>
            </a:r>
            <a:r>
              <a:rPr lang="en-US" b="1" dirty="0" smtClean="0"/>
              <a:t>transform</a:t>
            </a:r>
            <a:endParaRPr lang="ru-RU" b="1" dirty="0"/>
          </a:p>
        </p:txBody>
      </p:sp>
      <p:pic>
        <p:nvPicPr>
          <p:cNvPr id="3" name="Объект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8947" y="1753972"/>
            <a:ext cx="4226376" cy="4359491"/>
          </a:xfrm>
          <a:prstGeom prst="rect">
            <a:avLst/>
          </a:prstGeom>
        </p:spPr>
      </p:pic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62</a:t>
            </a:fld>
            <a:endParaRPr lang="ru-RU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93" y="1753973"/>
            <a:ext cx="1540746" cy="446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562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Задание – анимация </a:t>
            </a:r>
            <a:r>
              <a:rPr lang="en-US" b="1" dirty="0" smtClean="0"/>
              <a:t>SVG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143001" y="2057400"/>
            <a:ext cx="4714592" cy="3809246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ru-RU" dirty="0" smtClean="0"/>
              <a:t>Создать анимацию отдельных элементов на странице (прозрачность, перемещение, размер и т.д.)</a:t>
            </a:r>
          </a:p>
          <a:p>
            <a:pPr marL="45720" indent="0">
              <a:buNone/>
            </a:pPr>
            <a:r>
              <a:rPr lang="ru-RU" dirty="0" smtClean="0"/>
              <a:t>Ссылка на картинку</a:t>
            </a:r>
            <a:endParaRPr lang="en-US" dirty="0" smtClean="0"/>
          </a:p>
          <a:p>
            <a:pPr marL="45720" indent="0">
              <a:buNone/>
            </a:pPr>
            <a:r>
              <a:rPr lang="en-US" dirty="0" smtClean="0">
                <a:hlinkClick r:id="rId2"/>
              </a:rPr>
              <a:t>https</a:t>
            </a:r>
            <a:r>
              <a:rPr lang="en-US" dirty="0">
                <a:hlinkClick r:id="rId2"/>
              </a:rPr>
              <a:t>://</a:t>
            </a:r>
            <a:r>
              <a:rPr lang="en-US" dirty="0" smtClean="0">
                <a:hlinkClick r:id="rId2"/>
              </a:rPr>
              <a:t>www.figma.com/file/4SnofUrAU6x84TlGx9WxkH/svg?node-id=1%3A2</a:t>
            </a:r>
            <a:r>
              <a:rPr lang="ru-RU" dirty="0" smtClean="0"/>
              <a:t> </a:t>
            </a:r>
            <a:r>
              <a:rPr lang="en-US" dirty="0" smtClean="0"/>
              <a:t> 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63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t="1332"/>
          <a:stretch/>
        </p:blipFill>
        <p:spPr>
          <a:xfrm>
            <a:off x="6292158" y="2163778"/>
            <a:ext cx="4523950" cy="2792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17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Анимационные библиотеки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Animate.css</a:t>
            </a:r>
            <a:r>
              <a:rPr lang="en-US" sz="2400" dirty="0" smtClean="0">
                <a:hlinkClick r:id="rId2"/>
              </a:rPr>
              <a:t> https</a:t>
            </a:r>
            <a:r>
              <a:rPr lang="en-US" sz="2400" dirty="0">
                <a:hlinkClick r:id="rId2"/>
              </a:rPr>
              <a:t>://animate.style</a:t>
            </a:r>
            <a:r>
              <a:rPr lang="en-US" sz="2400" dirty="0" smtClean="0">
                <a:hlinkClick r:id="rId2"/>
              </a:rPr>
              <a:t>/</a:t>
            </a:r>
            <a:r>
              <a:rPr lang="ru-RU" sz="2400" dirty="0" smtClean="0"/>
              <a:t> </a:t>
            </a:r>
          </a:p>
          <a:p>
            <a:r>
              <a:rPr lang="en-US" sz="2400" dirty="0" smtClean="0"/>
              <a:t>Hover.css</a:t>
            </a:r>
            <a:r>
              <a:rPr lang="en-US" sz="2400" dirty="0" smtClean="0">
                <a:hlinkClick r:id="rId3"/>
              </a:rPr>
              <a:t> https</a:t>
            </a:r>
            <a:r>
              <a:rPr lang="en-US" sz="2400" dirty="0">
                <a:hlinkClick r:id="rId3"/>
              </a:rPr>
              <a:t>://ianlunn.github.io/Hover</a:t>
            </a:r>
            <a:r>
              <a:rPr lang="en-US" sz="2400" dirty="0" smtClean="0">
                <a:hlinkClick r:id="rId3"/>
              </a:rPr>
              <a:t>/</a:t>
            </a:r>
            <a:r>
              <a:rPr lang="ru-RU" sz="2400" dirty="0" smtClean="0"/>
              <a:t> </a:t>
            </a:r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750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Параллакс эффект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htmlacademy.ru/blog/useful/html/pure-css-parallax-websites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92AE72-68DF-47B0-AC54-C1883C1D5035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8101533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ACC63D00-1EE0-4159-BF5A-6FF02000B710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TM03457444[[fn=Базис]]</Template>
  <TotalTime>954</TotalTime>
  <Words>1618</Words>
  <Application>Microsoft Office PowerPoint</Application>
  <PresentationFormat>Широкоэкранный</PresentationFormat>
  <Paragraphs>372</Paragraphs>
  <Slides>65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65</vt:i4>
      </vt:variant>
    </vt:vector>
  </HeadingPairs>
  <TitlesOfParts>
    <vt:vector size="71" baseType="lpstr">
      <vt:lpstr>Arial</vt:lpstr>
      <vt:lpstr>Calibri</vt:lpstr>
      <vt:lpstr>Calibri Light</vt:lpstr>
      <vt:lpstr>Corbel</vt:lpstr>
      <vt:lpstr>Courier New</vt:lpstr>
      <vt:lpstr>Базис</vt:lpstr>
      <vt:lpstr>SVG и  CSS-анимация</vt:lpstr>
      <vt:lpstr>SVG</vt:lpstr>
      <vt:lpstr>SVG</vt:lpstr>
      <vt:lpstr>SVG-код</vt:lpstr>
      <vt:lpstr>Способы добавления svg на страницу</vt:lpstr>
      <vt:lpstr>Способы добавления svg на страницу</vt:lpstr>
      <vt:lpstr>Создание SVG</vt:lpstr>
      <vt:lpstr>Создание SVG</vt:lpstr>
      <vt:lpstr>Еще SVG-теги</vt:lpstr>
      <vt:lpstr>Еще SVG-теги</vt:lpstr>
      <vt:lpstr>Свойство viewBox</vt:lpstr>
      <vt:lpstr>Свойство viewBox</vt:lpstr>
      <vt:lpstr>Свойство viewBox</vt:lpstr>
      <vt:lpstr>Выравнивание SVG</vt:lpstr>
      <vt:lpstr>Пропорции в SVG</vt:lpstr>
      <vt:lpstr>Выравнивание SVG</vt:lpstr>
      <vt:lpstr>Создание SVG</vt:lpstr>
      <vt:lpstr>Изменение свойств SVG</vt:lpstr>
      <vt:lpstr>Свойство transform</vt:lpstr>
      <vt:lpstr>Свойство transform</vt:lpstr>
      <vt:lpstr>Перемещение</vt:lpstr>
      <vt:lpstr>Поворот</vt:lpstr>
      <vt:lpstr>Масштаб</vt:lpstr>
      <vt:lpstr>Наклон</vt:lpstr>
      <vt:lpstr>Перспектива</vt:lpstr>
      <vt:lpstr>Свойство transform-origin</vt:lpstr>
      <vt:lpstr>Transform-origin</vt:lpstr>
      <vt:lpstr>Свойство clip-path</vt:lpstr>
      <vt:lpstr>Генераторы</vt:lpstr>
      <vt:lpstr>CSS-переходы</vt:lpstr>
      <vt:lpstr>CSS-анимации</vt:lpstr>
      <vt:lpstr>CSS-переходы</vt:lpstr>
      <vt:lpstr>transition-property</vt:lpstr>
      <vt:lpstr>transition-duration</vt:lpstr>
      <vt:lpstr>Пример 1</vt:lpstr>
      <vt:lpstr>Пример 2</vt:lpstr>
      <vt:lpstr>Пример 2</vt:lpstr>
      <vt:lpstr>Пример 3. Выпадающее меню</vt:lpstr>
      <vt:lpstr>Пример 3. Выпадающее меню</vt:lpstr>
      <vt:lpstr>Пример 3. Выпадающее меню</vt:lpstr>
      <vt:lpstr>Пример 3. Выпадающее меню</vt:lpstr>
      <vt:lpstr>transition-timing-function</vt:lpstr>
      <vt:lpstr>transition-timing-function</vt:lpstr>
      <vt:lpstr>https://cubic-bezier.com/ </vt:lpstr>
      <vt:lpstr>https://easings.net/ </vt:lpstr>
      <vt:lpstr>DevTools</vt:lpstr>
      <vt:lpstr>Анимация и :focus</vt:lpstr>
      <vt:lpstr>Правила</vt:lpstr>
      <vt:lpstr>Пример 4. Подсветка кнопки</vt:lpstr>
      <vt:lpstr>Пример 4. Подсветка кнопки</vt:lpstr>
      <vt:lpstr>Пример 4. Подсветка кнопки</vt:lpstr>
      <vt:lpstr>Пример 4. Подсветка кнопки</vt:lpstr>
      <vt:lpstr>Задание – Летающий шарик</vt:lpstr>
      <vt:lpstr>CSS-анимации</vt:lpstr>
      <vt:lpstr>Анимация по ключевым кадрам @keyframes</vt:lpstr>
      <vt:lpstr>@keyframes</vt:lpstr>
      <vt:lpstr>animation</vt:lpstr>
      <vt:lpstr>animation</vt:lpstr>
      <vt:lpstr>Остановить анимацию</vt:lpstr>
      <vt:lpstr>CSS-свойство transform</vt:lpstr>
      <vt:lpstr>CSS-свойство transform</vt:lpstr>
      <vt:lpstr>CSS-свойство transform</vt:lpstr>
      <vt:lpstr>Задание – анимация SVG</vt:lpstr>
      <vt:lpstr>Анимационные библиотеки</vt:lpstr>
      <vt:lpstr>Параллакс эффект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 и CSS-анимация</dc:title>
  <dc:creator>Lector</dc:creator>
  <cp:lastModifiedBy>Yulya</cp:lastModifiedBy>
  <cp:revision>81</cp:revision>
  <cp:lastPrinted>2021-04-09T04:19:57Z</cp:lastPrinted>
  <dcterms:created xsi:type="dcterms:W3CDTF">2021-04-08T03:48:03Z</dcterms:created>
  <dcterms:modified xsi:type="dcterms:W3CDTF">2022-10-12T13:33:33Z</dcterms:modified>
</cp:coreProperties>
</file>