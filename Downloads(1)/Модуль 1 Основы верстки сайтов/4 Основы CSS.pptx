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1"/>
  </p:notesMasterIdLst>
  <p:handoutMasterIdLst>
    <p:handoutMasterId r:id="rId32"/>
  </p:handoutMasterIdLst>
  <p:sldIdLst>
    <p:sldId id="256" r:id="rId2"/>
    <p:sldId id="269" r:id="rId3"/>
    <p:sldId id="268" r:id="rId4"/>
    <p:sldId id="270" r:id="rId5"/>
    <p:sldId id="272" r:id="rId6"/>
    <p:sldId id="282" r:id="rId7"/>
    <p:sldId id="271" r:id="rId8"/>
    <p:sldId id="273" r:id="rId9"/>
    <p:sldId id="280" r:id="rId10"/>
    <p:sldId id="276" r:id="rId11"/>
    <p:sldId id="284" r:id="rId12"/>
    <p:sldId id="285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74" r:id="rId22"/>
    <p:sldId id="295" r:id="rId23"/>
    <p:sldId id="279" r:id="rId24"/>
    <p:sldId id="283" r:id="rId25"/>
    <p:sldId id="296" r:id="rId26"/>
    <p:sldId id="297" r:id="rId27"/>
    <p:sldId id="298" r:id="rId28"/>
    <p:sldId id="300" r:id="rId29"/>
    <p:sldId id="299" r:id="rId30"/>
  </p:sldIdLst>
  <p:sldSz cx="12192000" cy="6858000"/>
  <p:notesSz cx="6797675" cy="99250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D53D44-12EC-4D28-8836-52A87B00C4BD}" type="datetimeFigureOut">
              <a:rPr lang="ru-RU" smtClean="0"/>
              <a:t>03.10.2024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C2EECC-2B97-4201-A83C-1E7DEDFAB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42081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7B3F3F-B2A2-4465-8A20-FA31795528D2}" type="datetimeFigureOut">
              <a:rPr lang="ru-RU" smtClean="0"/>
              <a:t>03.10.2024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7DBDED-6D40-4693-B394-7F977BAE99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542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7DBDED-6D40-4693-B394-7F977BAE99B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9128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1F820-DE87-4931-A31F-2B1748886BA5}" type="datetime1">
              <a:rPr lang="ru-RU" smtClean="0"/>
              <a:t>03.10.2024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403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2D20-9AF7-4F50-A45A-B1CE21F862BB}" type="datetime1">
              <a:rPr lang="ru-RU" smtClean="0"/>
              <a:t>03.10.2024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71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0009-3498-466B-8983-63B3F8000B1C}" type="datetime1">
              <a:rPr lang="ru-RU" smtClean="0"/>
              <a:t>03.10.2024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216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1186-2439-478F-A967-ADA267E55F92}" type="datetime1">
              <a:rPr lang="ru-RU" smtClean="0"/>
              <a:t>03.10.2024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3575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23B8B-445D-4E66-9146-C78E3084CA12}" type="datetime1">
              <a:rPr lang="ru-RU" smtClean="0"/>
              <a:t>03.10.2024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1362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0986-0494-4092-B255-AC5B841EA922}" type="datetime1">
              <a:rPr lang="ru-RU" smtClean="0"/>
              <a:t>03.10.2024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578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A00E-C113-4144-B29F-594873BA7668}" type="datetime1">
              <a:rPr lang="ru-RU" smtClean="0"/>
              <a:t>03.10.2024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4940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D6BD3-D77F-4E93-919E-4900348954AB}" type="datetime1">
              <a:rPr lang="ru-RU" smtClean="0"/>
              <a:t>03.10.2024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7351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10D73-3792-40CA-BF55-82DD02FD33AA}" type="datetime1">
              <a:rPr lang="ru-RU" smtClean="0"/>
              <a:t>03.10.2024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214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FD0A-79CB-4D3C-92FF-40D06F7BAE57}" type="datetime1">
              <a:rPr lang="ru-RU" smtClean="0"/>
              <a:t>03.10.2024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6864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FBD94-D602-4CE4-9BCA-D8E9726F07F7}" type="datetime1">
              <a:rPr lang="ru-RU" smtClean="0"/>
              <a:t>03.10.2024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7594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06C6A-E103-4261-811B-77877848F9D7}" type="datetime1">
              <a:rPr lang="ru-RU" smtClean="0"/>
              <a:t>03.10.2024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8F1E4-173F-407F-A866-EA3BAEFB50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9690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.org/TR/CSS22/propidx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frontender.info/the-at-rules-of-css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5400" b="1" dirty="0" smtClean="0"/>
              <a:t>КАСКАДНЫЕ ТАБЛИЦЫ СТИЛЕЙ</a:t>
            </a:r>
            <a:endParaRPr lang="ru-RU" sz="54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Мухина Юлия </a:t>
            </a:r>
            <a:r>
              <a:rPr lang="ru-RU" dirty="0" err="1" smtClean="0"/>
              <a:t>Рамилевна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5991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Структура </a:t>
            </a:r>
            <a:r>
              <a:rPr lang="en-US" b="1" dirty="0"/>
              <a:t>CSS</a:t>
            </a:r>
            <a:r>
              <a:rPr lang="ru-RU" b="1" dirty="0"/>
              <a:t>-стиля (правила)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544" y="2132856"/>
            <a:ext cx="790575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862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Селектор</a:t>
            </a:r>
            <a:endParaRPr lang="ru-RU" b="1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800" dirty="0" smtClean="0"/>
              <a:t>Селектор определяет к каким </a:t>
            </a:r>
            <a:r>
              <a:rPr lang="en-US" sz="2800" dirty="0" smtClean="0"/>
              <a:t>HTML</a:t>
            </a:r>
            <a:r>
              <a:rPr lang="ru-RU" sz="2800" dirty="0" smtClean="0"/>
              <a:t>-элементам применить </a:t>
            </a:r>
            <a:r>
              <a:rPr lang="en-US" sz="2800" dirty="0" smtClean="0"/>
              <a:t>CSS</a:t>
            </a:r>
            <a:r>
              <a:rPr lang="ru-RU" sz="2800" dirty="0" smtClean="0"/>
              <a:t>-правило.</a:t>
            </a:r>
          </a:p>
          <a:p>
            <a:pPr marL="45720" indent="0">
              <a:buNone/>
            </a:pPr>
            <a:r>
              <a:rPr lang="ru-RU" sz="2800" dirty="0" smtClean="0"/>
              <a:t>Типы селекторов:</a:t>
            </a:r>
          </a:p>
          <a:p>
            <a:pPr marL="45720" indent="0">
              <a:buNone/>
            </a:pPr>
            <a:r>
              <a:rPr lang="ru-RU" sz="2800" dirty="0" smtClean="0"/>
              <a:t>Селекторы по тегам   </a:t>
            </a:r>
          </a:p>
          <a:p>
            <a:pPr marL="45720" indent="0">
              <a:buNone/>
            </a:pPr>
            <a:r>
              <a:rPr lang="ru-RU" sz="2800" dirty="0" smtClean="0"/>
              <a:t>Селекторы по классам</a:t>
            </a:r>
          </a:p>
          <a:p>
            <a:pPr marL="45720" indent="0">
              <a:buNone/>
            </a:pPr>
            <a:r>
              <a:rPr lang="ru-RU" sz="2800" dirty="0" smtClean="0"/>
              <a:t>Селекторы по идентификаторам</a:t>
            </a:r>
            <a:endParaRPr lang="ru-RU" sz="28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8045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Пример</a:t>
            </a:r>
            <a:endParaRPr lang="ru-RU" b="1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buNone/>
            </a:pP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тег </a:t>
            </a:r>
            <a:endParaRPr lang="ru-RU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10000"/>
              </a:lnSpc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стилевые правила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10000"/>
              </a:lnSpc>
              <a:buNone/>
            </a:pPr>
            <a:endParaRPr lang="ru-R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10000"/>
              </a:lnSpc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имя_класса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10000"/>
              </a:lnSpc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ru-R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стилевые правила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10000"/>
              </a:lnSpc>
              <a:buNone/>
            </a:pPr>
            <a:endParaRPr lang="ru-RU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10000"/>
              </a:lnSpc>
              <a:buNone/>
            </a:pPr>
            <a:r>
              <a:rPr lang="ru-R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ru-R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имя_идентификатора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10000"/>
              </a:lnSpc>
              <a:buNone/>
            </a:pPr>
            <a:r>
              <a:rPr lang="ru-R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{стилевые 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правила}</a:t>
            </a: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>
          <a:xfrm>
            <a:off x="6267611" y="1825625"/>
            <a:ext cx="5366091" cy="4023360"/>
          </a:xfrm>
        </p:spPr>
        <p:txBody>
          <a:bodyPr>
            <a:normAutofit fontScale="92500" lnSpcReduction="10000"/>
          </a:bodyPr>
          <a:lstStyle/>
          <a:p>
            <a:pPr marL="45720" indent="0">
              <a:lnSpc>
                <a:spcPct val="100000"/>
              </a:lnSpc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тег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&gt;&lt;/</a:t>
            </a:r>
            <a:r>
              <a:rPr lang="ru-R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тег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lnSpc>
                <a:spcPct val="100000"/>
              </a:lnSpc>
              <a:buNone/>
            </a:pPr>
            <a:endParaRPr lang="ru-RU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lnSpc>
                <a:spcPct val="100000"/>
              </a:lnSpc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тег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class=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имя_класса</a:t>
            </a:r>
            <a:r>
              <a:rPr lang="ru-R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lnSpc>
                <a:spcPct val="100000"/>
              </a:lnSpc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тег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lnSpc>
                <a:spcPct val="100000"/>
              </a:lnSpc>
              <a:buNone/>
            </a:pPr>
            <a:endParaRPr lang="ru-RU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lnSpc>
                <a:spcPct val="100000"/>
              </a:lnSpc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тег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id=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имя_идентификатора</a:t>
            </a:r>
            <a:r>
              <a:rPr lang="ru-R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lnSpc>
                <a:spcPct val="100000"/>
              </a:lnSpc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тег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ru-RU" dirty="0"/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4215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Какого цвета будет каждый параграф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143000" y="1789712"/>
            <a:ext cx="4754880" cy="4674461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ru-RU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	color: </a:t>
            </a: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red;</a:t>
            </a:r>
            <a:endParaRPr lang="ru-RU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None/>
            </a:pPr>
            <a:endParaRPr lang="en-US" sz="2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.blue{</a:t>
            </a:r>
            <a:endParaRPr lang="ru-RU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	color: blue</a:t>
            </a: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None/>
            </a:pPr>
            <a:endParaRPr lang="ru-RU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#last{</a:t>
            </a:r>
            <a:endParaRPr lang="ru-RU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	color: </a:t>
            </a: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green;</a:t>
            </a:r>
            <a:endParaRPr lang="ru-RU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ru-RU" sz="2400" dirty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897880" y="1608643"/>
            <a:ext cx="5916892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p&gt;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Текст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первого параграфа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&lt;p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class="blue"&gt;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Текст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второго параграфа</a:t>
            </a:r>
          </a:p>
          <a:p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&lt;span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class="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blue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"&gt; 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Текст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третьего параграфа</a:t>
            </a:r>
          </a:p>
          <a:p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&lt;/span&gt;</a:t>
            </a:r>
          </a:p>
          <a:p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&lt;p class="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blue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  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last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Текст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четвертого параграфа</a:t>
            </a:r>
          </a:p>
          <a:p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760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Простые и составные свойства</a:t>
            </a:r>
            <a:endParaRPr lang="ru-RU" b="1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ru-RU" b="1" dirty="0" smtClean="0"/>
              <a:t>Простые</a:t>
            </a:r>
          </a:p>
          <a:p>
            <a:pPr marL="45720" indent="0">
              <a:buNone/>
            </a:pP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color:red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background-image: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/bg.jpg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font-size: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2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em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ru-RU" b="1" dirty="0" smtClean="0"/>
              <a:t>Составные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background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(images/hand.png) repeat-y #fc0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border:  black solid 2px;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padding: 20px 30px 50px 40px;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273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Свойства </a:t>
            </a:r>
            <a:r>
              <a:rPr lang="en-US" b="1" dirty="0" smtClean="0"/>
              <a:t>CSS</a:t>
            </a:r>
            <a:endParaRPr lang="ru-RU" b="1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60070" indent="-514350">
              <a:buFont typeface="+mj-lt"/>
              <a:buAutoNum type="arabicPeriod"/>
            </a:pPr>
            <a:r>
              <a:rPr lang="ru-RU" sz="2800" dirty="0" smtClean="0"/>
              <a:t>Наследование - </a:t>
            </a:r>
            <a:r>
              <a:rPr lang="ru-RU" sz="2800" dirty="0"/>
              <a:t>перенос правил форматирования для элементов, находящихся внутри других.</a:t>
            </a:r>
            <a:endParaRPr lang="ru-RU" sz="2800" dirty="0" smtClean="0"/>
          </a:p>
          <a:p>
            <a:pPr marL="560070" indent="-514350">
              <a:buFont typeface="+mj-lt"/>
              <a:buAutoNum type="arabicPeriod"/>
            </a:pPr>
            <a:r>
              <a:rPr lang="ru-RU" sz="2800" dirty="0" smtClean="0"/>
              <a:t>Каскадирование - </a:t>
            </a:r>
            <a:r>
              <a:rPr lang="ru-RU" sz="2800" dirty="0"/>
              <a:t>одновременное применение разных стилевых правил к элементам документа — с помощью подключения нескольких стилевых файлов, наследования свойств и других методов. 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6389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Наследование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2057400"/>
            <a:ext cx="10825681" cy="4166428"/>
          </a:xfrm>
        </p:spPr>
        <p:txBody>
          <a:bodyPr/>
          <a:lstStyle/>
          <a:p>
            <a:pPr marL="45720" indent="0">
              <a:buNone/>
            </a:pPr>
            <a:r>
              <a:rPr lang="ru-RU" sz="2400" dirty="0" smtClean="0"/>
              <a:t>Какие свойства стилей наследуются, а какие нет?</a:t>
            </a:r>
          </a:p>
          <a:p>
            <a:pPr marL="45720" indent="0">
              <a:buNone/>
            </a:pPr>
            <a:r>
              <a:rPr lang="en-US" sz="2400" dirty="0">
                <a:hlinkClick r:id="rId3"/>
              </a:rPr>
              <a:t>https://</a:t>
            </a:r>
            <a:r>
              <a:rPr lang="en-US" sz="2400" dirty="0" smtClean="0">
                <a:hlinkClick r:id="rId3"/>
              </a:rPr>
              <a:t>www.w3.org/TR/CSS22/propidx.html</a:t>
            </a:r>
            <a:endParaRPr lang="ru-RU" sz="2400" dirty="0" smtClean="0"/>
          </a:p>
          <a:p>
            <a:pPr marL="45720" indent="0">
              <a:buNone/>
            </a:pPr>
            <a:r>
              <a:rPr lang="ru-RU" sz="2400" b="1" dirty="0" smtClean="0"/>
              <a:t>Пример</a:t>
            </a: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body{</a:t>
            </a: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color: brown;</a:t>
            </a: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font-family: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Georgia,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Times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Roman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Times, serif;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304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 smtClean="0"/>
              <a:t>Мультиклассы</a:t>
            </a:r>
            <a:endParaRPr lang="ru-RU" b="1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6280867" y="1865015"/>
            <a:ext cx="5180820" cy="4723938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ru-R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color:black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</a:p>
          <a:p>
            <a:pPr marL="45720" indent="0">
              <a:buNone/>
            </a:pP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.red</a:t>
            </a:r>
            <a:r>
              <a:rPr lang="ru-R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color:red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</a:p>
          <a:p>
            <a:pPr marL="45720" indent="0">
              <a:buNone/>
            </a:pP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.blue</a:t>
            </a:r>
            <a:r>
              <a:rPr lang="ru-R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color:blue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</a:p>
          <a:p>
            <a:pPr marL="45720" indent="0">
              <a:buNone/>
            </a:pP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#yellow</a:t>
            </a:r>
            <a:r>
              <a:rPr lang="ru-R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color:yellow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  <a:endParaRPr lang="ru-R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ru-RU" dirty="0"/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>
          <a:xfrm>
            <a:off x="971333" y="1865015"/>
            <a:ext cx="5203129" cy="402336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&lt;p class=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red blue</a:t>
            </a:r>
            <a:r>
              <a:rPr lang="ru-R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id=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yellow</a:t>
            </a:r>
            <a:r>
              <a:rPr lang="ru-R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45720" indent="0">
              <a:buNone/>
            </a:pP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Текст</a:t>
            </a:r>
          </a:p>
          <a:p>
            <a:pPr marL="45720" indent="0"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&lt;/p&gt;</a:t>
            </a:r>
            <a:endParaRPr lang="ru-R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495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Типы селекторов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1846906"/>
            <a:ext cx="9872871" cy="4653481"/>
          </a:xfrm>
        </p:spPr>
        <p:txBody>
          <a:bodyPr>
            <a:normAutofit lnSpcReduction="10000"/>
          </a:bodyPr>
          <a:lstStyle/>
          <a:p>
            <a:r>
              <a:rPr lang="en-US" sz="2600" dirty="0"/>
              <a:t>ID</a:t>
            </a:r>
            <a:r>
              <a:rPr lang="ru-RU" sz="2600" dirty="0"/>
              <a:t>-селекторы</a:t>
            </a:r>
          </a:p>
          <a:p>
            <a:r>
              <a:rPr lang="ru-RU" sz="2600" dirty="0"/>
              <a:t>Селекторы элементов</a:t>
            </a:r>
          </a:p>
          <a:p>
            <a:r>
              <a:rPr lang="ru-RU" sz="2600" dirty="0"/>
              <a:t>Селекторы </a:t>
            </a:r>
            <a:r>
              <a:rPr lang="ru-RU" sz="2600" dirty="0" smtClean="0"/>
              <a:t>классов</a:t>
            </a:r>
          </a:p>
          <a:p>
            <a:r>
              <a:rPr lang="ru-RU" sz="2600" dirty="0" smtClean="0"/>
              <a:t>Универсальный селектор</a:t>
            </a:r>
            <a:endParaRPr lang="ru-RU" sz="2600" dirty="0"/>
          </a:p>
          <a:p>
            <a:r>
              <a:rPr lang="ru-RU" sz="2600" dirty="0" smtClean="0"/>
              <a:t>Селекторы </a:t>
            </a:r>
            <a:r>
              <a:rPr lang="ru-RU" sz="2600" dirty="0"/>
              <a:t>потомков</a:t>
            </a:r>
          </a:p>
          <a:p>
            <a:r>
              <a:rPr lang="ru-RU" sz="2600" dirty="0"/>
              <a:t>Дочерние селекторы</a:t>
            </a:r>
          </a:p>
          <a:p>
            <a:r>
              <a:rPr lang="ru-RU" sz="2600" dirty="0"/>
              <a:t>Соседние </a:t>
            </a:r>
            <a:r>
              <a:rPr lang="ru-RU" sz="2600" dirty="0" smtClean="0"/>
              <a:t>селекторы</a:t>
            </a:r>
            <a:endParaRPr lang="ru-RU" sz="2600" dirty="0"/>
          </a:p>
          <a:p>
            <a:r>
              <a:rPr lang="ru-RU" sz="2600" dirty="0"/>
              <a:t>Селекторы </a:t>
            </a:r>
            <a:r>
              <a:rPr lang="ru-RU" sz="2600" dirty="0" smtClean="0"/>
              <a:t>атрибута</a:t>
            </a:r>
          </a:p>
          <a:p>
            <a:r>
              <a:rPr lang="ru-RU" sz="2600" dirty="0" err="1" smtClean="0"/>
              <a:t>Псевдоклассы</a:t>
            </a:r>
            <a:endParaRPr lang="ru-RU" sz="2600" dirty="0" smtClean="0"/>
          </a:p>
          <a:p>
            <a:r>
              <a:rPr lang="ru-RU" sz="2600" dirty="0" err="1" smtClean="0"/>
              <a:t>Псевдоэлементы</a:t>
            </a:r>
            <a:endParaRPr lang="ru-RU" sz="2600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4001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Универсальный селектор</a:t>
            </a:r>
            <a:r>
              <a:rPr lang="en-US" b="1" dirty="0" smtClean="0"/>
              <a:t> </a:t>
            </a:r>
            <a:r>
              <a:rPr lang="ru-RU" b="1" dirty="0" smtClean="0"/>
              <a:t>и сброс стилей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2057400"/>
            <a:ext cx="3709657" cy="4038600"/>
          </a:xfrm>
        </p:spPr>
        <p:txBody>
          <a:bodyPr/>
          <a:lstStyle/>
          <a:p>
            <a:pPr marL="45720" indent="0">
              <a:buNone/>
            </a:pPr>
            <a:r>
              <a:rPr lang="ru-RU" dirty="0" smtClean="0"/>
              <a:t>*</a:t>
            </a:r>
            <a:r>
              <a:rPr lang="en-US" dirty="0" smtClean="0"/>
              <a:t> {</a:t>
            </a:r>
          </a:p>
          <a:p>
            <a:pPr marL="45720" indent="0">
              <a:buNone/>
            </a:pPr>
            <a:r>
              <a:rPr lang="en-US" dirty="0" smtClean="0"/>
              <a:t>	margin:0;</a:t>
            </a:r>
          </a:p>
          <a:p>
            <a:pPr marL="45720" indent="0">
              <a:buNone/>
            </a:pPr>
            <a:r>
              <a:rPr lang="en-US" dirty="0"/>
              <a:t>	</a:t>
            </a:r>
            <a:r>
              <a:rPr lang="en-US" dirty="0" smtClean="0"/>
              <a:t>padding:0;</a:t>
            </a:r>
            <a:endParaRPr lang="en-US" dirty="0"/>
          </a:p>
          <a:p>
            <a:pPr marL="45720" indent="0">
              <a:buNone/>
            </a:pPr>
            <a:r>
              <a:rPr lang="en-US" dirty="0" smtClean="0"/>
              <a:t>}</a:t>
            </a:r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11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057400"/>
            <a:ext cx="4505325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7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Селекторы потомков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086885" cy="4351338"/>
          </a:xfrm>
        </p:spPr>
        <p:txBody>
          <a:bodyPr>
            <a:normAutofit fontScale="92500" lnSpcReduction="20000"/>
          </a:bodyPr>
          <a:lstStyle/>
          <a:p>
            <a:pPr marL="45720" indent="0">
              <a:buNone/>
            </a:pP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nav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a{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font-size: 1.5em;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main_menu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h2{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font-weight: normal;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.content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width:500px;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float: left;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5033727" y="1825625"/>
            <a:ext cx="7088863" cy="4620442"/>
          </a:xfrm>
        </p:spPr>
        <p:txBody>
          <a:bodyPr>
            <a:normAutofit fontScale="92500" lnSpcReduction="20000"/>
          </a:bodyPr>
          <a:lstStyle/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&lt;div class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="content"&gt;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nav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main_menu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&lt;h2&gt;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Заголовок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&lt;/h2&gt;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&lt;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&lt;li&gt;&lt;a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Пункт меню 1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&lt;/a&gt;&lt;/li&gt;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&lt;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li&gt;&lt;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Пункт меню 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&lt;/a&gt;&lt;/li&gt;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&lt;/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&lt;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class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logo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/pict.jpg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nav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&lt;/div&gt;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7442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Дочерние селекторы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068778" cy="4351338"/>
          </a:xfrm>
        </p:spPr>
        <p:txBody>
          <a:bodyPr>
            <a:normAutofit fontScale="92500"/>
          </a:bodyPr>
          <a:lstStyle/>
          <a:p>
            <a:pPr marL="45720" indent="0">
              <a:buNone/>
            </a:pP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nav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a{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font-size: 1.5em;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" indent="0">
              <a:buNone/>
            </a:pP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nav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&gt; a{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font-weight: bold;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av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li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a{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color: red;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5015620" y="1825625"/>
            <a:ext cx="6907794" cy="4351338"/>
          </a:xfrm>
        </p:spPr>
        <p:txBody>
          <a:bodyPr>
            <a:normAutofit fontScale="92500"/>
          </a:bodyPr>
          <a:lstStyle/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&lt;div class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content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nav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main_menu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&lt;a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Название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&lt;a&gt;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&lt;li&gt;&lt;a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Пункт меню 1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&lt;/a&gt;&lt;/li&gt;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li&gt;&lt;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Пункт меню 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&lt;/a&gt;&lt;/li&gt;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&lt;/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&lt;/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nav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&lt;/div&gt;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326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Соседние </a:t>
            </a:r>
            <a:r>
              <a:rPr lang="ru-RU" b="1" dirty="0" smtClean="0"/>
              <a:t>селекторы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 +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color:red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 + .about{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border: red solid 3px;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760267" cy="4351338"/>
          </a:xfrm>
        </p:spPr>
        <p:txBody>
          <a:bodyPr>
            <a:normAutofit fontScale="92500"/>
          </a:bodyPr>
          <a:lstStyle/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class="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about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="…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&lt;b&gt;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Просто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&lt;/b&gt;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&lt;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текст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&lt;/p&gt;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Просто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текст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&lt;/p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class="about"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="…"&gt;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1223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 smtClean="0"/>
              <a:t>Псевдоклассы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1819746"/>
            <a:ext cx="10400168" cy="4653481"/>
          </a:xfrm>
        </p:spPr>
        <p:txBody>
          <a:bodyPr>
            <a:normAutofit fontScale="92500" lnSpcReduction="20000"/>
          </a:bodyPr>
          <a:lstStyle/>
          <a:p>
            <a:pPr marL="45720" indent="0">
              <a:buNone/>
            </a:pPr>
            <a:r>
              <a:rPr lang="ru-RU" sz="2600" dirty="0" err="1"/>
              <a:t>Псевдоклассы</a:t>
            </a:r>
            <a:r>
              <a:rPr lang="ru-RU" sz="2600" dirty="0"/>
              <a:t> определяют динамическое состояние элементов, которое изменяется с помощью действий пользователя, а также положение в дереве документа</a:t>
            </a:r>
            <a:r>
              <a:rPr lang="ru-RU" sz="2600" dirty="0" smtClean="0"/>
              <a:t>.</a:t>
            </a:r>
            <a:endParaRPr lang="en-US" sz="2600" dirty="0" smtClean="0"/>
          </a:p>
          <a:p>
            <a:pPr marL="45720" indent="0">
              <a:buNone/>
            </a:pPr>
            <a:r>
              <a:rPr lang="ru-RU" sz="2600" b="1" dirty="0" smtClean="0"/>
              <a:t>селектор</a:t>
            </a:r>
            <a:r>
              <a:rPr lang="en-US" sz="2600" b="1" dirty="0" smtClean="0"/>
              <a:t>: </a:t>
            </a:r>
            <a:r>
              <a:rPr lang="ru-RU" sz="2600" b="1" dirty="0" err="1" smtClean="0"/>
              <a:t>псевдокласс</a:t>
            </a:r>
            <a:r>
              <a:rPr lang="en-US" sz="2600" b="1" dirty="0" smtClean="0"/>
              <a:t> {</a:t>
            </a:r>
            <a:r>
              <a:rPr lang="ru-RU" sz="2600" b="1" dirty="0"/>
              <a:t>Описание правил стиля </a:t>
            </a:r>
            <a:r>
              <a:rPr lang="en-US" sz="2600" b="1" dirty="0" smtClean="0"/>
              <a:t>}</a:t>
            </a:r>
            <a:endParaRPr lang="ru-RU" sz="2600" b="1" dirty="0" smtClean="0"/>
          </a:p>
          <a:p>
            <a:r>
              <a:rPr lang="ru-RU" sz="2600" b="1" dirty="0" smtClean="0"/>
              <a:t>:</a:t>
            </a:r>
            <a:r>
              <a:rPr lang="ru-RU" sz="2600" b="1" dirty="0" err="1" smtClean="0"/>
              <a:t>active</a:t>
            </a:r>
            <a:r>
              <a:rPr lang="ru-RU" sz="2600" b="1" dirty="0" smtClean="0"/>
              <a:t> </a:t>
            </a:r>
            <a:r>
              <a:rPr lang="ru-RU" sz="2600" dirty="0" smtClean="0"/>
              <a:t>(происходит при активации пользователем элемента)</a:t>
            </a:r>
          </a:p>
          <a:p>
            <a:r>
              <a:rPr lang="ru-RU" sz="2600" b="1" dirty="0" smtClean="0"/>
              <a:t>:</a:t>
            </a:r>
            <a:r>
              <a:rPr lang="ru-RU" sz="2600" b="1" dirty="0" err="1" smtClean="0"/>
              <a:t>link</a:t>
            </a:r>
            <a:r>
              <a:rPr lang="ru-RU" sz="2600" b="1" dirty="0" smtClean="0"/>
              <a:t> </a:t>
            </a:r>
            <a:r>
              <a:rPr lang="ru-RU" sz="2600" dirty="0" smtClean="0"/>
              <a:t>(применяется </a:t>
            </a:r>
            <a:r>
              <a:rPr lang="ru-RU" sz="2600" dirty="0"/>
              <a:t>к </a:t>
            </a:r>
            <a:r>
              <a:rPr lang="ru-RU" sz="2600" dirty="0" err="1"/>
              <a:t>непосещенным</a:t>
            </a:r>
            <a:r>
              <a:rPr lang="ru-RU" sz="2600" dirty="0"/>
              <a:t> ссылкам, т. е. таким ссылкам, на которые пользователь ещё не </a:t>
            </a:r>
            <a:r>
              <a:rPr lang="ru-RU" sz="2600" dirty="0" smtClean="0"/>
              <a:t>нажимал)</a:t>
            </a:r>
          </a:p>
          <a:p>
            <a:r>
              <a:rPr lang="ru-RU" sz="2600" b="1" dirty="0"/>
              <a:t>:</a:t>
            </a:r>
            <a:r>
              <a:rPr lang="ru-RU" sz="2600" b="1" dirty="0" err="1" smtClean="0"/>
              <a:t>hover</a:t>
            </a:r>
            <a:r>
              <a:rPr lang="ru-RU" sz="2600" b="1" dirty="0" smtClean="0"/>
              <a:t> </a:t>
            </a:r>
            <a:r>
              <a:rPr lang="ru-RU" sz="2600" dirty="0" smtClean="0"/>
              <a:t>(активизируется</a:t>
            </a:r>
            <a:r>
              <a:rPr lang="ru-RU" sz="2600" dirty="0"/>
              <a:t>, когда курсор мыши находится в пределах элемента, но щелчка по нему не </a:t>
            </a:r>
            <a:r>
              <a:rPr lang="ru-RU" sz="2600" dirty="0" smtClean="0"/>
              <a:t>происходит)</a:t>
            </a:r>
            <a:endParaRPr lang="ru-RU" sz="2600" dirty="0"/>
          </a:p>
          <a:p>
            <a:r>
              <a:rPr lang="ru-RU" sz="2600" b="1" dirty="0"/>
              <a:t>:</a:t>
            </a:r>
            <a:r>
              <a:rPr lang="ru-RU" sz="2600" b="1" dirty="0" err="1" smtClean="0"/>
              <a:t>visited</a:t>
            </a:r>
            <a:r>
              <a:rPr lang="ru-RU" sz="2600" b="1" dirty="0" smtClean="0"/>
              <a:t> </a:t>
            </a:r>
            <a:r>
              <a:rPr lang="ru-RU" sz="2600" dirty="0" smtClean="0"/>
              <a:t>(применяется </a:t>
            </a:r>
            <a:r>
              <a:rPr lang="ru-RU" sz="2600" dirty="0"/>
              <a:t>к посещённым </a:t>
            </a:r>
            <a:r>
              <a:rPr lang="ru-RU" sz="2600" dirty="0" smtClean="0"/>
              <a:t>ссылкам)</a:t>
            </a:r>
          </a:p>
          <a:p>
            <a:r>
              <a:rPr lang="ru-RU" sz="2600" b="1" dirty="0"/>
              <a:t>:</a:t>
            </a:r>
            <a:r>
              <a:rPr lang="ru-RU" sz="2600" b="1" dirty="0" err="1" smtClean="0"/>
              <a:t>first-child</a:t>
            </a:r>
            <a:r>
              <a:rPr lang="ru-RU" sz="2600" b="1" dirty="0" smtClean="0"/>
              <a:t> </a:t>
            </a:r>
            <a:r>
              <a:rPr lang="ru-RU" sz="2600" dirty="0" smtClean="0"/>
              <a:t>(применяется </a:t>
            </a:r>
            <a:r>
              <a:rPr lang="ru-RU" sz="2600" dirty="0"/>
              <a:t>к первому дочернему элементу селектора, который расположен в дереве элементов </a:t>
            </a:r>
            <a:r>
              <a:rPr lang="ru-RU" sz="2600" dirty="0" smtClean="0"/>
              <a:t>документа)</a:t>
            </a:r>
          </a:p>
          <a:p>
            <a:r>
              <a:rPr lang="ru-RU" sz="2600" b="1" dirty="0"/>
              <a:t>:</a:t>
            </a:r>
            <a:r>
              <a:rPr lang="ru-RU" sz="2600" b="1" dirty="0" err="1" smtClean="0"/>
              <a:t>lang</a:t>
            </a:r>
            <a:r>
              <a:rPr lang="ru-RU" sz="2600" b="1" dirty="0" smtClean="0"/>
              <a:t>(язык) </a:t>
            </a:r>
            <a:r>
              <a:rPr lang="ru-RU" sz="2600" dirty="0" smtClean="0"/>
              <a:t>(определяет </a:t>
            </a:r>
            <a:r>
              <a:rPr lang="ru-RU" sz="2600" dirty="0"/>
              <a:t>язык, который используется в документе или его </a:t>
            </a:r>
            <a:r>
              <a:rPr lang="ru-RU" sz="2600" dirty="0" smtClean="0"/>
              <a:t>фрагменте)</a:t>
            </a:r>
            <a:endParaRPr lang="ru-RU" sz="2600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7671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 smtClean="0"/>
              <a:t>Псевдоклассы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2057400"/>
            <a:ext cx="10409222" cy="4370560"/>
          </a:xfrm>
        </p:spPr>
        <p:txBody>
          <a:bodyPr numCol="2">
            <a:normAutofit/>
          </a:bodyPr>
          <a:lstStyle/>
          <a:p>
            <a:pPr marL="45720" indent="0">
              <a:buNone/>
            </a:pPr>
            <a:r>
              <a:rPr lang="en-US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ru-RU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endParaRPr lang="en-US" sz="2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text-decoration: none;</a:t>
            </a:r>
            <a:endParaRPr lang="en-US" sz="2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ru-RU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3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ru-RU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3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hover</a:t>
            </a:r>
            <a:r>
              <a:rPr lang="ru-RU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endParaRPr lang="en-US" sz="23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text-decoration: underline;</a:t>
            </a:r>
          </a:p>
          <a:p>
            <a:pPr marL="45720" indent="0">
              <a:buNone/>
            </a:pPr>
            <a:r>
              <a:rPr lang="ru-RU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" indent="0">
              <a:buNone/>
            </a:pPr>
            <a:r>
              <a:rPr lang="en-US" sz="23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tr:first-child</a:t>
            </a:r>
            <a:r>
              <a:rPr lang="en-US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" indent="0">
              <a:buNone/>
            </a:pPr>
            <a:r>
              <a:rPr lang="en-US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background-color: red;</a:t>
            </a:r>
          </a:p>
          <a:p>
            <a:pPr marL="45720" indent="0">
              <a:buNone/>
            </a:pPr>
            <a:r>
              <a:rPr lang="en-US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" indent="0">
              <a:buNone/>
            </a:pPr>
            <a:r>
              <a:rPr lang="en-US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p:lang(en){</a:t>
            </a:r>
          </a:p>
          <a:p>
            <a:pPr marL="45720" indent="0">
              <a:buNone/>
            </a:pPr>
            <a:r>
              <a:rPr lang="en-US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font-size:16pt;</a:t>
            </a:r>
            <a:endParaRPr lang="en-US" sz="2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8421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 smtClean="0"/>
              <a:t>Псевдоэлементы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1792586"/>
            <a:ext cx="9872871" cy="4734963"/>
          </a:xfrm>
        </p:spPr>
        <p:txBody>
          <a:bodyPr>
            <a:normAutofit fontScale="55000" lnSpcReduction="20000"/>
          </a:bodyPr>
          <a:lstStyle/>
          <a:p>
            <a:pPr marL="45720" indent="0">
              <a:buNone/>
            </a:pPr>
            <a:r>
              <a:rPr lang="ru-RU" sz="4400" dirty="0" err="1"/>
              <a:t>Псевдоэлементы</a:t>
            </a:r>
            <a:r>
              <a:rPr lang="ru-RU" sz="4400" dirty="0"/>
              <a:t> позволяют задать стиль элементов не определённых в дереве элементов документа, а также генерировать содержимое, которого нет в исходном коде текста</a:t>
            </a:r>
            <a:r>
              <a:rPr lang="ru-RU" sz="4400" dirty="0" smtClean="0"/>
              <a:t>.</a:t>
            </a:r>
            <a:endParaRPr lang="en-US" sz="4400" dirty="0" smtClean="0"/>
          </a:p>
          <a:p>
            <a:pPr marL="45720" indent="0">
              <a:buNone/>
            </a:pPr>
            <a:r>
              <a:rPr lang="en-US" sz="4400" b="1" dirty="0" smtClean="0"/>
              <a:t>c</a:t>
            </a:r>
            <a:r>
              <a:rPr lang="ru-RU" sz="4400" b="1" dirty="0" err="1" smtClean="0"/>
              <a:t>електор</a:t>
            </a:r>
            <a:r>
              <a:rPr lang="ru-RU" sz="4400" b="1" dirty="0" smtClean="0"/>
              <a:t>::</a:t>
            </a:r>
            <a:r>
              <a:rPr lang="ru-RU" sz="4400" b="1" dirty="0" err="1" smtClean="0"/>
              <a:t>псевдоэлемент</a:t>
            </a:r>
            <a:r>
              <a:rPr lang="ru-RU" sz="4400" b="1" dirty="0" smtClean="0"/>
              <a:t> </a:t>
            </a:r>
            <a:r>
              <a:rPr lang="ru-RU" sz="4400" b="1" dirty="0"/>
              <a:t>{ Описание правил стиля }</a:t>
            </a:r>
          </a:p>
          <a:p>
            <a:r>
              <a:rPr lang="ru-RU" sz="4400" b="1" dirty="0" smtClean="0"/>
              <a:t>:</a:t>
            </a:r>
            <a:r>
              <a:rPr lang="ru-RU" sz="4400" b="1" dirty="0" err="1" smtClean="0"/>
              <a:t>after</a:t>
            </a:r>
            <a:r>
              <a:rPr lang="ru-RU" sz="4400" b="1" dirty="0" smtClean="0"/>
              <a:t> </a:t>
            </a:r>
            <a:r>
              <a:rPr lang="ru-RU" sz="4400" dirty="0" smtClean="0"/>
              <a:t>(применяется для вставки назначенного контента после содержимого элемента)</a:t>
            </a:r>
          </a:p>
          <a:p>
            <a:r>
              <a:rPr lang="en-US" sz="4400" b="1" dirty="0" smtClean="0"/>
              <a:t>:</a:t>
            </a:r>
            <a:r>
              <a:rPr lang="ru-RU" sz="4400" b="1" dirty="0" smtClean="0"/>
              <a:t>:</a:t>
            </a:r>
            <a:r>
              <a:rPr lang="en-US" sz="4400" b="1" dirty="0" smtClean="0"/>
              <a:t>before</a:t>
            </a:r>
            <a:r>
              <a:rPr lang="ru-RU" sz="4400" b="1" dirty="0" smtClean="0"/>
              <a:t> </a:t>
            </a:r>
            <a:r>
              <a:rPr lang="ru-RU" sz="4400" dirty="0" smtClean="0"/>
              <a:t>(применяется для вставки назначенного контента до содержимого элемента)</a:t>
            </a:r>
          </a:p>
          <a:p>
            <a:r>
              <a:rPr lang="ru-RU" sz="4400" b="1" dirty="0" smtClean="0"/>
              <a:t>::</a:t>
            </a:r>
            <a:r>
              <a:rPr lang="ru-RU" sz="4400" b="1" dirty="0" err="1" smtClean="0"/>
              <a:t>first-letter</a:t>
            </a:r>
            <a:r>
              <a:rPr lang="ru-RU" sz="4400" b="1" dirty="0" smtClean="0"/>
              <a:t> </a:t>
            </a:r>
            <a:r>
              <a:rPr lang="ru-RU" sz="4400" dirty="0" smtClean="0"/>
              <a:t>(определяет </a:t>
            </a:r>
            <a:r>
              <a:rPr lang="ru-RU" sz="4400" dirty="0"/>
              <a:t>стиль первого символа в тексте элемента, к которому </a:t>
            </a:r>
            <a:r>
              <a:rPr lang="ru-RU" sz="4400" dirty="0" smtClean="0"/>
              <a:t>добавляется)</a:t>
            </a:r>
          </a:p>
          <a:p>
            <a:r>
              <a:rPr lang="ru-RU" sz="4400" b="1" smtClean="0"/>
              <a:t>::first-line</a:t>
            </a:r>
            <a:r>
              <a:rPr lang="ru-RU" sz="4400" b="1" dirty="0" smtClean="0"/>
              <a:t> </a:t>
            </a:r>
            <a:r>
              <a:rPr lang="ru-RU" sz="4400" dirty="0" smtClean="0"/>
              <a:t>(определяет </a:t>
            </a:r>
            <a:r>
              <a:rPr lang="ru-RU" sz="4400" dirty="0"/>
              <a:t>стиль первой строки блочного </a:t>
            </a:r>
            <a:r>
              <a:rPr lang="ru-RU" sz="4400" dirty="0" smtClean="0"/>
              <a:t>текста)</a:t>
            </a:r>
            <a:endParaRPr lang="ru-RU" sz="4400" dirty="0"/>
          </a:p>
          <a:p>
            <a:pPr marL="45720" indent="0">
              <a:buNone/>
            </a:pPr>
            <a:endParaRPr lang="ru-RU" dirty="0"/>
          </a:p>
          <a:p>
            <a:pPr marL="45720" indent="0">
              <a:buNone/>
            </a:pP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196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4236" y="203099"/>
            <a:ext cx="9875520" cy="1356360"/>
          </a:xfrm>
        </p:spPr>
        <p:txBody>
          <a:bodyPr/>
          <a:lstStyle/>
          <a:p>
            <a:r>
              <a:rPr lang="ru-RU" b="1" dirty="0" err="1"/>
              <a:t>Псевдоэлементы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44236" y="1559458"/>
            <a:ext cx="10065190" cy="4841341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.new:after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endParaRPr lang="ru-RU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content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"-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!";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p:first-line {</a:t>
            </a:r>
            <a:endParaRPr lang="ru-RU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font-family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 Arial, Helvetica, sans-serif; </a:t>
            </a:r>
            <a:endParaRPr lang="ru-RU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font-size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 90%; </a:t>
            </a:r>
            <a:endParaRPr lang="ru-RU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color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 black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:first-letter {</a:t>
            </a:r>
            <a:endParaRPr lang="ru-RU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font-family: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"Times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Roman",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Times, serif; 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font-size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 200%; </a:t>
            </a:r>
            <a:endParaRPr lang="ru-RU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color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 red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352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@-</a:t>
            </a:r>
            <a:r>
              <a:rPr lang="ru-RU" b="1" dirty="0" smtClean="0"/>
              <a:t>правила</a:t>
            </a:r>
            <a:r>
              <a:rPr lang="en-US" b="1" dirty="0" smtClean="0"/>
              <a:t> (</a:t>
            </a:r>
            <a:r>
              <a:rPr lang="ru-RU" b="1" dirty="0" smtClean="0"/>
              <a:t>директивы</a:t>
            </a:r>
            <a:r>
              <a:rPr lang="en-US" b="1" dirty="0" smtClean="0"/>
              <a:t>)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" indent="0">
              <a:buNone/>
            </a:pPr>
            <a:r>
              <a:rPr lang="ru-RU" dirty="0"/>
              <a:t>Директивы — это конструкции, которая позволяет создавать в CSS инструкции для изменения отображения либо поведения элементов страницы</a:t>
            </a:r>
            <a:r>
              <a:rPr lang="ru-RU" dirty="0" smtClean="0"/>
              <a:t>.</a:t>
            </a:r>
          </a:p>
          <a:p>
            <a:pPr marL="45720" indent="0">
              <a:buNone/>
            </a:pPr>
            <a:r>
              <a:rPr lang="en-US" sz="2400" b="1" dirty="0" smtClean="0"/>
              <a:t>@</a:t>
            </a:r>
            <a:r>
              <a:rPr lang="ru-RU" sz="2400" b="1" dirty="0" smtClean="0"/>
              <a:t>директива правило</a:t>
            </a:r>
            <a:endParaRPr lang="ru-RU" b="1" dirty="0" smtClean="0"/>
          </a:p>
          <a:p>
            <a:r>
              <a:rPr lang="ru-RU" b="1" dirty="0" smtClean="0"/>
              <a:t>@</a:t>
            </a:r>
            <a:r>
              <a:rPr lang="ru-RU" b="1" dirty="0" err="1" smtClean="0"/>
              <a:t>charset</a:t>
            </a:r>
            <a:r>
              <a:rPr lang="ru-RU" b="1" dirty="0" smtClean="0"/>
              <a:t> - </a:t>
            </a:r>
            <a:r>
              <a:rPr lang="ru-RU" dirty="0" smtClean="0"/>
              <a:t>Применяется </a:t>
            </a:r>
            <a:r>
              <a:rPr lang="ru-RU" dirty="0"/>
              <a:t>для задания кодировки внешнего CSS-файла. Это имеет значение в том случае, если в CSS-файле используются символы национального алфавита.</a:t>
            </a:r>
          </a:p>
          <a:p>
            <a:r>
              <a:rPr lang="ru-RU" b="1" dirty="0" smtClean="0"/>
              <a:t>@</a:t>
            </a:r>
            <a:r>
              <a:rPr lang="ru-RU" b="1" dirty="0" err="1" smtClean="0"/>
              <a:t>import</a:t>
            </a:r>
            <a:r>
              <a:rPr lang="ru-RU" b="1" dirty="0" smtClean="0"/>
              <a:t> - </a:t>
            </a:r>
            <a:r>
              <a:rPr lang="ru-RU" dirty="0" smtClean="0"/>
              <a:t>Позволяет </a:t>
            </a:r>
            <a:r>
              <a:rPr lang="ru-RU" dirty="0"/>
              <a:t>импортировать содержимое CSS-файла в текущую стилевую таблицу.</a:t>
            </a:r>
          </a:p>
          <a:p>
            <a:r>
              <a:rPr lang="ru-RU" b="1" dirty="0"/>
              <a:t>@</a:t>
            </a:r>
            <a:r>
              <a:rPr lang="ru-RU" b="1" dirty="0" err="1" smtClean="0"/>
              <a:t>media</a:t>
            </a:r>
            <a:r>
              <a:rPr lang="ru-RU" b="1" dirty="0" smtClean="0"/>
              <a:t> - </a:t>
            </a:r>
            <a:r>
              <a:rPr lang="ru-RU" dirty="0" smtClean="0"/>
              <a:t>Указывает </a:t>
            </a:r>
            <a:r>
              <a:rPr lang="ru-RU" dirty="0"/>
              <a:t>тип носителя, для которого будет применяться указанный стиль. В качестве типов выступают различные устройства, например, принтер, коммуникатор, монитор и др</a:t>
            </a:r>
            <a:r>
              <a:rPr lang="ru-RU" dirty="0" smtClean="0"/>
              <a:t>.</a:t>
            </a:r>
            <a:endParaRPr lang="en-US" dirty="0" smtClean="0"/>
          </a:p>
          <a:p>
            <a:pPr marL="45720" indent="0">
              <a:buNone/>
            </a:pPr>
            <a:r>
              <a:rPr lang="en-US" dirty="0">
                <a:hlinkClick r:id="rId2"/>
              </a:rPr>
              <a:t>https://frontender.info/the-at-rules-of-css/</a:t>
            </a:r>
            <a:endParaRPr lang="ru-RU" dirty="0"/>
          </a:p>
          <a:p>
            <a:pPr marL="4572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1273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4276" y="609600"/>
            <a:ext cx="9875520" cy="1356360"/>
          </a:xfrm>
        </p:spPr>
        <p:txBody>
          <a:bodyPr/>
          <a:lstStyle/>
          <a:p>
            <a:r>
              <a:rPr lang="en-US" b="1" dirty="0" smtClean="0"/>
              <a:t>@-</a:t>
            </a:r>
            <a:r>
              <a:rPr lang="ru-RU" b="1" dirty="0" smtClean="0"/>
              <a:t>правила</a:t>
            </a:r>
            <a:r>
              <a:rPr lang="en-US" b="1" dirty="0" smtClean="0"/>
              <a:t> (</a:t>
            </a:r>
            <a:r>
              <a:rPr lang="ru-RU" b="1" dirty="0" smtClean="0"/>
              <a:t>директивы</a:t>
            </a:r>
            <a:r>
              <a:rPr lang="en-US" b="1" dirty="0" smtClean="0"/>
              <a:t>)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724276" y="2057398"/>
            <a:ext cx="5364000" cy="4176000"/>
          </a:xfrm>
        </p:spPr>
        <p:txBody>
          <a:bodyPr numCol="1">
            <a:normAutofit fontScale="85000" lnSpcReduction="10000"/>
          </a:bodyPr>
          <a:lstStyle/>
          <a:p>
            <a:pPr marL="45720" indent="0">
              <a:buNone/>
            </a:pP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@charset </a:t>
            </a:r>
            <a:r>
              <a:rPr lang="en-US" sz="2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"utf-8";</a:t>
            </a:r>
          </a:p>
          <a:p>
            <a:pPr marL="45720" indent="0">
              <a:buNone/>
            </a:pPr>
            <a:endParaRPr lang="en-US" sz="29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@import </a:t>
            </a:r>
            <a:r>
              <a:rPr lang="en-US" sz="29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sz="2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("mystyle.css</a:t>
            </a:r>
            <a:r>
              <a:rPr lang="ru-RU" sz="2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  <a:endParaRPr lang="en-US" sz="29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en-US" sz="2000" dirty="0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67611" y="2057399"/>
            <a:ext cx="5701070" cy="4352453"/>
          </a:xfrm>
        </p:spPr>
        <p:txBody>
          <a:bodyPr>
            <a:normAutofit fontScale="85000" lnSpcReduction="10000"/>
          </a:bodyPr>
          <a:lstStyle/>
          <a:p>
            <a:pPr marL="45720" indent="0">
              <a:buNone/>
            </a:pP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@media screen </a:t>
            </a:r>
            <a:r>
              <a:rPr lang="en-US" sz="2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endParaRPr lang="en-US" sz="2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	.module { width: 100</a:t>
            </a:r>
            <a:r>
              <a:rPr lang="en-US" sz="2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%;}</a:t>
            </a:r>
          </a:p>
          <a:p>
            <a:pPr marL="45720" indent="0">
              <a:buNone/>
            </a:pPr>
            <a:r>
              <a:rPr lang="en-US" sz="2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@media print { </a:t>
            </a:r>
          </a:p>
          <a:p>
            <a:pPr marL="45720" indent="0">
              <a:buNone/>
            </a:pP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	.module { width: 90%; } </a:t>
            </a:r>
          </a:p>
          <a:p>
            <a:pPr marL="45720" indent="0">
              <a:buNone/>
            </a:pP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" indent="0">
              <a:buNone/>
            </a:pP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@media max-device-width: </a:t>
            </a:r>
            <a:r>
              <a:rPr lang="en-US" sz="2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480px{ </a:t>
            </a:r>
            <a:endParaRPr lang="en-US" sz="2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	.module { width: 50%; } </a:t>
            </a:r>
          </a:p>
          <a:p>
            <a:pPr marL="45720" indent="0">
              <a:buNone/>
            </a:pP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2724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Каскадирование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ru-RU" sz="2400" b="1" dirty="0" smtClean="0"/>
              <a:t>Приоритеты стилей:</a:t>
            </a:r>
          </a:p>
          <a:p>
            <a:pPr marL="502920" indent="-457200">
              <a:buFont typeface="+mj-lt"/>
              <a:buAutoNum type="arabicPeriod"/>
            </a:pPr>
            <a:r>
              <a:rPr lang="ru-RU" sz="2400" dirty="0" smtClean="0"/>
              <a:t>Стиль </a:t>
            </a:r>
            <a:r>
              <a:rPr lang="ru-RU" sz="2400" dirty="0"/>
              <a:t>браузера.</a:t>
            </a:r>
          </a:p>
          <a:p>
            <a:pPr marL="502920" indent="-457200">
              <a:buFont typeface="+mj-lt"/>
              <a:buAutoNum type="arabicPeriod"/>
            </a:pPr>
            <a:r>
              <a:rPr lang="ru-RU" sz="2400" dirty="0"/>
              <a:t>Стиль автора.</a:t>
            </a:r>
          </a:p>
          <a:p>
            <a:pPr marL="502920" indent="-457200">
              <a:buFont typeface="+mj-lt"/>
              <a:buAutoNum type="arabicPeriod"/>
            </a:pPr>
            <a:r>
              <a:rPr lang="ru-RU" sz="2400" dirty="0"/>
              <a:t>Стиль пользователя.</a:t>
            </a:r>
          </a:p>
          <a:p>
            <a:pPr marL="502920" indent="-457200">
              <a:buFont typeface="+mj-lt"/>
              <a:buAutoNum type="arabicPeriod"/>
            </a:pPr>
            <a:r>
              <a:rPr lang="ru-RU" sz="2400" dirty="0"/>
              <a:t>Стиль автора с добавлением !</a:t>
            </a:r>
            <a:r>
              <a:rPr lang="ru-RU" sz="2400" dirty="0" err="1"/>
              <a:t>important</a:t>
            </a:r>
            <a:r>
              <a:rPr lang="ru-RU" sz="2400" dirty="0"/>
              <a:t>.</a:t>
            </a:r>
          </a:p>
          <a:p>
            <a:pPr marL="502920" indent="-457200">
              <a:buFont typeface="+mj-lt"/>
              <a:buAutoNum type="arabicPeriod"/>
            </a:pPr>
            <a:r>
              <a:rPr lang="ru-RU" sz="2400" dirty="0"/>
              <a:t>Стиль пользователя с добавлением !</a:t>
            </a:r>
            <a:r>
              <a:rPr lang="ru-RU" sz="2400" dirty="0" err="1"/>
              <a:t>important</a:t>
            </a:r>
            <a:r>
              <a:rPr lang="ru-RU" sz="2400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3676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Каскадирование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1765427"/>
            <a:ext cx="10617451" cy="4816442"/>
          </a:xfrm>
        </p:spPr>
        <p:txBody>
          <a:bodyPr numCol="2">
            <a:normAutofit fontScale="92500" lnSpcReduction="20000"/>
          </a:bodyPr>
          <a:lstStyle/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p{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font-size:16px;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color: blue;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" indent="0">
              <a:buNone/>
            </a:pP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p.red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color: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red; 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.my p{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color:yellow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" indent="0">
              <a:buNone/>
            </a:pP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Первый параграф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&lt;/p&gt;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&lt;p class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="red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Второй параграф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&lt;div class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p&gt;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Третий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параграф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&lt;/p&gt;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&lt;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 class="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red"&gt;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Четвертый параграф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&lt;/div&gt;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2324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Специфичность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r>
              <a:rPr lang="ru-RU" dirty="0"/>
              <a:t>Если к одному элементу одновременно применяются противоречивые стилевые правила, то более высокий приоритет имеет правило, у которого значение специфичности селектора больше</a:t>
            </a:r>
            <a:r>
              <a:rPr lang="ru-RU" dirty="0" smtClean="0"/>
              <a:t>.</a:t>
            </a:r>
            <a:endParaRPr lang="en-US" dirty="0" smtClean="0"/>
          </a:p>
          <a:p>
            <a:pPr marL="45720" indent="0">
              <a:buNone/>
            </a:pPr>
            <a:r>
              <a:rPr lang="ru-RU" dirty="0" smtClean="0"/>
              <a:t>Специфичность </a:t>
            </a:r>
            <a:r>
              <a:rPr lang="ru-RU" dirty="0"/>
              <a:t>это некоторая условная величина, вычисляемая следующим </a:t>
            </a:r>
            <a:r>
              <a:rPr lang="ru-RU" dirty="0" smtClean="0"/>
              <a:t>образом:</a:t>
            </a:r>
            <a:endParaRPr lang="en-US" dirty="0" smtClean="0"/>
          </a:p>
          <a:p>
            <a:pPr marL="502920" indent="-457200">
              <a:buFont typeface="+mj-lt"/>
              <a:buAutoNum type="arabicPeriod"/>
            </a:pPr>
            <a:r>
              <a:rPr lang="ru-RU" dirty="0"/>
              <a:t>з</a:t>
            </a:r>
            <a:r>
              <a:rPr lang="ru-RU" dirty="0" smtClean="0"/>
              <a:t>а </a:t>
            </a:r>
            <a:r>
              <a:rPr lang="ru-RU" dirty="0"/>
              <a:t>каждый идентификатор (в дальнейшем будем обозначать их количество через a) начисляется 100, </a:t>
            </a:r>
            <a:endParaRPr lang="ru-RU" dirty="0" smtClean="0"/>
          </a:p>
          <a:p>
            <a:pPr marL="502920" indent="-457200">
              <a:buFont typeface="+mj-lt"/>
              <a:buAutoNum type="arabicPeriod"/>
            </a:pPr>
            <a:r>
              <a:rPr lang="ru-RU" dirty="0" smtClean="0"/>
              <a:t>за </a:t>
            </a:r>
            <a:r>
              <a:rPr lang="ru-RU" dirty="0"/>
              <a:t>каждый класс и </a:t>
            </a:r>
            <a:r>
              <a:rPr lang="ru-RU" dirty="0" err="1"/>
              <a:t>псевдокласс</a:t>
            </a:r>
            <a:r>
              <a:rPr lang="ru-RU" dirty="0"/>
              <a:t> (b) начисляется 10, </a:t>
            </a:r>
            <a:endParaRPr lang="ru-RU" dirty="0" smtClean="0"/>
          </a:p>
          <a:p>
            <a:pPr marL="502920" indent="-457200">
              <a:buFont typeface="+mj-lt"/>
              <a:buAutoNum type="arabicPeriod"/>
            </a:pPr>
            <a:r>
              <a:rPr lang="ru-RU" dirty="0" smtClean="0"/>
              <a:t>за </a:t>
            </a:r>
            <a:r>
              <a:rPr lang="ru-RU" dirty="0"/>
              <a:t>каждый селектор тега и </a:t>
            </a:r>
            <a:r>
              <a:rPr lang="ru-RU" dirty="0" err="1"/>
              <a:t>псевдоэлемент</a:t>
            </a:r>
            <a:r>
              <a:rPr lang="ru-RU" dirty="0"/>
              <a:t> (c) начисляется 1. </a:t>
            </a:r>
            <a:endParaRPr lang="ru-RU" dirty="0" smtClean="0"/>
          </a:p>
          <a:p>
            <a:pPr marL="45720" indent="0">
              <a:buNone/>
            </a:pPr>
            <a:r>
              <a:rPr lang="ru-RU" dirty="0" smtClean="0"/>
              <a:t>Складывая </a:t>
            </a:r>
            <a:r>
              <a:rPr lang="ru-RU" dirty="0"/>
              <a:t>указанные значения в определённом порядке, получим значение специфичности для данного селектора.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3232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Специфичность - примеры</a:t>
            </a:r>
            <a:endParaRPr lang="ru-RU" b="1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3120" y="2150386"/>
            <a:ext cx="9705583" cy="2937662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1634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372853"/>
            <a:ext cx="9875520" cy="1356360"/>
          </a:xfrm>
        </p:spPr>
        <p:txBody>
          <a:bodyPr/>
          <a:lstStyle/>
          <a:p>
            <a:r>
              <a:rPr lang="ru-RU" b="1" dirty="0" smtClean="0"/>
              <a:t>Группировка селекторов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1729213"/>
            <a:ext cx="9872871" cy="4753068"/>
          </a:xfrm>
        </p:spPr>
        <p:txBody>
          <a:bodyPr numCol="2">
            <a:normAutofit fontScale="25000" lnSpcReduction="20000"/>
          </a:bodyPr>
          <a:lstStyle/>
          <a:p>
            <a:pPr marL="45720" indent="0">
              <a:buNone/>
            </a:pP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h1{</a:t>
            </a:r>
          </a:p>
          <a:p>
            <a:pPr marL="45720" indent="0">
              <a:buNone/>
            </a:pP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9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color:red</a:t>
            </a: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" indent="0">
              <a:buNone/>
            </a:pP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font-size: 18pt;</a:t>
            </a:r>
            <a:endParaRPr lang="en-US" sz="9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" indent="0">
              <a:buNone/>
            </a:pP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h2{</a:t>
            </a:r>
            <a:endParaRPr lang="en-US" sz="9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9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color:red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" indent="0">
              <a:buNone/>
            </a:pP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    font-size: </a:t>
            </a: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16pt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" indent="0">
              <a:buNone/>
            </a:pP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" indent="0">
              <a:buNone/>
            </a:pP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h3{</a:t>
            </a:r>
            <a:endParaRPr lang="en-US" sz="9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9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color:red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" indent="0">
              <a:buNone/>
            </a:pP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    font-size: </a:t>
            </a: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14pt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" indent="0">
              <a:buNone/>
            </a:pP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" indent="0">
              <a:buNone/>
            </a:pPr>
            <a:endParaRPr lang="en-US" sz="9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en-US" sz="9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en-US" sz="9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en-US" sz="9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h1, h2, h3{</a:t>
            </a:r>
          </a:p>
          <a:p>
            <a:pPr marL="45720" indent="0">
              <a:buNone/>
            </a:pP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color:red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" indent="0">
              <a:buNone/>
            </a:pP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" indent="0">
              <a:buNone/>
            </a:pP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h1{</a:t>
            </a:r>
          </a:p>
          <a:p>
            <a:pPr marL="45720" indent="0">
              <a:buNone/>
            </a:pP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font-size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: 18pt;</a:t>
            </a:r>
          </a:p>
          <a:p>
            <a:pPr marL="45720" indent="0">
              <a:buNone/>
            </a:pP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" indent="0">
              <a:buNone/>
            </a:pP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h2{</a:t>
            </a:r>
          </a:p>
          <a:p>
            <a:pPr marL="45720" indent="0">
              <a:buNone/>
            </a:pP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font-size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: 16pt;</a:t>
            </a:r>
          </a:p>
          <a:p>
            <a:pPr marL="45720" indent="0">
              <a:buNone/>
            </a:pP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" indent="0">
              <a:buNone/>
            </a:pPr>
            <a:r>
              <a:rPr lang="en-US" sz="9600" smtClean="0">
                <a:latin typeface="Courier New" panose="02070309020205020404" pitchFamily="49" charset="0"/>
                <a:cs typeface="Courier New" panose="02070309020205020404" pitchFamily="49" charset="0"/>
              </a:rPr>
              <a:t>h3{</a:t>
            </a:r>
            <a:endParaRPr lang="en-US" sz="9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font-size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: 14pt;</a:t>
            </a:r>
          </a:p>
          <a:p>
            <a:pPr marL="45720" indent="0">
              <a:buNone/>
            </a:pP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9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ru-RU" dirty="0"/>
          </a:p>
          <a:p>
            <a:pPr marL="4572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4427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Задание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Для всех ссылок на странице задайте оформление и  назначьте </a:t>
            </a:r>
            <a:r>
              <a:rPr lang="en-US" dirty="0"/>
              <a:t>hover</a:t>
            </a:r>
            <a:r>
              <a:rPr lang="ru-RU" dirty="0"/>
              <a:t>-эффект и </a:t>
            </a:r>
            <a:r>
              <a:rPr lang="en-US" dirty="0"/>
              <a:t>focus-</a:t>
            </a:r>
            <a:r>
              <a:rPr lang="ru-RU" dirty="0"/>
              <a:t>эффект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Для пунктов главного меню создайте </a:t>
            </a:r>
            <a:r>
              <a:rPr lang="en-US" dirty="0" smtClean="0"/>
              <a:t>hover</a:t>
            </a:r>
            <a:r>
              <a:rPr lang="ru-RU" dirty="0" smtClean="0"/>
              <a:t>-эффект и </a:t>
            </a:r>
            <a:r>
              <a:rPr lang="en-US" dirty="0" smtClean="0"/>
              <a:t>focus-</a:t>
            </a:r>
            <a:r>
              <a:rPr lang="ru-RU" dirty="0" smtClean="0"/>
              <a:t>эффект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Оформите ссылки раздела Мои статьи (главная страница), также назначьте </a:t>
            </a:r>
            <a:r>
              <a:rPr lang="en-US" dirty="0"/>
              <a:t>hover</a:t>
            </a:r>
            <a:r>
              <a:rPr lang="ru-RU" dirty="0"/>
              <a:t>-эффект и </a:t>
            </a:r>
            <a:r>
              <a:rPr lang="en-US" dirty="0"/>
              <a:t>focus-</a:t>
            </a:r>
            <a:r>
              <a:rPr lang="ru-RU" dirty="0" smtClean="0"/>
              <a:t>эффект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С помощью </a:t>
            </a:r>
            <a:r>
              <a:rPr lang="ru-RU" dirty="0" err="1" smtClean="0"/>
              <a:t>псевдокласов</a:t>
            </a:r>
            <a:r>
              <a:rPr lang="ru-RU" dirty="0" smtClean="0"/>
              <a:t> реализуйте чересстрочное оформление списка </a:t>
            </a:r>
            <a:r>
              <a:rPr lang="ru-RU" dirty="0"/>
              <a:t>Мои статьи (главная страница)</a:t>
            </a:r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51056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Задание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5"/>
            </a:pPr>
            <a:r>
              <a:rPr lang="ru-RU" dirty="0" smtClean="0"/>
              <a:t>В списке Мои статьи (Главная страница) элементу «Список терминов» добавьте </a:t>
            </a:r>
            <a:r>
              <a:rPr lang="ru-RU" dirty="0" err="1" smtClean="0"/>
              <a:t>псевдоэлемент</a:t>
            </a:r>
            <a:r>
              <a:rPr lang="ru-RU" dirty="0" smtClean="0"/>
              <a:t> (</a:t>
            </a:r>
            <a:r>
              <a:rPr lang="en-US" dirty="0" smtClean="0"/>
              <a:t>before </a:t>
            </a:r>
            <a:r>
              <a:rPr lang="ru-RU" dirty="0" smtClean="0"/>
              <a:t>или </a:t>
            </a:r>
            <a:r>
              <a:rPr lang="en-US" dirty="0" smtClean="0"/>
              <a:t>after</a:t>
            </a:r>
            <a:r>
              <a:rPr lang="ru-RU" dirty="0" smtClean="0"/>
              <a:t>)</a:t>
            </a:r>
            <a:r>
              <a:rPr lang="en-US" dirty="0" smtClean="0"/>
              <a:t> </a:t>
            </a:r>
            <a:r>
              <a:rPr lang="ru-RU" dirty="0" smtClean="0"/>
              <a:t>с текстом «Важно!». Оформите этот контент границей, фоном, цветом текста и т.д.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ru-RU" dirty="0"/>
              <a:t>На всех страницах со статьями первые строки параграфов оформите разряженным текстом</a:t>
            </a:r>
            <a:r>
              <a:rPr lang="ru-RU" dirty="0" smtClean="0"/>
              <a:t>.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ru-RU" dirty="0" smtClean="0"/>
              <a:t>Создайте (измените) статью, включите в нее параграфы на русском и английском языках. Создайте стили для параграфов на английском языке (например, измените начертание) с помощью </a:t>
            </a:r>
            <a:r>
              <a:rPr lang="ru-RU" dirty="0" err="1" smtClean="0"/>
              <a:t>псевдокласса</a:t>
            </a:r>
            <a:r>
              <a:rPr lang="ru-RU" dirty="0" smtClean="0"/>
              <a:t> </a:t>
            </a:r>
            <a:r>
              <a:rPr lang="en-US" dirty="0" err="1" smtClean="0"/>
              <a:t>lang</a:t>
            </a:r>
            <a:endParaRPr lang="ru-RU" dirty="0"/>
          </a:p>
          <a:p>
            <a:pPr marL="514350" indent="-514350">
              <a:buFont typeface="+mj-lt"/>
              <a:buAutoNum type="arabicPeriod" startAt="5"/>
            </a:pPr>
            <a:endParaRPr lang="ru-RU" dirty="0" smtClean="0"/>
          </a:p>
          <a:p>
            <a:pPr marL="514350" indent="-514350">
              <a:buFont typeface="+mj-lt"/>
              <a:buAutoNum type="arabicPeriod" startAt="5"/>
            </a:pPr>
            <a:endParaRPr lang="ru-RU" dirty="0" smtClean="0"/>
          </a:p>
          <a:p>
            <a:pPr marL="514350" indent="-514350">
              <a:buFont typeface="+mj-lt"/>
              <a:buAutoNum type="arabicPeriod" startAt="5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62019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Задание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8"/>
            </a:pPr>
            <a:r>
              <a:rPr lang="ru-RU" dirty="0" smtClean="0"/>
              <a:t>С помощью селекторов потомков оформите текст раздела Обо мне (главная страница), например, измените цвет текста или добавьте фоновый цвет и т.д.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ru-RU" dirty="0"/>
              <a:t>С помощью селекторов потомков оформите </a:t>
            </a:r>
            <a:r>
              <a:rPr lang="ru-RU" dirty="0" smtClean="0"/>
              <a:t>иконки в разделе футера, </a:t>
            </a:r>
            <a:r>
              <a:rPr lang="ru-RU" dirty="0"/>
              <a:t>например, </a:t>
            </a:r>
            <a:r>
              <a:rPr lang="ru-RU" dirty="0" smtClean="0"/>
              <a:t>добавьте рамку.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ru-RU" dirty="0" smtClean="0"/>
              <a:t>С помощью соседних селекторов реализуйте внешний отступ сверху для параграфов, которые идут сразу за картинкой.</a:t>
            </a:r>
            <a:endParaRPr lang="ru-RU" dirty="0"/>
          </a:p>
          <a:p>
            <a:pPr marL="514350" indent="-514350">
              <a:buFont typeface="+mj-lt"/>
              <a:buAutoNum type="arabicPeriod" startAt="8"/>
            </a:pPr>
            <a:endParaRPr lang="ru-RU" dirty="0" smtClean="0"/>
          </a:p>
          <a:p>
            <a:pPr marL="514350" indent="-514350">
              <a:buFont typeface="+mj-lt"/>
              <a:buAutoNum type="arabicPeriod" startAt="8"/>
            </a:pPr>
            <a:endParaRPr lang="ru-RU" dirty="0" smtClean="0"/>
          </a:p>
          <a:p>
            <a:pPr marL="514350" indent="-514350">
              <a:buFont typeface="+mj-lt"/>
              <a:buAutoNum type="arabicPeriod" startAt="8"/>
            </a:pPr>
            <a:endParaRPr lang="ru-RU" dirty="0" smtClean="0"/>
          </a:p>
          <a:p>
            <a:pPr marL="514350" indent="-514350">
              <a:buFont typeface="+mj-lt"/>
              <a:buAutoNum type="arabicPeriod" startAt="8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255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rabicPeriod" startAt="9"/>
            </a:pPr>
            <a:r>
              <a:rPr lang="ru-RU" dirty="0"/>
              <a:t>Рассчитайте специфичность следующих правил:</a:t>
            </a:r>
          </a:p>
          <a:p>
            <a:pPr lvl="1"/>
            <a:r>
              <a:rPr lang="ru-RU" dirty="0" err="1">
                <a:latin typeface="Consolas" panose="020B0609020204030204" pitchFamily="49" charset="0"/>
                <a:cs typeface="Consolas" panose="020B0609020204030204" pitchFamily="49" charset="0"/>
              </a:rPr>
              <a:t>body</a:t>
            </a:r>
            <a:endParaRPr lang="ru-RU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ru-RU" dirty="0" err="1">
                <a:latin typeface="Consolas" panose="020B0609020204030204" pitchFamily="49" charset="0"/>
                <a:cs typeface="Consolas" panose="020B0609020204030204" pitchFamily="49" charset="0"/>
              </a:rPr>
              <a:t>pink</a:t>
            </a:r>
            <a:endParaRPr lang="ru-RU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ru-RU" dirty="0" err="1">
                <a:latin typeface="Consolas" panose="020B0609020204030204" pitchFamily="49" charset="0"/>
                <a:cs typeface="Consolas" panose="020B0609020204030204" pitchFamily="49" charset="0"/>
              </a:rPr>
              <a:t>logo</a:t>
            </a:r>
            <a:endParaRPr lang="ru-RU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ru-RU" dirty="0" err="1">
                <a:latin typeface="Consolas" panose="020B0609020204030204" pitchFamily="49" charset="0"/>
                <a:cs typeface="Consolas" panose="020B0609020204030204" pitchFamily="49" charset="0"/>
              </a:rPr>
              <a:t>mainnav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lang="ru-RU" dirty="0" err="1">
                <a:latin typeface="Consolas" panose="020B0609020204030204" pitchFamily="49" charset="0"/>
                <a:cs typeface="Consolas" panose="020B0609020204030204" pitchFamily="49" charset="0"/>
              </a:rPr>
              <a:t>ul</a:t>
            </a:r>
            <a:endParaRPr lang="ru-RU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ru-RU" dirty="0" err="1">
                <a:latin typeface="Consolas" panose="020B0609020204030204" pitchFamily="49" charset="0"/>
                <a:cs typeface="Consolas" panose="020B0609020204030204" pitchFamily="49" charset="0"/>
              </a:rPr>
              <a:t>mainnav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 .</a:t>
            </a:r>
            <a:r>
              <a:rPr lang="ru-RU" dirty="0" err="1">
                <a:latin typeface="Consolas" panose="020B0609020204030204" pitchFamily="49" charset="0"/>
                <a:cs typeface="Consolas" panose="020B0609020204030204" pitchFamily="49" charset="0"/>
              </a:rPr>
              <a:t>active</a:t>
            </a:r>
            <a:endParaRPr lang="ru-RU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ru-RU" dirty="0" err="1">
                <a:latin typeface="Consolas" panose="020B0609020204030204" pitchFamily="49" charset="0"/>
                <a:cs typeface="Consolas" panose="020B0609020204030204" pitchFamily="49" charset="0"/>
              </a:rPr>
              <a:t>mainnav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 a:hover</a:t>
            </a:r>
          </a:p>
          <a:p>
            <a:pPr lvl="1"/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ru-RU" dirty="0" err="1">
                <a:latin typeface="Consolas" panose="020B0609020204030204" pitchFamily="49" charset="0"/>
                <a:cs typeface="Consolas" panose="020B0609020204030204" pitchFamily="49" charset="0"/>
              </a:rPr>
              <a:t>mainnav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li.active</a:t>
            </a:r>
            <a:endParaRPr lang="ru-RU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24825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4809</TotalTime>
  <Words>1593</Words>
  <Application>Microsoft Office PowerPoint</Application>
  <PresentationFormat>Широкоэкранный</PresentationFormat>
  <Paragraphs>327</Paragraphs>
  <Slides>29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4" baseType="lpstr">
      <vt:lpstr>Arial</vt:lpstr>
      <vt:lpstr>Calibri</vt:lpstr>
      <vt:lpstr>Consolas</vt:lpstr>
      <vt:lpstr>Courier New</vt:lpstr>
      <vt:lpstr>Тема Office</vt:lpstr>
      <vt:lpstr>КАСКАДНЫЕ ТАБЛИЦЫ СТИЛЕЙ</vt:lpstr>
      <vt:lpstr>Структура CSS-стиля (правила)</vt:lpstr>
      <vt:lpstr>Селектор</vt:lpstr>
      <vt:lpstr>Пример</vt:lpstr>
      <vt:lpstr>Какого цвета будет каждый параграф</vt:lpstr>
      <vt:lpstr>Простые и составные свойства</vt:lpstr>
      <vt:lpstr>Свойства CSS</vt:lpstr>
      <vt:lpstr>Наследование</vt:lpstr>
      <vt:lpstr>Мультиклассы</vt:lpstr>
      <vt:lpstr>Типы селекторов</vt:lpstr>
      <vt:lpstr>Универсальный селектор и сброс стилей</vt:lpstr>
      <vt:lpstr>Селекторы потомков</vt:lpstr>
      <vt:lpstr>Дочерние селекторы</vt:lpstr>
      <vt:lpstr>Соседние селекторы</vt:lpstr>
      <vt:lpstr>Псевдоклассы</vt:lpstr>
      <vt:lpstr>Псевдоклассы</vt:lpstr>
      <vt:lpstr>Псевдоэлементы</vt:lpstr>
      <vt:lpstr>Псевдоэлементы</vt:lpstr>
      <vt:lpstr>@-правила (директивы)</vt:lpstr>
      <vt:lpstr>@-правила (директивы)</vt:lpstr>
      <vt:lpstr>Каскадирование</vt:lpstr>
      <vt:lpstr>Каскадирование</vt:lpstr>
      <vt:lpstr>Специфичность</vt:lpstr>
      <vt:lpstr>Специфичность - примеры</vt:lpstr>
      <vt:lpstr>Группировка селекторов</vt:lpstr>
      <vt:lpstr>Задание</vt:lpstr>
      <vt:lpstr>Задание</vt:lpstr>
      <vt:lpstr>Задание</vt:lpstr>
      <vt:lpstr>Задание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ТЕКСТ, ССЫЛКИ И ИЗОБРАЖЕНИЯ</dc:title>
  <dc:creator>Yulya</dc:creator>
  <cp:lastModifiedBy>Lector</cp:lastModifiedBy>
  <cp:revision>67</cp:revision>
  <cp:lastPrinted>2020-09-17T08:04:23Z</cp:lastPrinted>
  <dcterms:created xsi:type="dcterms:W3CDTF">2020-08-28T10:45:49Z</dcterms:created>
  <dcterms:modified xsi:type="dcterms:W3CDTF">2024-10-03T04:25:37Z</dcterms:modified>
</cp:coreProperties>
</file>