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9"/>
  </p:notesMasterIdLst>
  <p:handoutMasterIdLst>
    <p:handoutMasterId r:id="rId40"/>
  </p:handoutMasterIdLst>
  <p:sldIdLst>
    <p:sldId id="256" r:id="rId2"/>
    <p:sldId id="267" r:id="rId3"/>
    <p:sldId id="291" r:id="rId4"/>
    <p:sldId id="294" r:id="rId5"/>
    <p:sldId id="293" r:id="rId6"/>
    <p:sldId id="284" r:id="rId7"/>
    <p:sldId id="286" r:id="rId8"/>
    <p:sldId id="287" r:id="rId9"/>
    <p:sldId id="288" r:id="rId10"/>
    <p:sldId id="289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90" r:id="rId19"/>
    <p:sldId id="265" r:id="rId20"/>
    <p:sldId id="266" r:id="rId21"/>
    <p:sldId id="295" r:id="rId22"/>
    <p:sldId id="268" r:id="rId23"/>
    <p:sldId id="269" r:id="rId24"/>
    <p:sldId id="270" r:id="rId25"/>
    <p:sldId id="271" r:id="rId26"/>
    <p:sldId id="275" r:id="rId27"/>
    <p:sldId id="272" r:id="rId28"/>
    <p:sldId id="273" r:id="rId29"/>
    <p:sldId id="296" r:id="rId30"/>
    <p:sldId id="274" r:id="rId31"/>
    <p:sldId id="276" r:id="rId32"/>
    <p:sldId id="277" r:id="rId33"/>
    <p:sldId id="278" r:id="rId34"/>
    <p:sldId id="279" r:id="rId35"/>
    <p:sldId id="282" r:id="rId36"/>
    <p:sldId id="283" r:id="rId37"/>
    <p:sldId id="280" r:id="rId38"/>
  </p:sldIdLst>
  <p:sldSz cx="12192000" cy="6858000"/>
  <p:notesSz cx="6797675" cy="99250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D53D44-12EC-4D28-8836-52A87B00C4BD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C2EECC-2B97-4201-A83C-1E7DEDFAB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42081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7B3F3F-B2A2-4465-8A20-FA31795528D2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7DBDED-6D40-4693-B394-7F977BAE99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542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7DBDED-6D40-4693-B394-7F977BAE99BF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3927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1F820-DE87-4931-A31F-2B1748886BA5}" type="datetime1">
              <a:rPr lang="ru-RU" smtClean="0"/>
              <a:t>30.09.2025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0724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2D20-9AF7-4F50-A45A-B1CE21F862BB}" type="datetime1">
              <a:rPr lang="ru-RU" smtClean="0"/>
              <a:t>30.09.2025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3235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0009-3498-466B-8983-63B3F8000B1C}" type="datetime1">
              <a:rPr lang="ru-RU" smtClean="0"/>
              <a:t>30.09.2025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3660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1186-2439-478F-A967-ADA267E55F92}" type="datetime1">
              <a:rPr lang="ru-RU" smtClean="0"/>
              <a:t>30.09.2025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7472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23B8B-445D-4E66-9146-C78E3084CA12}" type="datetime1">
              <a:rPr lang="ru-RU" smtClean="0"/>
              <a:t>30.09.2025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5588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0986-0494-4092-B255-AC5B841EA922}" type="datetime1">
              <a:rPr lang="ru-RU" smtClean="0"/>
              <a:t>30.09.2025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668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AA00E-C113-4144-B29F-594873BA7668}" type="datetime1">
              <a:rPr lang="ru-RU" smtClean="0"/>
              <a:t>30.09.2025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9316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D6BD3-D77F-4E93-919E-4900348954AB}" type="datetime1">
              <a:rPr lang="ru-RU" smtClean="0"/>
              <a:t>30.09.2025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897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10D73-3792-40CA-BF55-82DD02FD33AA}" type="datetime1">
              <a:rPr lang="ru-RU" smtClean="0"/>
              <a:t>30.09.2025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8950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FD0A-79CB-4D3C-92FF-40D06F7BAE57}" type="datetime1">
              <a:rPr lang="ru-RU" smtClean="0"/>
              <a:t>30.09.2025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1410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FBD94-D602-4CE4-9BCA-D8E9726F07F7}" type="datetime1">
              <a:rPr lang="ru-RU" smtClean="0"/>
              <a:t>30.09.2025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4997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06C6A-E103-4261-811B-77877848F9D7}" type="datetime1">
              <a:rPr lang="ru-RU" smtClean="0"/>
              <a:t>30.09.2025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8F1E4-173F-407F-A866-EA3BAEFB50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900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colorscheme.ru/html-colors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fonts.google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htmlbook.ru/css/list-style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fontawesome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ixlr.com/" TargetMode="External"/><Relationship Id="rId5" Type="http://schemas.openxmlformats.org/officeDocument/2006/relationships/hyperlink" Target="https://squoosh.app/" TargetMode="External"/><Relationship Id="rId4" Type="http://schemas.openxmlformats.org/officeDocument/2006/relationships/hyperlink" Target="https://icons.getbootstrap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5400" b="1" dirty="0" smtClean="0"/>
              <a:t>ТЕКСТ, ССЫЛКИ И ИЗОБРАЖЕНИЯ</a:t>
            </a:r>
            <a:endParaRPr lang="ru-RU" sz="5400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Мухина Юлия </a:t>
            </a:r>
            <a:r>
              <a:rPr lang="ru-RU" smtClean="0"/>
              <a:t>Рамилевна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5991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ТЕКСТ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055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Теги для текста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1801091"/>
            <a:ext cx="10391115" cy="4294909"/>
          </a:xfrm>
        </p:spPr>
        <p:txBody>
          <a:bodyPr>
            <a:normAutofit fontScale="77500" lnSpcReduction="20000"/>
          </a:bodyPr>
          <a:lstStyle/>
          <a:p>
            <a:pPr marL="0" lvl="0" indent="0" algn="just">
              <a:lnSpc>
                <a:spcPct val="150000"/>
              </a:lnSpc>
              <a:buNone/>
            </a:pP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&lt;p&gt;</a:t>
            </a:r>
            <a:r>
              <a:rPr lang="ru-RU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Тэг-выделитель для &lt;</a:t>
            </a: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mark&gt;</a:t>
            </a:r>
            <a:r>
              <a:rPr lang="ru-RU" sz="3100" dirty="0">
                <a:solidFill>
                  <a:prstClr val="black"/>
                </a:solidFill>
                <a:highlight>
                  <a:srgbClr val="C0C0C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подсветка</a:t>
            </a:r>
            <a:r>
              <a:rPr lang="ru-RU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mark&gt; </a:t>
            </a:r>
            <a:r>
              <a:rPr lang="ru-RU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текста&lt;/</a:t>
            </a: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p&gt;</a:t>
            </a:r>
          </a:p>
          <a:p>
            <a:pPr marL="0" indent="0">
              <a:buNone/>
            </a:pP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&lt;p&gt;&lt;del&gt;</a:t>
            </a:r>
            <a:r>
              <a:rPr lang="ru-RU" sz="3100" strike="sngStrike" dirty="0">
                <a:latin typeface="Courier New" panose="02070309020205020404" pitchFamily="49" charset="0"/>
                <a:cs typeface="Courier New" panose="02070309020205020404" pitchFamily="49" charset="0"/>
              </a:rPr>
              <a:t>Удаленный текст</a:t>
            </a:r>
            <a:r>
              <a:rPr lang="ru-RU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del&gt;&lt;/p&gt;</a:t>
            </a:r>
          </a:p>
          <a:p>
            <a:pPr marL="0" indent="0">
              <a:buNone/>
            </a:pP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&lt;p&gt;&lt;s&gt;</a:t>
            </a:r>
            <a:r>
              <a:rPr lang="ru-RU" sz="3100" strike="sngStrike" dirty="0">
                <a:latin typeface="Courier New" panose="02070309020205020404" pitchFamily="49" charset="0"/>
                <a:cs typeface="Courier New" panose="02070309020205020404" pitchFamily="49" charset="0"/>
              </a:rPr>
              <a:t>Зачеркнутый</a:t>
            </a:r>
            <a:r>
              <a:rPr lang="ru-RU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s&gt;&lt;/p&gt;</a:t>
            </a:r>
          </a:p>
          <a:p>
            <a:pPr marL="0" indent="0">
              <a:buNone/>
            </a:pP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&lt;p&gt;&lt;ins&gt;</a:t>
            </a:r>
            <a:r>
              <a:rPr lang="ru-RU" sz="31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Строка - дополнение к документу</a:t>
            </a:r>
            <a:r>
              <a:rPr lang="ru-RU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ins&gt;&lt;/p&gt;</a:t>
            </a:r>
          </a:p>
          <a:p>
            <a:pPr marL="0" indent="0">
              <a:buNone/>
            </a:pP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&lt;p&gt;&lt;u&gt;</a:t>
            </a:r>
            <a:r>
              <a:rPr lang="ru-RU" sz="31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Подчеркнутая</a:t>
            </a:r>
            <a:r>
              <a:rPr lang="ru-RU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u&gt;&lt;/p&gt;</a:t>
            </a:r>
          </a:p>
          <a:p>
            <a:pPr marL="0" indent="0">
              <a:buNone/>
            </a:pPr>
            <a:r>
              <a:rPr lang="en-US" sz="3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p&gt;&lt;strong&gt;</a:t>
            </a:r>
            <a:r>
              <a:rPr lang="ru-RU" sz="3100" b="1" dirty="0">
                <a:latin typeface="Courier New" panose="02070309020205020404" pitchFamily="49" charset="0"/>
                <a:cs typeface="Courier New" panose="02070309020205020404" pitchFamily="49" charset="0"/>
              </a:rPr>
              <a:t>Жирный текст</a:t>
            </a:r>
            <a:r>
              <a:rPr lang="ru-RU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strong&gt;&lt;/p</a:t>
            </a:r>
            <a:r>
              <a:rPr lang="en-US" sz="3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31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&lt;p</a:t>
            </a:r>
            <a:r>
              <a:rPr lang="en-US" sz="3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&gt;&lt;b&gt;</a:t>
            </a:r>
            <a:r>
              <a:rPr lang="ru-RU" sz="3100" b="1" dirty="0">
                <a:latin typeface="Courier New" panose="02070309020205020404" pitchFamily="49" charset="0"/>
                <a:cs typeface="Courier New" panose="02070309020205020404" pitchFamily="49" charset="0"/>
              </a:rPr>
              <a:t>Жирный текст</a:t>
            </a:r>
            <a:r>
              <a:rPr lang="ru-RU" sz="3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3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b&gt;&lt;/</a:t>
            </a: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3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3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&lt;p&gt;&lt;</a:t>
            </a:r>
            <a:r>
              <a:rPr lang="en-US" sz="3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</a:t>
            </a: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sz="3100" i="1" dirty="0">
                <a:latin typeface="Courier New" panose="02070309020205020404" pitchFamily="49" charset="0"/>
                <a:cs typeface="Courier New" panose="02070309020205020404" pitchFamily="49" charset="0"/>
              </a:rPr>
              <a:t>Курсив</a:t>
            </a:r>
            <a:r>
              <a:rPr lang="ru-RU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3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</a:t>
            </a: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&gt;&lt;/p</a:t>
            </a:r>
            <a:r>
              <a:rPr lang="en-US" sz="3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&lt;p</a:t>
            </a:r>
            <a:r>
              <a:rPr lang="en-US" sz="3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&gt;&lt;</a:t>
            </a:r>
            <a:r>
              <a:rPr lang="en-US" sz="31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3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sz="3100" i="1" dirty="0">
                <a:latin typeface="Courier New" panose="02070309020205020404" pitchFamily="49" charset="0"/>
                <a:cs typeface="Courier New" panose="02070309020205020404" pitchFamily="49" charset="0"/>
              </a:rPr>
              <a:t>Курсив</a:t>
            </a:r>
            <a:r>
              <a:rPr lang="ru-RU" sz="3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31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3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&gt;&lt;/</a:t>
            </a: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p&gt;</a:t>
            </a:r>
            <a:endParaRPr lang="ru-RU" sz="3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/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3740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Теги для текста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&lt;p&gt;x&lt;sup&gt;2&lt;/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sup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&gt;&lt;/p&gt;   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baseline="30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marL="45720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p&gt;H&lt;sub&gt;2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sub&gt;O&lt;/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p&gt;   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r>
              <a:rPr lang="en-US" sz="2400" baseline="-25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7445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Теги для текста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1825625"/>
            <a:ext cx="10867931" cy="4351338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&lt;q&gt;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цитата в тексте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&lt;/q&gt;</a:t>
            </a: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blockquote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Блок с цитатой</a:t>
            </a:r>
          </a:p>
          <a:p>
            <a:pPr marL="4572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&lt;cite&gt;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источник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&lt;/cite&gt;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blockquote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&lt;time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datetime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2020-08-19T10:00"&gt;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10:00 19.08.2020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address&gt;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улица Пушкина, дом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Колотушкина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&lt;/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address&gt;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3620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CSS</a:t>
            </a:r>
            <a:r>
              <a:rPr lang="ru-RU" b="1" dirty="0" smtClean="0"/>
              <a:t> правила для текста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font-size:16px;</a:t>
            </a: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line-height: normal; 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font-family: "PT Sans", "Arial", sans-serif</a:t>
            </a:r>
            <a:r>
              <a:rPr lang="fr-FR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font-weight: bold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text-align: center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/* left, right, justify */</a:t>
            </a: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vertical-align: middle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/* top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bottom, baseline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color: black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" indent="0">
              <a:buNone/>
            </a:pP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3684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CSS</a:t>
            </a:r>
            <a:r>
              <a:rPr lang="ru-RU" b="1" dirty="0" smtClean="0"/>
              <a:t> правила для текста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text-decoration: underline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font-style:italic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text-transform: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uppercase;</a:t>
            </a:r>
          </a:p>
          <a:p>
            <a:pPr marL="45720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padding</a:t>
            </a: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margin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284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Ед</a:t>
            </a:r>
            <a:r>
              <a:rPr lang="ru-RU" b="1" dirty="0"/>
              <a:t>и</a:t>
            </a:r>
            <a:r>
              <a:rPr lang="ru-RU" b="1" dirty="0" smtClean="0"/>
              <a:t>ницы измерения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ru-RU" b="1" dirty="0" smtClean="0"/>
              <a:t>Абсолютные (</a:t>
            </a:r>
            <a:r>
              <a:rPr lang="en-US" b="1" dirty="0" err="1" smtClean="0"/>
              <a:t>px</a:t>
            </a:r>
            <a:r>
              <a:rPr lang="en-US" b="1" dirty="0" smtClean="0"/>
              <a:t>, cm, mm </a:t>
            </a:r>
            <a:r>
              <a:rPr lang="ru-RU" b="1" dirty="0" smtClean="0"/>
              <a:t>и </a:t>
            </a:r>
            <a:r>
              <a:rPr lang="ru-RU" b="1" dirty="0" err="1" smtClean="0"/>
              <a:t>др</a:t>
            </a:r>
            <a:r>
              <a:rPr lang="ru-RU" b="1" dirty="0" smtClean="0"/>
              <a:t>)</a:t>
            </a: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font-size: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1cm;</a:t>
            </a: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font-size: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38px;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width:500px;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ru-RU" b="1" dirty="0" smtClean="0"/>
              <a:t>Относительные</a:t>
            </a:r>
            <a:r>
              <a:rPr lang="en-US" b="1" dirty="0" smtClean="0"/>
              <a:t> (</a:t>
            </a:r>
            <a:r>
              <a:rPr lang="en-US" b="1" dirty="0" err="1" smtClean="0"/>
              <a:t>em</a:t>
            </a:r>
            <a:r>
              <a:rPr lang="en-US" b="1" dirty="0" smtClean="0"/>
              <a:t>, rem, %</a:t>
            </a:r>
            <a:r>
              <a:rPr lang="ru-RU" b="1" dirty="0" smtClean="0"/>
              <a:t> и </a:t>
            </a:r>
            <a:r>
              <a:rPr lang="ru-RU" b="1" dirty="0" err="1" smtClean="0"/>
              <a:t>др</a:t>
            </a:r>
            <a:r>
              <a:rPr lang="en-US" b="1" dirty="0" smtClean="0"/>
              <a:t>)</a:t>
            </a: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font-size: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2em;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font-size: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2rem;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width:50%;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en-US" dirty="0" smtClean="0"/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914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Цвета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02920" indent="-457200">
              <a:buFont typeface="+mj-lt"/>
              <a:buAutoNum type="arabicPeriod"/>
            </a:pPr>
            <a:r>
              <a:rPr lang="ru-RU" sz="2400" dirty="0" smtClean="0"/>
              <a:t>Табличные цвета - </a:t>
            </a:r>
            <a:r>
              <a:rPr lang="en-US" sz="2400" dirty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colorscheme.ru/html-colors.html</a:t>
            </a:r>
            <a:endParaRPr lang="ru-RU" sz="2400" dirty="0" smtClean="0"/>
          </a:p>
          <a:p>
            <a:pPr marL="502920" indent="-457200">
              <a:buFont typeface="+mj-lt"/>
              <a:buAutoNum type="arabicPeriod"/>
            </a:pPr>
            <a:r>
              <a:rPr lang="ru-RU" sz="2400" dirty="0" smtClean="0"/>
              <a:t>Шестнадцатеричный код -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#RRGGBB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или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#RGB: #e0b743, #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ffbb00 (#fb0)</a:t>
            </a:r>
          </a:p>
          <a:p>
            <a:pPr marL="502920" indent="-457200">
              <a:buFont typeface="+mj-lt"/>
              <a:buAutoNum type="arabicPeriod"/>
            </a:pPr>
            <a:r>
              <a:rPr lang="ru-RU" sz="2400" dirty="0" smtClean="0"/>
              <a:t>Функция </a:t>
            </a:r>
            <a:r>
              <a:rPr lang="en-US" sz="2400" dirty="0" err="1" smtClean="0"/>
              <a:t>rgb</a:t>
            </a:r>
            <a:r>
              <a:rPr lang="en-US" sz="2400" dirty="0" smtClean="0"/>
              <a:t>(r, g, b) –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rgb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(255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0, 0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ru-RU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02920" indent="-457200">
              <a:buFont typeface="+mj-lt"/>
              <a:buAutoNum type="arabicPeriod"/>
            </a:pPr>
            <a:r>
              <a:rPr lang="ru-RU" sz="2400" dirty="0" smtClean="0"/>
              <a:t>Функция </a:t>
            </a:r>
            <a:r>
              <a:rPr lang="en-US" sz="2400" dirty="0" err="1" smtClean="0"/>
              <a:t>rgba</a:t>
            </a:r>
            <a:r>
              <a:rPr lang="en-US" sz="2400" dirty="0" smtClean="0"/>
              <a:t>(r</a:t>
            </a:r>
            <a:r>
              <a:rPr lang="en-US" sz="2400" dirty="0"/>
              <a:t>, g, </a:t>
            </a:r>
            <a:r>
              <a:rPr lang="en-US" sz="2400" dirty="0" smtClean="0"/>
              <a:t>b, a) </a:t>
            </a:r>
            <a:r>
              <a:rPr lang="en-US" sz="2400" dirty="0"/>
              <a:t>– </a:t>
            </a:r>
            <a:r>
              <a:rPr lang="en-US" sz="2400" dirty="0" smtClean="0"/>
              <a:t>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rgba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(0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0, 0, 0.5)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2653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Шрифты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02920" indent="-457200">
              <a:buFont typeface="+mj-lt"/>
              <a:buAutoNum type="arabicPeriod"/>
            </a:pPr>
            <a:r>
              <a:rPr lang="en-US" sz="2400" dirty="0"/>
              <a:t>serif — </a:t>
            </a:r>
            <a:r>
              <a:rPr lang="ru-RU" sz="2400" dirty="0"/>
              <a:t>шрифты с засечками (</a:t>
            </a:r>
            <a:r>
              <a:rPr lang="ru-RU" sz="2400" dirty="0" err="1"/>
              <a:t>антиквенные</a:t>
            </a:r>
            <a:r>
              <a:rPr lang="ru-RU" sz="2400" dirty="0"/>
              <a:t>), типа </a:t>
            </a:r>
            <a:r>
              <a:rPr lang="en-US" sz="2400" dirty="0"/>
              <a:t>Times;</a:t>
            </a:r>
          </a:p>
          <a:p>
            <a:pPr marL="502920" indent="-457200">
              <a:buFont typeface="+mj-lt"/>
              <a:buAutoNum type="arabicPeriod"/>
            </a:pPr>
            <a:r>
              <a:rPr lang="en-US" sz="2400" dirty="0"/>
              <a:t>sans-serif — </a:t>
            </a:r>
            <a:r>
              <a:rPr lang="ru-RU" sz="2400" dirty="0"/>
              <a:t>рубленные шрифты (шрифты без засечек или гротески), типичный представитель — </a:t>
            </a:r>
            <a:r>
              <a:rPr lang="en-US" sz="2400" dirty="0"/>
              <a:t>Arial;</a:t>
            </a:r>
          </a:p>
          <a:p>
            <a:pPr marL="502920" indent="-457200">
              <a:buFont typeface="+mj-lt"/>
              <a:buAutoNum type="arabicPeriod"/>
            </a:pPr>
            <a:r>
              <a:rPr lang="en-US" sz="2400" dirty="0"/>
              <a:t>cursive — </a:t>
            </a:r>
            <a:r>
              <a:rPr lang="ru-RU" sz="2400" dirty="0"/>
              <a:t>курсивные шрифты;</a:t>
            </a:r>
          </a:p>
          <a:p>
            <a:pPr marL="502920" indent="-457200">
              <a:buFont typeface="+mj-lt"/>
              <a:buAutoNum type="arabicPeriod"/>
            </a:pPr>
            <a:r>
              <a:rPr lang="en-US" sz="2400" dirty="0"/>
              <a:t>fantasy — </a:t>
            </a:r>
            <a:r>
              <a:rPr lang="ru-RU" sz="2400" dirty="0"/>
              <a:t>декоративные шрифты;</a:t>
            </a:r>
          </a:p>
          <a:p>
            <a:pPr marL="502920" indent="-457200">
              <a:buFont typeface="+mj-lt"/>
              <a:buAutoNum type="arabicPeriod"/>
            </a:pPr>
            <a:r>
              <a:rPr lang="en-US" sz="2400" dirty="0"/>
              <a:t>monospace — </a:t>
            </a:r>
            <a:r>
              <a:rPr lang="ru-RU" sz="2400" dirty="0" err="1"/>
              <a:t>моноширинные</a:t>
            </a:r>
            <a:r>
              <a:rPr lang="ru-RU" sz="2400" dirty="0"/>
              <a:t> шрифты, ширина каждого символа в таком семействе одинакова (шрифт </a:t>
            </a:r>
            <a:r>
              <a:rPr lang="en-US" sz="2400" dirty="0"/>
              <a:t>Courier</a:t>
            </a:r>
            <a:r>
              <a:rPr lang="en-US" sz="2400" dirty="0" smtClean="0"/>
              <a:t>).</a:t>
            </a:r>
            <a:endParaRPr lang="ru-RU" sz="2400" dirty="0" smtClean="0"/>
          </a:p>
          <a:p>
            <a:pPr marL="502920" indent="-457200">
              <a:buFont typeface="+mj-lt"/>
              <a:buAutoNum type="arabicPeriod"/>
            </a:pPr>
            <a:endParaRPr lang="ru-RU" sz="2400" dirty="0"/>
          </a:p>
          <a:p>
            <a:pPr marL="45720" indent="0">
              <a:buNone/>
            </a:pPr>
            <a:r>
              <a:rPr lang="en-US" sz="2400" dirty="0"/>
              <a:t>Google Fonts - </a:t>
            </a:r>
            <a:r>
              <a:rPr lang="en-US" sz="2400" dirty="0">
                <a:hlinkClick r:id="rId2"/>
              </a:rPr>
              <a:t>https://fonts.google.com</a:t>
            </a:r>
            <a:r>
              <a:rPr lang="en-US" sz="2400" dirty="0" smtClean="0">
                <a:hlinkClick r:id="rId2"/>
              </a:rPr>
              <a:t>/</a:t>
            </a:r>
            <a:r>
              <a:rPr lang="en-US" sz="2400" dirty="0" smtClean="0"/>
              <a:t> </a:t>
            </a:r>
            <a:endParaRPr lang="en-US" sz="2400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3405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Списки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rbel" panose="020B0503020204020204" pitchFamily="34" charset="0"/>
              <a:buChar char="⁻"/>
            </a:pPr>
            <a:r>
              <a:rPr lang="ru-RU" dirty="0"/>
              <a:t>Неупорядоченные </a:t>
            </a:r>
            <a:r>
              <a:rPr lang="en-US" dirty="0" err="1"/>
              <a:t>ul</a:t>
            </a:r>
            <a:endParaRPr lang="en-US" dirty="0"/>
          </a:p>
          <a:p>
            <a:pPr>
              <a:buFont typeface="Corbel" panose="020B0503020204020204" pitchFamily="34" charset="0"/>
              <a:buChar char="⁻"/>
            </a:pPr>
            <a:r>
              <a:rPr lang="ru-RU" dirty="0" smtClean="0"/>
              <a:t>Упорядоченные </a:t>
            </a:r>
            <a:r>
              <a:rPr lang="en-US" dirty="0" err="1" smtClean="0"/>
              <a:t>ol</a:t>
            </a:r>
            <a:endParaRPr lang="en-US" dirty="0" smtClean="0"/>
          </a:p>
          <a:p>
            <a:pPr>
              <a:buFont typeface="Corbel" panose="020B0503020204020204" pitchFamily="34" charset="0"/>
              <a:buChar char="⁻"/>
            </a:pPr>
            <a:r>
              <a:rPr lang="ru-RU" dirty="0" smtClean="0"/>
              <a:t>Списки описания </a:t>
            </a:r>
            <a:r>
              <a:rPr lang="en-US" dirty="0" smtClean="0"/>
              <a:t>dl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4693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Неупорядоченные списки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2057400"/>
            <a:ext cx="4883727" cy="403860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&lt;p&gt;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Горячие напитки: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&lt;/p&gt;</a:t>
            </a:r>
            <a:endParaRPr lang="ru-RU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	&lt;li&gt;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чай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&lt;/li&gt;</a:t>
            </a: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&lt;li&gt;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какао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li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&lt;li&gt;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кофе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li&gt;</a:t>
            </a: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12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840" y="1965960"/>
            <a:ext cx="3357996" cy="232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226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Атрибуты неупорядоченного списка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it-IT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&lt;ul type="disc | circle | square"&gt;...&lt;/ul&gt;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0857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Упорядоченный список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2057400"/>
            <a:ext cx="4939145" cy="4038600"/>
          </a:xfrm>
        </p:spPr>
        <p:txBody>
          <a:bodyPr/>
          <a:lstStyle/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p&gt;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Рейтинг моих любимых горячих напитков: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&lt;/p&gt;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45720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li&gt;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кофе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&lt;/li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 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ru-RU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li&gt;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чай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&lt;/li&gt;</a:t>
            </a: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&lt;li&gt;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какао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&lt;/li&gt;</a:t>
            </a: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ol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14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160" y="1965960"/>
            <a:ext cx="4816360" cy="241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003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Атрибуты </a:t>
            </a:r>
            <a:r>
              <a:rPr lang="ru-RU" b="1" smtClean="0"/>
              <a:t>упорядоченного </a:t>
            </a:r>
            <a:r>
              <a:rPr lang="ru-RU" b="1" dirty="0"/>
              <a:t>списка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type="A | a | I |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| 1"&gt;...&lt;/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45720" indent="0">
              <a:buNone/>
            </a:pP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start="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число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…&lt;/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ol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45720" indent="0">
              <a:buNone/>
            </a:pP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reversed&gt;…&lt;/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9357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Список определений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1" y="1717965"/>
            <a:ext cx="5756564" cy="4870988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dl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endParaRPr lang="ru-RU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&gt;Термин 1&lt;/</a:t>
            </a:r>
            <a:r>
              <a:rPr 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endParaRPr lang="ru-RU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dd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Определение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термина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dd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endParaRPr lang="ru-RU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&lt;</a:t>
            </a:r>
            <a:r>
              <a:rPr 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&gt;Термин 2&lt;/</a:t>
            </a:r>
            <a:r>
              <a:rPr 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endParaRPr lang="ru-RU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dd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Определение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термина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dd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endParaRPr lang="ru-RU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dl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16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9565" y="1902426"/>
            <a:ext cx="4632290" cy="146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289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Вложенные списки</a:t>
            </a:r>
            <a:endParaRPr lang="ru-RU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43000" y="1851941"/>
            <a:ext cx="8498941" cy="35803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-95220" tIns="12696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ol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	&lt;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&lt;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&lt;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&gt;1.1&lt;/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&lt;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&gt;1.2&lt;/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&lt;/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&lt;/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&lt;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&gt;2&lt;/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ol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17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089" y="1851941"/>
            <a:ext cx="2307441" cy="208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412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Стили для списков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2400" dirty="0" smtClean="0"/>
              <a:t>list-style </a:t>
            </a:r>
          </a:p>
          <a:p>
            <a:pPr marL="45720" indent="0">
              <a:buNone/>
            </a:pPr>
            <a:r>
              <a:rPr lang="en-US" sz="2400" dirty="0">
                <a:hlinkClick r:id="rId2"/>
              </a:rPr>
              <a:t>http://</a:t>
            </a:r>
            <a:r>
              <a:rPr lang="en-US" sz="2400" dirty="0" smtClean="0">
                <a:hlinkClick r:id="rId2"/>
              </a:rPr>
              <a:t>htmlbook.ru/css/list-style</a:t>
            </a:r>
            <a:r>
              <a:rPr lang="en-US" sz="2400" dirty="0" smtClean="0"/>
              <a:t> </a:t>
            </a: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6434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Задание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 smtClean="0"/>
              <a:t>Создайте в личном сайте верстальщика список статей (как неупорядоченный список). Минимум 5-6 названий статей.</a:t>
            </a:r>
          </a:p>
          <a:p>
            <a:pPr marL="45720" indent="0">
              <a:buNone/>
            </a:pPr>
            <a:r>
              <a:rPr lang="ru-RU" sz="2400" dirty="0" smtClean="0"/>
              <a:t>Примерные названия статей:</a:t>
            </a:r>
          </a:p>
          <a:p>
            <a:r>
              <a:rPr lang="ru-RU" sz="2400" dirty="0" smtClean="0"/>
              <a:t>Что такое </a:t>
            </a:r>
            <a:r>
              <a:rPr lang="en-US" sz="2400" dirty="0" smtClean="0"/>
              <a:t>HTML</a:t>
            </a:r>
            <a:r>
              <a:rPr lang="ru-RU" sz="2400" dirty="0"/>
              <a:t> </a:t>
            </a:r>
            <a:r>
              <a:rPr lang="ru-RU" sz="2400" dirty="0" smtClean="0"/>
              <a:t>и как его изучать?</a:t>
            </a:r>
          </a:p>
          <a:p>
            <a:r>
              <a:rPr lang="ru-RU" sz="2400" dirty="0" smtClean="0"/>
              <a:t>Топ лучших редакторов </a:t>
            </a:r>
            <a:r>
              <a:rPr lang="en-US" sz="2400" dirty="0" smtClean="0"/>
              <a:t>html</a:t>
            </a:r>
            <a:r>
              <a:rPr lang="ru-RU" sz="2400" dirty="0" smtClean="0"/>
              <a:t>-кода</a:t>
            </a:r>
          </a:p>
          <a:p>
            <a:r>
              <a:rPr lang="ru-RU" sz="2400" dirty="0" smtClean="0"/>
              <a:t>Определение структуры сайта</a:t>
            </a:r>
            <a:endParaRPr lang="en-US" sz="2400" dirty="0" smtClean="0"/>
          </a:p>
          <a:p>
            <a:r>
              <a:rPr lang="ru-RU" sz="2400" smtClean="0"/>
              <a:t>Список терминов</a:t>
            </a:r>
            <a:endParaRPr lang="ru-RU" sz="2400" dirty="0" smtClean="0"/>
          </a:p>
          <a:p>
            <a:r>
              <a:rPr lang="ru-RU" sz="2400" dirty="0" smtClean="0"/>
              <a:t>…</a:t>
            </a:r>
          </a:p>
          <a:p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0264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Задание 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1690688"/>
            <a:ext cx="4325293" cy="4405312"/>
          </a:xfrm>
        </p:spPr>
        <p:txBody>
          <a:bodyPr>
            <a:normAutofit fontScale="70000" lnSpcReduction="20000"/>
          </a:bodyPr>
          <a:lstStyle/>
          <a:p>
            <a:pPr marL="502920" indent="-457200">
              <a:buFont typeface="+mj-lt"/>
              <a:buAutoNum type="arabicPeriod"/>
            </a:pPr>
            <a:r>
              <a:rPr lang="ru-RU" dirty="0" smtClean="0"/>
              <a:t>В папке нашего проекта, создайте новый файл </a:t>
            </a:r>
            <a:r>
              <a:rPr lang="en-US" dirty="0" smtClean="0"/>
              <a:t>article1.html</a:t>
            </a:r>
          </a:p>
          <a:p>
            <a:pPr marL="502920" indent="-457200">
              <a:buFont typeface="+mj-lt"/>
              <a:buAutoNum type="arabicPeriod"/>
            </a:pPr>
            <a:r>
              <a:rPr lang="ru-RU" dirty="0" smtClean="0"/>
              <a:t>Определите структуру этого документа как на рисунке</a:t>
            </a:r>
          </a:p>
          <a:p>
            <a:pPr marL="502920" indent="-457200">
              <a:buFont typeface="+mj-lt"/>
              <a:buAutoNum type="arabicPeriod"/>
            </a:pPr>
            <a:r>
              <a:rPr lang="ru-RU" dirty="0" smtClean="0"/>
              <a:t>В тексте вы должны использовать различные теги для текстовых блоков (для дат, времени, цитат, выделения и т.д.)</a:t>
            </a:r>
          </a:p>
          <a:p>
            <a:pPr marL="502920" indent="-457200">
              <a:buFont typeface="+mj-lt"/>
              <a:buAutoNum type="arabicPeriod"/>
            </a:pPr>
            <a:r>
              <a:rPr lang="ru-RU" dirty="0" smtClean="0"/>
              <a:t>Аналогично создайте еще несколько страниц со статьями (минимум 3 страницы).</a:t>
            </a:r>
            <a:endParaRPr lang="en-US" dirty="0" smtClean="0"/>
          </a:p>
          <a:p>
            <a:pPr marL="502920" indent="-457200">
              <a:buFont typeface="+mj-lt"/>
              <a:buAutoNum type="arabicPeriod"/>
            </a:pPr>
            <a:r>
              <a:rPr lang="ru-RU" dirty="0" smtClean="0"/>
              <a:t>Одна из страниц должна быть со списком терминов, оформленных как список определений</a:t>
            </a: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20</a:t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217" y="1743785"/>
            <a:ext cx="5838165" cy="353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390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Задание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/>
              <a:t>Необходимо использовать следующие</a:t>
            </a:r>
            <a:r>
              <a:rPr lang="ru-RU" b="1" dirty="0" smtClean="0"/>
              <a:t> теги:</a:t>
            </a:r>
          </a:p>
          <a:p>
            <a:r>
              <a:rPr lang="ru-RU" dirty="0"/>
              <a:t>заголовки </a:t>
            </a:r>
            <a:r>
              <a:rPr lang="en-US" dirty="0"/>
              <a:t>h1-h6, </a:t>
            </a:r>
            <a:endParaRPr lang="ru-RU" dirty="0" smtClean="0"/>
          </a:p>
          <a:p>
            <a:r>
              <a:rPr lang="ru-RU" dirty="0" smtClean="0"/>
              <a:t>параграфы </a:t>
            </a:r>
            <a:r>
              <a:rPr lang="en-US" dirty="0"/>
              <a:t>p, </a:t>
            </a:r>
            <a:endParaRPr lang="ru-RU" dirty="0" smtClean="0"/>
          </a:p>
          <a:p>
            <a:r>
              <a:rPr lang="ru-RU" dirty="0" smtClean="0"/>
              <a:t>списки </a:t>
            </a:r>
            <a:r>
              <a:rPr lang="ru-RU" dirty="0"/>
              <a:t>(</a:t>
            </a:r>
            <a:r>
              <a:rPr lang="en-US" dirty="0" err="1"/>
              <a:t>ol</a:t>
            </a:r>
            <a:r>
              <a:rPr lang="en-US" dirty="0"/>
              <a:t>, </a:t>
            </a:r>
            <a:r>
              <a:rPr lang="en-US" dirty="0" err="1"/>
              <a:t>ul</a:t>
            </a:r>
            <a:r>
              <a:rPr lang="en-US" dirty="0"/>
              <a:t>, li, dl, </a:t>
            </a:r>
            <a:r>
              <a:rPr lang="en-US" dirty="0" err="1"/>
              <a:t>dt</a:t>
            </a:r>
            <a:r>
              <a:rPr lang="en-US" dirty="0"/>
              <a:t>, </a:t>
            </a:r>
            <a:r>
              <a:rPr lang="en-US" dirty="0" err="1"/>
              <a:t>dd</a:t>
            </a:r>
            <a:r>
              <a:rPr lang="en-US" dirty="0" smtClean="0"/>
              <a:t>),</a:t>
            </a:r>
            <a:endParaRPr lang="ru-RU" dirty="0" smtClean="0"/>
          </a:p>
          <a:p>
            <a:r>
              <a:rPr lang="en-US" dirty="0" smtClean="0"/>
              <a:t> </a:t>
            </a:r>
            <a:r>
              <a:rPr lang="ru-RU" dirty="0"/>
              <a:t>теги для цитат (</a:t>
            </a:r>
            <a:r>
              <a:rPr lang="en-US" dirty="0"/>
              <a:t>q, </a:t>
            </a:r>
            <a:r>
              <a:rPr lang="en-US" dirty="0" err="1"/>
              <a:t>blockquote</a:t>
            </a:r>
            <a:r>
              <a:rPr lang="en-US" dirty="0"/>
              <a:t>) </a:t>
            </a:r>
            <a:r>
              <a:rPr lang="ru-RU" dirty="0"/>
              <a:t>и источников (</a:t>
            </a:r>
            <a:r>
              <a:rPr lang="en-US" dirty="0"/>
              <a:t>cite), </a:t>
            </a:r>
            <a:endParaRPr lang="ru-RU" dirty="0" smtClean="0"/>
          </a:p>
          <a:p>
            <a:r>
              <a:rPr lang="ru-RU" dirty="0" smtClean="0"/>
              <a:t>теги</a:t>
            </a:r>
            <a:r>
              <a:rPr lang="ru-RU" dirty="0"/>
              <a:t>, задающие клавиши и их сочетания (</a:t>
            </a:r>
            <a:r>
              <a:rPr lang="en-US" dirty="0" err="1"/>
              <a:t>kdb</a:t>
            </a:r>
            <a:r>
              <a:rPr lang="en-US" dirty="0" smtClean="0"/>
              <a:t>)</a:t>
            </a:r>
            <a:r>
              <a:rPr lang="ru-RU" dirty="0" smtClean="0"/>
              <a:t> и код (</a:t>
            </a:r>
            <a:r>
              <a:rPr lang="en-US" dirty="0" smtClean="0"/>
              <a:t>code</a:t>
            </a:r>
            <a:r>
              <a:rPr lang="ru-RU" dirty="0" smtClean="0"/>
              <a:t>)</a:t>
            </a:r>
            <a:r>
              <a:rPr lang="en-US" dirty="0" smtClean="0"/>
              <a:t> </a:t>
            </a:r>
            <a:endParaRPr lang="ru-RU" dirty="0" smtClean="0"/>
          </a:p>
          <a:p>
            <a:r>
              <a:rPr lang="ru-RU" dirty="0" smtClean="0"/>
              <a:t>тег </a:t>
            </a:r>
            <a:r>
              <a:rPr lang="ru-RU" dirty="0"/>
              <a:t>задания даты и времени </a:t>
            </a:r>
            <a:r>
              <a:rPr lang="en-US" dirty="0"/>
              <a:t>time, </a:t>
            </a:r>
            <a:endParaRPr lang="en-US" dirty="0" smtClean="0"/>
          </a:p>
          <a:p>
            <a:r>
              <a:rPr lang="ru-RU" dirty="0" smtClean="0"/>
              <a:t>тег </a:t>
            </a:r>
            <a:r>
              <a:rPr lang="ru-RU" dirty="0"/>
              <a:t>важности </a:t>
            </a:r>
            <a:r>
              <a:rPr lang="en-US" dirty="0" err="1"/>
              <a:t>storng</a:t>
            </a:r>
            <a:r>
              <a:rPr lang="en-US" dirty="0"/>
              <a:t>, </a:t>
            </a:r>
            <a:r>
              <a:rPr lang="ru-RU" dirty="0"/>
              <a:t>тег акцентирования внимания </a:t>
            </a:r>
            <a:r>
              <a:rPr lang="en-US" dirty="0" err="1"/>
              <a:t>em</a:t>
            </a:r>
            <a:r>
              <a:rPr lang="en-US" dirty="0"/>
              <a:t>, </a:t>
            </a:r>
            <a:endParaRPr lang="en-US" dirty="0" smtClean="0"/>
          </a:p>
          <a:p>
            <a:r>
              <a:rPr lang="ru-RU" dirty="0" smtClean="0"/>
              <a:t>теги </a:t>
            </a:r>
            <a:r>
              <a:rPr lang="ru-RU" dirty="0"/>
              <a:t>исправления (</a:t>
            </a:r>
            <a:r>
              <a:rPr lang="en-US" dirty="0"/>
              <a:t>del, ins) </a:t>
            </a:r>
            <a:r>
              <a:rPr lang="ru-RU" dirty="0"/>
              <a:t>и др.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5221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Ссылки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832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Тег </a:t>
            </a:r>
            <a:r>
              <a:rPr lang="en-US" b="1" dirty="0" smtClean="0"/>
              <a:t>a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&lt;a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="URL"&gt;...&lt;/a&gt; 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&lt;a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im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/xxx.jpg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Посмотрите на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эту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фотографию!&lt;/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a&gt;</a:t>
            </a: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="article1.html"&gt;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Статья 1&lt;/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1869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Адреса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Абсолютные</a:t>
            </a: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&lt;a 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С:/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site/article1.html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Статья 1&lt;/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a&gt;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&lt;a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="http://htmlbook.ru/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Справочник по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HTML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a&gt;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ru-RU" dirty="0" smtClean="0"/>
          </a:p>
          <a:p>
            <a:r>
              <a:rPr lang="ru-RU" dirty="0" smtClean="0"/>
              <a:t>Относительные</a:t>
            </a:r>
            <a:endParaRPr lang="en-US" dirty="0" smtClean="0"/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&lt;a 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="article1.html"&gt;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Статья 1&lt;/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a&gt;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7348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Относительные адреса</a:t>
            </a:r>
            <a:endParaRPr lang="ru-RU" b="1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25</a:t>
            </a:fld>
            <a:endParaRPr lang="ru-RU"/>
          </a:p>
        </p:txBody>
      </p:sp>
      <p:sp>
        <p:nvSpPr>
          <p:cNvPr id="4" name="Содержимое 2"/>
          <p:cNvSpPr txBox="1">
            <a:spLocks/>
          </p:cNvSpPr>
          <p:nvPr/>
        </p:nvSpPr>
        <p:spPr>
          <a:xfrm>
            <a:off x="6627966" y="1772816"/>
            <a:ext cx="4209032" cy="4717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rbel" pitchFamily="34" charset="0"/>
              <a:buNone/>
            </a:pPr>
            <a:r>
              <a:rPr lang="en-US" dirty="0" smtClean="0"/>
              <a:t>contact.html</a:t>
            </a:r>
          </a:p>
          <a:p>
            <a:pPr>
              <a:buFont typeface="Corbel" pitchFamily="34" charset="0"/>
              <a:buNone/>
            </a:pPr>
            <a:r>
              <a:rPr lang="en-US" dirty="0" smtClean="0"/>
              <a:t>product/products.html</a:t>
            </a:r>
          </a:p>
          <a:p>
            <a:pPr>
              <a:buFont typeface="Corbel" pitchFamily="34" charset="0"/>
              <a:buNone/>
            </a:pPr>
            <a:r>
              <a:rPr lang="en-US" dirty="0" smtClean="0"/>
              <a:t>/</a:t>
            </a:r>
          </a:p>
          <a:p>
            <a:pPr>
              <a:buFont typeface="Corbel" pitchFamily="34" charset="0"/>
              <a:buNone/>
            </a:pPr>
            <a:r>
              <a:rPr lang="ru-RU" dirty="0" smtClean="0"/>
              <a:t>../</a:t>
            </a:r>
            <a:r>
              <a:rPr lang="en-US" dirty="0" smtClean="0"/>
              <a:t>images</a:t>
            </a:r>
            <a:r>
              <a:rPr lang="ru-RU" dirty="0" smtClean="0"/>
              <a:t>/</a:t>
            </a:r>
            <a:r>
              <a:rPr lang="en-US" dirty="0" smtClean="0"/>
              <a:t>contact</a:t>
            </a:r>
            <a:r>
              <a:rPr lang="ru-RU" dirty="0" smtClean="0"/>
              <a:t>.</a:t>
            </a:r>
            <a:r>
              <a:rPr lang="en-US" dirty="0" err="1" smtClean="0"/>
              <a:t>png</a:t>
            </a:r>
            <a:endParaRPr lang="en-US" dirty="0" smtClean="0"/>
          </a:p>
          <a:p>
            <a:pPr>
              <a:buFont typeface="Corbel" pitchFamily="34" charset="0"/>
              <a:buNone/>
            </a:pPr>
            <a:endParaRPr lang="ru-RU" dirty="0" smtClean="0"/>
          </a:p>
          <a:p>
            <a:endParaRPr lang="ru-RU" dirty="0"/>
          </a:p>
        </p:txBody>
      </p:sp>
      <p:pic>
        <p:nvPicPr>
          <p:cNvPr id="5" name="Picture 3" descr="Абсолютный и относительный путь к файлам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73438" y="1673504"/>
            <a:ext cx="3623624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65106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Задание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02920" indent="-457200">
              <a:buFont typeface="+mj-lt"/>
              <a:buAutoNum type="arabicPeriod"/>
            </a:pPr>
            <a:r>
              <a:rPr lang="ru-RU" sz="2400" dirty="0" smtClean="0"/>
              <a:t>На главной странице сайта в разделе Мои статьи названия статей сделайте ссылками на страницы со статьями</a:t>
            </a:r>
          </a:p>
          <a:p>
            <a:pPr marL="502920" indent="-457200">
              <a:buFont typeface="+mj-lt"/>
              <a:buAutoNum type="arabicPeriod"/>
            </a:pPr>
            <a:r>
              <a:rPr lang="ru-RU" sz="2400" dirty="0" smtClean="0"/>
              <a:t>На каждой страницы со статьей текст «На главную» сделайте ссылкой на главную страницу</a:t>
            </a: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7360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Ссылки на файл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&lt;a </a:t>
            </a:r>
            <a:r>
              <a:rPr 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="file.pdf"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&gt;Открыть в браузере&lt;/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a&gt;</a:t>
            </a:r>
          </a:p>
          <a:p>
            <a:pPr marL="45720" indent="0">
              <a:buNone/>
            </a:pPr>
            <a:endParaRPr lang="ru-RU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="file.pdf" </a:t>
            </a:r>
            <a:r>
              <a:rPr lang="ru-RU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download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&gt;Скачать&lt;/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45720" indent="0">
              <a:buNone/>
            </a:pP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ru-RU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&lt;a </a:t>
            </a:r>
            <a:r>
              <a:rPr 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="file.pdf" </a:t>
            </a:r>
            <a:r>
              <a:rPr lang="ru-RU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download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ru-RU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noopener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 Скачать со сторонних сервисов&lt;/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a&gt;</a:t>
            </a:r>
          </a:p>
          <a:p>
            <a:pPr marL="45720" indent="0">
              <a:buNone/>
            </a:pP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9879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Якоря</a:t>
            </a:r>
            <a:endParaRPr lang="ru-RU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43000" y="1965960"/>
            <a:ext cx="9650994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</a:t>
            </a:r>
            <a:r>
              <a:rPr kumimoji="0" lang="en-US" altLang="ru-RU" sz="2400" b="0" i="0" u="none" strike="noStrike" cap="none" normalizeH="0" baseline="0" dirty="0" err="1" smtClean="0">
                <a:ln>
                  <a:noFill/>
                </a:ln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img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u-RU" sz="2400" dirty="0" err="1" smtClean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src</a:t>
            </a: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logo.png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id=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top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&gt;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ru-RU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&lt;a </a:t>
            </a:r>
            <a:r>
              <a:rPr lang="en-US" altLang="ru-RU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alt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#top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alt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наверх</a:t>
            </a:r>
            <a:r>
              <a:rPr lang="en-US" alt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&lt;/a&gt;</a:t>
            </a:r>
            <a:endParaRPr lang="en-US" alt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7967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Ссылки на телефон и </a:t>
            </a:r>
            <a:r>
              <a:rPr lang="en-US" b="1" dirty="0" smtClean="0"/>
              <a:t>mail</a:t>
            </a:r>
            <a:endParaRPr lang="ru-RU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43000" y="1847466"/>
            <a:ext cx="9650994" cy="208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&lt;a </a:t>
            </a:r>
            <a:r>
              <a:rPr 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tel:89995554422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 &gt;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8(999)-555-44-22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a&gt;</a:t>
            </a:r>
          </a:p>
          <a:p>
            <a:pPr marL="45720" indent="0">
              <a:buNone/>
            </a:pP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&lt;a </a:t>
            </a:r>
            <a:r>
              <a:rPr 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mailto:mail@mail.ru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 &gt;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mail@mail.ru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a&gt;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1809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Задание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02920" indent="-457200">
              <a:buFont typeface="+mj-lt"/>
              <a:buAutoNum type="arabicPeriod"/>
            </a:pPr>
            <a:r>
              <a:rPr lang="ru-RU" sz="2400" dirty="0" smtClean="0"/>
              <a:t>В одной из статей выделите части и озаглавьте их (подумайте заголовками какого уровня должны быть эти заглавия).</a:t>
            </a:r>
          </a:p>
          <a:p>
            <a:pPr marL="502920" indent="-457200">
              <a:buFont typeface="+mj-lt"/>
              <a:buAutoNum type="arabicPeriod"/>
            </a:pPr>
            <a:r>
              <a:rPr lang="ru-RU" sz="2400" dirty="0" smtClean="0"/>
              <a:t>Каждое заглавие должно содержать индивидуальный идентификатор.</a:t>
            </a:r>
          </a:p>
          <a:p>
            <a:pPr marL="502920" indent="-457200">
              <a:buFont typeface="+mj-lt"/>
              <a:buAutoNum type="arabicPeriod"/>
            </a:pPr>
            <a:r>
              <a:rPr lang="ru-RU" sz="2400" dirty="0" smtClean="0"/>
              <a:t>В начале статьи (после заглавия статьи) сделайте оглавление. Каждый пункт оглавления должен быть ссылкой на соответствующую часть статьи.</a:t>
            </a:r>
          </a:p>
          <a:p>
            <a:pPr marL="502920" indent="-457200">
              <a:buFont typeface="+mj-lt"/>
              <a:buAutoNum type="arabicPeriod"/>
            </a:pPr>
            <a:r>
              <a:rPr lang="ru-RU" sz="2400" dirty="0" smtClean="0"/>
              <a:t>В футере сайта параграф «Вы также можете найти меня здесь» сделайте ссылкой на свою персональную страницу (</a:t>
            </a:r>
            <a:r>
              <a:rPr lang="en-US" sz="2400" dirty="0" err="1" smtClean="0"/>
              <a:t>vk</a:t>
            </a:r>
            <a:r>
              <a:rPr lang="ru-RU" sz="2400" dirty="0" smtClean="0"/>
              <a:t>, портал и т.д.). </a:t>
            </a: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2486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Изображения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2261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Тег </a:t>
            </a:r>
            <a:r>
              <a:rPr lang="en-US" b="1" dirty="0" err="1" smtClean="0"/>
              <a:t>img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" indent="0">
              <a:buNone/>
            </a:pPr>
            <a:r>
              <a:rPr lang="ru-RU" altLang="ru-RU" sz="2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</a:t>
            </a:r>
            <a:r>
              <a:rPr lang="en-US" altLang="ru-RU" sz="2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img</a:t>
            </a:r>
            <a:r>
              <a:rPr lang="ru-RU" altLang="ru-RU" sz="2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u-RU" sz="2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src</a:t>
            </a:r>
            <a:r>
              <a:rPr lang="en-US" altLang="ru-RU" sz="2600" dirty="0" smtClean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ru-RU" sz="2600" dirty="0" smtClean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logo.png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ru-RU" sz="2600" dirty="0" smtClean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&gt;</a:t>
            </a:r>
            <a:endParaRPr lang="ru-RU" altLang="ru-RU" sz="2600" dirty="0" smtClean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ru-RU" altLang="ru-RU" sz="2600" dirty="0" smtClean="0">
              <a:solidFill>
                <a:srgbClr val="333333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ru-RU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ru-RU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ru-RU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="logo.png" </a:t>
            </a:r>
            <a:r>
              <a:rPr lang="ru-RU" sz="2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ru-RU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u-RU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300</a:t>
            </a:r>
            <a:r>
              <a:rPr lang="en-US" sz="2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px</a:t>
            </a:r>
            <a:r>
              <a:rPr lang="ru-RU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endParaRPr lang="ru-RU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ru-RU" altLang="ru-RU" sz="2600" dirty="0">
              <a:solidFill>
                <a:srgbClr val="333333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ru-RU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ru-RU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ru-RU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="logo.png" </a:t>
            </a:r>
            <a:r>
              <a:rPr lang="ru-RU" sz="2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ru-RU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u-RU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300</a:t>
            </a:r>
            <a:r>
              <a:rPr lang="en-US" sz="2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px</a:t>
            </a:r>
            <a:r>
              <a:rPr lang="ru-RU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ru-RU" sz="2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lang="ru-RU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u-RU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300</a:t>
            </a:r>
            <a:r>
              <a:rPr lang="en-US" sz="2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px</a:t>
            </a:r>
            <a:r>
              <a:rPr lang="ru-RU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endParaRPr lang="ru-RU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en-US" altLang="ru-RU" sz="2600" dirty="0">
              <a:solidFill>
                <a:srgbClr val="333333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ru-RU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ru-RU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ru-RU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u-RU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photo</a:t>
            </a:r>
            <a:r>
              <a:rPr lang="ru-RU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u-RU" sz="2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png</a:t>
            </a:r>
            <a:r>
              <a:rPr lang="ru-RU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ru-RU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alt</a:t>
            </a:r>
            <a:r>
              <a:rPr lang="ru-RU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="Фотография автора"&gt;</a:t>
            </a:r>
            <a:endParaRPr lang="ru-RU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ru-RU" sz="2600" dirty="0" smtClean="0"/>
          </a:p>
          <a:p>
            <a:pPr marL="45720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&lt;a 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u-RU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about.html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endParaRPr lang="ru-RU" sz="2600" dirty="0"/>
          </a:p>
          <a:p>
            <a:pPr marL="45720" indent="0">
              <a:buNone/>
            </a:pPr>
            <a:r>
              <a:rPr lang="ru-RU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&lt;</a:t>
            </a:r>
            <a:r>
              <a:rPr lang="ru-RU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ru-RU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ru-RU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photo</a:t>
            </a:r>
            <a:r>
              <a:rPr lang="ru-RU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u-RU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png</a:t>
            </a:r>
            <a:r>
              <a:rPr lang="ru-RU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ru-RU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alt</a:t>
            </a:r>
            <a:r>
              <a:rPr lang="ru-RU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="Фотография автора</a:t>
            </a:r>
            <a:r>
              <a:rPr lang="ru-RU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marL="45720" indent="0">
              <a:buNone/>
            </a:pPr>
            <a:r>
              <a:rPr lang="en-US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&lt;/a&gt;</a:t>
            </a:r>
            <a:endParaRPr lang="ru-RU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7892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Теги </a:t>
            </a:r>
            <a:r>
              <a:rPr lang="en-US" b="1" dirty="0"/>
              <a:t>figure </a:t>
            </a:r>
            <a:r>
              <a:rPr lang="ru-RU" b="1" dirty="0"/>
              <a:t>и </a:t>
            </a:r>
            <a:r>
              <a:rPr lang="en-US" b="1" dirty="0" err="1" smtClean="0"/>
              <a:t>figcaption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figure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4572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Схема, график, диаграмма или код</a:t>
            </a:r>
          </a:p>
          <a:p>
            <a:pPr marL="4572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figcaption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&gt;Подпись к содержимому&lt;/</a:t>
            </a:r>
            <a:r>
              <a:rPr 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figcaption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4572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figure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45720" indent="0">
              <a:buNone/>
            </a:pPr>
            <a:endParaRPr lang="en-US" dirty="0" smtClean="0"/>
          </a:p>
          <a:p>
            <a:pPr marL="4572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figure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4572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= 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photo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png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alt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="Фотография автора"&gt;</a:t>
            </a:r>
          </a:p>
          <a:p>
            <a:pPr marL="4572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figcaption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&gt;Автор ресурса&lt;/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figcaption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4572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figure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950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Форматы графических файлов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 smtClean="0"/>
              <a:t>Растровые формат</a:t>
            </a:r>
            <a:endParaRPr lang="en-US" sz="2400" dirty="0" smtClean="0"/>
          </a:p>
          <a:p>
            <a:r>
              <a:rPr lang="en-US" sz="2400" dirty="0" smtClean="0"/>
              <a:t>JPG</a:t>
            </a:r>
          </a:p>
          <a:p>
            <a:r>
              <a:rPr lang="en-US" sz="2400" dirty="0" smtClean="0"/>
              <a:t>GIF</a:t>
            </a:r>
          </a:p>
          <a:p>
            <a:r>
              <a:rPr lang="en-US" sz="2400" dirty="0" smtClean="0"/>
              <a:t>PNG</a:t>
            </a:r>
            <a:r>
              <a:rPr lang="ru-RU" sz="2400" dirty="0" smtClean="0"/>
              <a:t> </a:t>
            </a:r>
            <a:r>
              <a:rPr lang="en-US" sz="2400" dirty="0" smtClean="0"/>
              <a:t>(</a:t>
            </a:r>
            <a:r>
              <a:rPr lang="ru-RU" sz="2400" dirty="0" smtClean="0"/>
              <a:t>8 и 24</a:t>
            </a:r>
            <a:r>
              <a:rPr lang="en-US" sz="2400" dirty="0" smtClean="0"/>
              <a:t>)</a:t>
            </a:r>
          </a:p>
          <a:p>
            <a:r>
              <a:rPr lang="en-US" sz="2400"/>
              <a:t>W</a:t>
            </a:r>
            <a:r>
              <a:rPr lang="en-US" sz="2400" smtClean="0"/>
              <a:t>ebP</a:t>
            </a:r>
            <a:endParaRPr lang="ru-RU" sz="2400" dirty="0" smtClean="0"/>
          </a:p>
          <a:p>
            <a:pPr marL="45720" indent="0">
              <a:buNone/>
            </a:pPr>
            <a:r>
              <a:rPr lang="ru-RU" sz="2400" dirty="0" smtClean="0"/>
              <a:t>Векторный формат</a:t>
            </a:r>
          </a:p>
          <a:p>
            <a:r>
              <a:rPr lang="en-US" sz="2400" dirty="0" smtClean="0"/>
              <a:t>SVG</a:t>
            </a: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6186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</a:t>
            </a:r>
            <a:r>
              <a:rPr lang="en-US" b="1" dirty="0" smtClean="0"/>
              <a:t>pg </a:t>
            </a:r>
            <a:r>
              <a:rPr lang="ru-RU" b="1" dirty="0" smtClean="0"/>
              <a:t>и </a:t>
            </a:r>
            <a:r>
              <a:rPr lang="en-US" b="1" dirty="0" err="1" smtClean="0"/>
              <a:t>png</a:t>
            </a:r>
            <a:endParaRPr lang="ru-RU" b="1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965960"/>
            <a:ext cx="4270996" cy="3199124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35</a:t>
            </a:fld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181" y="1965960"/>
            <a:ext cx="4430588" cy="314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922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/>
            </a:gs>
            <a:gs pos="0">
              <a:schemeClr val="accent1"/>
            </a:gs>
            <a:gs pos="100000">
              <a:schemeClr val="accent1">
                <a:lumMod val="40000"/>
                <a:lumOff val="6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gif </a:t>
            </a:r>
            <a:r>
              <a:rPr lang="ru-RU" b="1" dirty="0" smtClean="0"/>
              <a:t>и </a:t>
            </a:r>
            <a:r>
              <a:rPr lang="en-US" b="1" dirty="0" err="1" smtClean="0"/>
              <a:t>png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36</a:t>
            </a:fld>
            <a:endParaRPr lang="ru-RU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2875"/>
            <a:ext cx="5707063" cy="3208338"/>
          </a:xfr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884" y="1494011"/>
            <a:ext cx="5325643" cy="463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645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Задание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02920" indent="-457200">
              <a:buFont typeface="+mj-lt"/>
              <a:buAutoNum type="arabicPeriod"/>
            </a:pPr>
            <a:r>
              <a:rPr lang="ru-RU" sz="2400" dirty="0" smtClean="0"/>
              <a:t>В статьях разместить минимум три изображения с подписями к ним, с альтернативным текстом.</a:t>
            </a:r>
          </a:p>
          <a:p>
            <a:pPr marL="502920" indent="-457200">
              <a:buFont typeface="+mj-lt"/>
              <a:buAutoNum type="arabicPeriod"/>
            </a:pPr>
            <a:r>
              <a:rPr lang="ru-RU" sz="2400" dirty="0" smtClean="0"/>
              <a:t>Оформите картинки с помощью </a:t>
            </a:r>
            <a:r>
              <a:rPr lang="en-US" sz="2400" dirty="0" smtClean="0"/>
              <a:t>CSS</a:t>
            </a:r>
            <a:r>
              <a:rPr lang="ru-RU" sz="2400" dirty="0" smtClean="0"/>
              <a:t>-стилей:</a:t>
            </a:r>
          </a:p>
          <a:p>
            <a:pPr lvl="1"/>
            <a:r>
              <a:rPr lang="en-US" dirty="0" smtClean="0"/>
              <a:t>border</a:t>
            </a:r>
            <a:r>
              <a:rPr lang="ru-RU" dirty="0"/>
              <a:t>,</a:t>
            </a:r>
          </a:p>
          <a:p>
            <a:pPr lvl="1"/>
            <a:r>
              <a:rPr lang="en-US" dirty="0"/>
              <a:t>border-radius</a:t>
            </a:r>
            <a:r>
              <a:rPr lang="ru-RU" dirty="0"/>
              <a:t>,</a:t>
            </a:r>
          </a:p>
          <a:p>
            <a:pPr lvl="1"/>
            <a:r>
              <a:rPr lang="en-US" dirty="0"/>
              <a:t>box-shadow</a:t>
            </a:r>
            <a:r>
              <a:rPr lang="ru-RU" dirty="0"/>
              <a:t>.</a:t>
            </a:r>
          </a:p>
          <a:p>
            <a:pPr marL="502920" indent="-457200">
              <a:buFont typeface="+mj-lt"/>
              <a:buAutoNum type="arabicPeriod" startAt="3"/>
            </a:pPr>
            <a:r>
              <a:rPr lang="ru-RU" sz="2400" dirty="0" smtClean="0"/>
              <a:t>На сайте </a:t>
            </a:r>
            <a:r>
              <a:rPr lang="en-US" sz="2400" dirty="0" smtClean="0">
                <a:hlinkClick r:id="rId3"/>
              </a:rPr>
              <a:t>fontawesome.com/</a:t>
            </a:r>
            <a:r>
              <a:rPr lang="en-US" sz="2400" dirty="0" smtClean="0"/>
              <a:t> </a:t>
            </a:r>
            <a:r>
              <a:rPr lang="ru-RU" sz="2400" dirty="0" smtClean="0"/>
              <a:t>выбрать иконку для логотипа сайта и установить ее на сайте.</a:t>
            </a:r>
          </a:p>
          <a:p>
            <a:pPr marL="502920" indent="-457200">
              <a:buFont typeface="+mj-lt"/>
              <a:buAutoNum type="arabicPeriod" startAt="3"/>
            </a:pPr>
            <a:r>
              <a:rPr lang="ru-RU" sz="2400" dirty="0" smtClean="0"/>
              <a:t>В футер добавьте несколько иконок социальных сетей. Иконки можно найти на сайте </a:t>
            </a:r>
            <a:r>
              <a:rPr lang="en-US" sz="2400" dirty="0">
                <a:hlinkClick r:id="rId3"/>
              </a:rPr>
              <a:t>fontawesome.com/</a:t>
            </a:r>
            <a:r>
              <a:rPr lang="en-US" sz="2400" dirty="0"/>
              <a:t> </a:t>
            </a:r>
            <a:r>
              <a:rPr lang="ru-RU" sz="2400" dirty="0" smtClean="0"/>
              <a:t> или </a:t>
            </a:r>
            <a:r>
              <a:rPr lang="en-US" sz="2400" dirty="0" smtClean="0">
                <a:hlinkClick r:id="rId4"/>
              </a:rPr>
              <a:t>icons.getbootstrap.com/</a:t>
            </a:r>
            <a:r>
              <a:rPr lang="ru-RU" sz="2400" dirty="0" smtClean="0"/>
              <a:t>. Сделайте картинки ссылками на соответствующие социальные сети. </a:t>
            </a:r>
            <a:r>
              <a:rPr lang="ru-RU" sz="2400" dirty="0"/>
              <a:t>Футер должен быть одинаковым на всех страницах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pPr marL="45720" indent="0">
              <a:buNone/>
            </a:pPr>
            <a:r>
              <a:rPr lang="en-US" sz="2400" dirty="0">
                <a:hlinkClick r:id="rId5"/>
              </a:rPr>
              <a:t>https://</a:t>
            </a:r>
            <a:r>
              <a:rPr lang="en-US" sz="2400" dirty="0" smtClean="0">
                <a:hlinkClick r:id="rId5"/>
              </a:rPr>
              <a:t>squoosh.app</a:t>
            </a:r>
            <a:r>
              <a:rPr lang="en-US" sz="2400" dirty="0" smtClean="0"/>
              <a:t> </a:t>
            </a:r>
          </a:p>
          <a:p>
            <a:pPr marL="45720" indent="0">
              <a:buNone/>
            </a:pPr>
            <a:r>
              <a:rPr lang="en-US" sz="2400">
                <a:hlinkClick r:id="rId6"/>
              </a:rPr>
              <a:t>https://</a:t>
            </a:r>
            <a:r>
              <a:rPr lang="en-US" sz="2400" smtClean="0">
                <a:hlinkClick r:id="rId6"/>
              </a:rPr>
              <a:t>pixlr.com</a:t>
            </a:r>
            <a:r>
              <a:rPr lang="en-US" sz="2400" smtClean="0"/>
              <a:t> </a:t>
            </a:r>
            <a:endParaRPr lang="ru-RU" sz="2400" dirty="0"/>
          </a:p>
          <a:p>
            <a:pPr marL="502920" indent="-457200">
              <a:buFont typeface="+mj-lt"/>
              <a:buAutoNum type="arabicPeriod" startAt="3"/>
            </a:pPr>
            <a:endParaRPr lang="ru-RU" sz="2400" dirty="0" smtClean="0"/>
          </a:p>
          <a:p>
            <a:pPr marL="502920" indent="-457200">
              <a:buFont typeface="+mj-lt"/>
              <a:buAutoNum type="arabicPeriod" startAt="3"/>
            </a:pPr>
            <a:endParaRPr lang="ru-RU" sz="2400" dirty="0" smtClean="0"/>
          </a:p>
          <a:p>
            <a:pPr marL="45720" indent="0">
              <a:buNone/>
            </a:pPr>
            <a:endParaRPr lang="ru-RU" sz="2400" dirty="0" smtClean="0"/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8F1E4-173F-407F-A866-EA3BAEFB5051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82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4506</TotalTime>
  <Words>1035</Words>
  <Application>Microsoft Office PowerPoint</Application>
  <PresentationFormat>Широкоэкранный</PresentationFormat>
  <Paragraphs>266</Paragraphs>
  <Slides>37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2" baseType="lpstr">
      <vt:lpstr>Arial</vt:lpstr>
      <vt:lpstr>Calibri</vt:lpstr>
      <vt:lpstr>Corbel</vt:lpstr>
      <vt:lpstr>Courier New</vt:lpstr>
      <vt:lpstr>Тема Office</vt:lpstr>
      <vt:lpstr>ТЕКСТ, ССЫЛКИ И ИЗОБРАЖЕНИЯ</vt:lpstr>
      <vt:lpstr>ТЕКСТ</vt:lpstr>
      <vt:lpstr>Теги для текста</vt:lpstr>
      <vt:lpstr>Теги для текста</vt:lpstr>
      <vt:lpstr>Теги для текста</vt:lpstr>
      <vt:lpstr>CSS правила для текста</vt:lpstr>
      <vt:lpstr>CSS правила для текста</vt:lpstr>
      <vt:lpstr>Единицы измерения</vt:lpstr>
      <vt:lpstr>Цвета</vt:lpstr>
      <vt:lpstr>Шрифты</vt:lpstr>
      <vt:lpstr>Списки</vt:lpstr>
      <vt:lpstr>Неупорядоченные списки</vt:lpstr>
      <vt:lpstr>Атрибуты неупорядоченного списка</vt:lpstr>
      <vt:lpstr>Упорядоченный список</vt:lpstr>
      <vt:lpstr>Атрибуты упорядоченного списка</vt:lpstr>
      <vt:lpstr>Список определений</vt:lpstr>
      <vt:lpstr>Вложенные списки</vt:lpstr>
      <vt:lpstr>Стили для списков</vt:lpstr>
      <vt:lpstr>Задание</vt:lpstr>
      <vt:lpstr>Задание </vt:lpstr>
      <vt:lpstr>Задание</vt:lpstr>
      <vt:lpstr>Ссылки</vt:lpstr>
      <vt:lpstr>Тег a</vt:lpstr>
      <vt:lpstr>Адреса</vt:lpstr>
      <vt:lpstr>Относительные адреса</vt:lpstr>
      <vt:lpstr>Задание</vt:lpstr>
      <vt:lpstr>Ссылки на файл</vt:lpstr>
      <vt:lpstr>Якоря</vt:lpstr>
      <vt:lpstr>Ссылки на телефон и mail</vt:lpstr>
      <vt:lpstr>Задание</vt:lpstr>
      <vt:lpstr>Изображения</vt:lpstr>
      <vt:lpstr>Тег img</vt:lpstr>
      <vt:lpstr>Теги figure и figcaption</vt:lpstr>
      <vt:lpstr>Форматы графических файлов</vt:lpstr>
      <vt:lpstr>jpg и png</vt:lpstr>
      <vt:lpstr>gif и png</vt:lpstr>
      <vt:lpstr>Задание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ТЕКСТ, ССЫЛКИ И ИЗОБРАЖЕНИЯ</dc:title>
  <dc:creator>Yulya</dc:creator>
  <cp:lastModifiedBy>Lector</cp:lastModifiedBy>
  <cp:revision>65</cp:revision>
  <cp:lastPrinted>2020-09-03T05:57:19Z</cp:lastPrinted>
  <dcterms:created xsi:type="dcterms:W3CDTF">2020-08-28T10:45:49Z</dcterms:created>
  <dcterms:modified xsi:type="dcterms:W3CDTF">2025-09-30T02:45:52Z</dcterms:modified>
</cp:coreProperties>
</file>