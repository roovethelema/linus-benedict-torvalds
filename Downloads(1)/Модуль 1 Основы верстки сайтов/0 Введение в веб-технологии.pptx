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0"/>
  </p:notesMasterIdLst>
  <p:handoutMasterIdLst>
    <p:handoutMasterId r:id="rId31"/>
  </p:handoutMasterIdLst>
  <p:sldIdLst>
    <p:sldId id="256" r:id="rId2"/>
    <p:sldId id="306" r:id="rId3"/>
    <p:sldId id="339" r:id="rId4"/>
    <p:sldId id="340" r:id="rId5"/>
    <p:sldId id="335" r:id="rId6"/>
    <p:sldId id="337" r:id="rId7"/>
    <p:sldId id="336" r:id="rId8"/>
    <p:sldId id="352" r:id="rId9"/>
    <p:sldId id="353" r:id="rId10"/>
    <p:sldId id="354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07" r:id="rId23"/>
    <p:sldId id="258" r:id="rId24"/>
    <p:sldId id="308" r:id="rId25"/>
    <p:sldId id="309" r:id="rId26"/>
    <p:sldId id="314" r:id="rId27"/>
    <p:sldId id="315" r:id="rId28"/>
    <p:sldId id="338" r:id="rId29"/>
  </p:sldIdLst>
  <p:sldSz cx="9144000" cy="6858000" type="screen4x3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4660"/>
  </p:normalViewPr>
  <p:slideViewPr>
    <p:cSldViewPr>
      <p:cViewPr varScale="1">
        <p:scale>
          <a:sx n="104" d="100"/>
          <a:sy n="104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 smtClean="0"/>
              <a:t>Каскадные таблицы стилей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398F4-C496-4718-8AFD-97E8B618E6F1}" type="datetimeFigureOut">
              <a:rPr lang="ru-RU" smtClean="0"/>
              <a:t>11.08.2026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4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1D492-44C8-4D27-8AA7-9F88E083A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35617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 smtClean="0"/>
              <a:t>Каскадные таблицы стилей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7619A-124E-498F-B54F-4F14447E029C}" type="datetimeFigureOut">
              <a:rPr lang="ru-RU" smtClean="0"/>
              <a:t>11.08.2026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0"/>
            <a:ext cx="5438140" cy="39079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4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6C2C9-BB2F-4A2D-885B-612980E17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74762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ru-RU" smtClean="0"/>
              <a:t>Каскадные таблицы стилей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F6C2C9-BB2F-4A2D-885B-612980E1750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72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F099B6-BC54-4ACA-89A8-87262A28ACAD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45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6754-1052-4056-BD7A-C099E087632B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70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3CAE7-E3FF-46E8-AE0B-FC8C66C3223F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7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8E1D-C967-4FA3-963E-D20D34CA8294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99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090F-EE77-40ED-9A3B-A7301EDC85FB}" type="datetime1">
              <a:rPr lang="ru-RU" smtClean="0"/>
              <a:t>11.08.2026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40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CBE8-E868-4FCC-BF8E-B74D82756EEE}" type="datetime1">
              <a:rPr lang="ru-RU" smtClean="0"/>
              <a:t>11.08.2026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99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5A94-213F-4E89-A1EC-DBDE30D40738}" type="datetime1">
              <a:rPr lang="ru-RU" smtClean="0"/>
              <a:t>11.08.2026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94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0828-368E-45A3-9FDF-B2471060CCC6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25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FF78-36A0-4283-9CAA-B94666640765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11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F96D-A626-4F87-92D0-D4D5F737D4F4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71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69C9-0C62-4198-AD9C-5B77F62A9499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13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6660E9C9-CFF6-4258-AFE3-147E2DF22D4A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94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" TargetMode="External"/><Relationship Id="rId2" Type="http://schemas.openxmlformats.org/officeDocument/2006/relationships/hyperlink" Target="https://info.cern.ch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/HTTP/Basics_of_HTTP/Identifying_resources_on_the_We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/HTTP/Basics_of_HTT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/HTTP/Statu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htmlacademy.ru/blog/soft/chrome-devtools-2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Web-</a:t>
            </a:r>
            <a:r>
              <a:rPr lang="ru-RU" dirty="0" smtClean="0"/>
              <a:t>технологии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860180"/>
          </a:xfrm>
        </p:spPr>
        <p:txBody>
          <a:bodyPr>
            <a:normAutofit/>
          </a:bodyPr>
          <a:lstStyle/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такое Интернет?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такое клиент и сервер?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такое </a:t>
            </a:r>
            <a:r>
              <a:rPr lang="en-US" sz="3600" dirty="0" smtClean="0"/>
              <a:t>WWW</a:t>
            </a:r>
            <a:r>
              <a:rPr lang="ru-RU" sz="3600" dirty="0" smtClean="0"/>
              <a:t> (</a:t>
            </a:r>
            <a:r>
              <a:rPr lang="en-US" sz="3600" dirty="0" smtClean="0"/>
              <a:t>World Wide Web</a:t>
            </a:r>
            <a:r>
              <a:rPr lang="ru-RU" sz="3600" dirty="0" smtClean="0"/>
              <a:t>)?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3600" dirty="0"/>
              <a:t>Что такое </a:t>
            </a:r>
            <a:r>
              <a:rPr lang="en-US" sz="3600" dirty="0" smtClean="0"/>
              <a:t>IP</a:t>
            </a:r>
            <a:r>
              <a:rPr lang="ru-RU" sz="3600" dirty="0" smtClean="0"/>
              <a:t> и </a:t>
            </a:r>
            <a:r>
              <a:rPr lang="en-US" sz="3600" dirty="0" smtClean="0"/>
              <a:t>DNS</a:t>
            </a:r>
            <a:r>
              <a:rPr lang="ru-RU" sz="3600" dirty="0" smtClean="0"/>
              <a:t> имена</a:t>
            </a:r>
            <a:r>
              <a:rPr lang="en-US" sz="3600" dirty="0" smtClean="0"/>
              <a:t>?</a:t>
            </a:r>
            <a:endParaRPr lang="ru-RU" sz="3600" dirty="0"/>
          </a:p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</a:t>
            </a:r>
            <a:r>
              <a:rPr lang="ru-RU" sz="3600" dirty="0" smtClean="0"/>
              <a:t>такое </a:t>
            </a:r>
            <a:r>
              <a:rPr lang="en-US" sz="3600" dirty="0" smtClean="0"/>
              <a:t>URL</a:t>
            </a:r>
            <a:r>
              <a:rPr lang="ru-RU" sz="3600" dirty="0" smtClean="0"/>
              <a:t>?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</a:t>
            </a:r>
            <a:r>
              <a:rPr lang="ru-RU" sz="3600" dirty="0" smtClean="0"/>
              <a:t>такое </a:t>
            </a:r>
            <a:r>
              <a:rPr lang="ru-RU" sz="3600" dirty="0" err="1" smtClean="0"/>
              <a:t>гиппертекст</a:t>
            </a:r>
            <a:r>
              <a:rPr lang="ru-RU" sz="3600" dirty="0" smtClean="0"/>
              <a:t>?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такое </a:t>
            </a:r>
            <a:r>
              <a:rPr lang="en-US" sz="3600" dirty="0" smtClean="0"/>
              <a:t>web</a:t>
            </a:r>
            <a:r>
              <a:rPr lang="ru-RU" sz="3600" dirty="0" smtClean="0"/>
              <a:t>-сайт?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3600" dirty="0" smtClean="0"/>
              <a:t>Что такое браузер?</a:t>
            </a:r>
            <a:endParaRPr lang="ru-RU" sz="3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17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Тим </a:t>
            </a:r>
            <a:r>
              <a:rPr lang="ru-RU" b="1" dirty="0" err="1" smtClean="0"/>
              <a:t>Бернерс</a:t>
            </a:r>
            <a:r>
              <a:rPr lang="ru-RU" b="1" dirty="0" smtClean="0"/>
              <a:t>-Ли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715" y="2057400"/>
            <a:ext cx="6051169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0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Тим </a:t>
            </a:r>
            <a:r>
              <a:rPr lang="ru-RU" b="1" dirty="0" err="1" smtClean="0"/>
              <a:t>Бернерс</a:t>
            </a:r>
            <a:r>
              <a:rPr lang="ru-RU" b="1" dirty="0" smtClean="0"/>
              <a:t>-Ли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1490" indent="-457200">
              <a:buFont typeface="+mj-lt"/>
              <a:buAutoNum type="arabicPeriod"/>
            </a:pPr>
            <a:r>
              <a:rPr lang="ru-RU" dirty="0"/>
              <a:t>б</a:t>
            </a:r>
            <a:r>
              <a:rPr lang="ru-RU" dirty="0" smtClean="0"/>
              <a:t>ританский информатик, </a:t>
            </a:r>
          </a:p>
          <a:p>
            <a:pPr marL="491490" indent="-457200">
              <a:buFont typeface="+mj-lt"/>
              <a:buAutoNum type="arabicPeriod"/>
            </a:pPr>
            <a:r>
              <a:rPr lang="ru-RU" dirty="0" smtClean="0"/>
              <a:t>основатель идеи </a:t>
            </a:r>
            <a:r>
              <a:rPr lang="en-US" dirty="0"/>
              <a:t> World Wide Web </a:t>
            </a:r>
            <a:r>
              <a:rPr lang="ru-RU" dirty="0" smtClean="0"/>
              <a:t>(1989 г.)</a:t>
            </a:r>
          </a:p>
          <a:p>
            <a:pPr marL="491490" indent="-457200">
              <a:buFont typeface="+mj-lt"/>
              <a:buAutoNum type="arabicPeriod"/>
            </a:pPr>
            <a:r>
              <a:rPr lang="ru-RU" dirty="0" smtClean="0"/>
              <a:t>создатель браузера (</a:t>
            </a:r>
            <a:r>
              <a:rPr lang="en-US" dirty="0" err="1" smtClean="0"/>
              <a:t>WorldWideWeb</a:t>
            </a:r>
            <a:r>
              <a:rPr lang="ru-RU" dirty="0" smtClean="0"/>
              <a:t>, переименован </a:t>
            </a:r>
            <a:r>
              <a:rPr lang="en-US" dirty="0"/>
              <a:t>Nexus</a:t>
            </a:r>
            <a:r>
              <a:rPr lang="ru-RU" dirty="0" smtClean="0"/>
              <a:t>), </a:t>
            </a:r>
            <a:r>
              <a:rPr lang="ru-RU" dirty="0"/>
              <a:t>сервера, протокол передачи данных </a:t>
            </a:r>
            <a:r>
              <a:rPr lang="en-US" dirty="0"/>
              <a:t>HTTP (Hypertext Transfer Protocol), </a:t>
            </a:r>
            <a:r>
              <a:rPr lang="ru-RU" dirty="0"/>
              <a:t>способ записи адреса сайта в интернете </a:t>
            </a:r>
            <a:r>
              <a:rPr lang="ru-RU" dirty="0" smtClean="0"/>
              <a:t>URL</a:t>
            </a:r>
            <a:r>
              <a:rPr lang="en-US" dirty="0" smtClean="0"/>
              <a:t> (</a:t>
            </a:r>
            <a:r>
              <a:rPr lang="en-US" dirty="0"/>
              <a:t>Uniform Resource </a:t>
            </a:r>
            <a:r>
              <a:rPr lang="en-US" dirty="0" smtClean="0"/>
              <a:t>Locator), </a:t>
            </a:r>
            <a:r>
              <a:rPr lang="ru-RU" dirty="0"/>
              <a:t>первого в мире </a:t>
            </a:r>
            <a:r>
              <a:rPr lang="ru-RU" dirty="0" smtClean="0"/>
              <a:t>сайта</a:t>
            </a:r>
            <a:r>
              <a:rPr lang="en-US" dirty="0" smtClean="0"/>
              <a:t> (1991 </a:t>
            </a:r>
            <a:r>
              <a:rPr lang="ru-RU" dirty="0" smtClean="0"/>
              <a:t>г. </a:t>
            </a:r>
            <a:r>
              <a:rPr lang="en-US" dirty="0">
                <a:hlinkClick r:id="rId2"/>
              </a:rPr>
              <a:t>https://info.cern.ch</a:t>
            </a:r>
            <a:r>
              <a:rPr lang="en-US" dirty="0" smtClean="0">
                <a:hlinkClick r:id="rId2"/>
              </a:rPr>
              <a:t>/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r>
              <a:rPr lang="ru-RU" dirty="0" smtClean="0"/>
              <a:t>,</a:t>
            </a:r>
          </a:p>
          <a:p>
            <a:pPr marL="491490" indent="-457200">
              <a:buFont typeface="+mj-lt"/>
              <a:buAutoNum type="arabicPeriod"/>
            </a:pPr>
            <a:r>
              <a:rPr lang="ru-RU" dirty="0" smtClean="0"/>
              <a:t>изобретатель </a:t>
            </a:r>
            <a:r>
              <a:rPr lang="ru-RU" dirty="0"/>
              <a:t>язык </a:t>
            </a:r>
            <a:r>
              <a:rPr lang="ru-RU" dirty="0" smtClean="0"/>
              <a:t>HTML (1991 г.)</a:t>
            </a:r>
          </a:p>
          <a:p>
            <a:pPr marL="491490" indent="-457200">
              <a:buFont typeface="+mj-lt"/>
              <a:buAutoNum type="arabicPeriod"/>
            </a:pPr>
            <a:r>
              <a:rPr lang="ru-RU" dirty="0"/>
              <a:t>основал W3C в 1994 году, и он до сих пор является главой </a:t>
            </a:r>
            <a:r>
              <a:rPr lang="ru-RU" dirty="0" smtClean="0"/>
              <a:t>Консорциума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https://www.w3.org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637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1026" name="Picture 2" descr="Концепция и внедрение нового поколения Интернет – Web 3.0 - статья на  itProg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965960"/>
            <a:ext cx="7404100" cy="259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22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2" name="Picture 2" descr="Web 3.0 - концепция интернета будущег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3" y="385351"/>
            <a:ext cx="7260414" cy="575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14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2050" name="Picture 2" descr="Эволюция Интернета — Web 3.0 - ЯПлакалъ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196752"/>
            <a:ext cx="7404100" cy="401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09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 smtClean="0"/>
              <a:t>Адрес сайта</a:t>
            </a:r>
            <a:r>
              <a:rPr lang="ru-RU" sz="3600" b="1" i="1" dirty="0" smtClean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ru-RU" sz="3600" b="1" i="1" dirty="0" smtClean="0">
                <a:solidFill>
                  <a:schemeClr val="bg1">
                    <a:lumMod val="50000"/>
                  </a:schemeClr>
                </a:solidFill>
              </a:rPr>
            </a:br>
            <a:endParaRPr lang="ru-RU" dirty="0"/>
          </a:p>
        </p:txBody>
      </p:sp>
      <p:pic>
        <p:nvPicPr>
          <p:cNvPr id="1026" name="Picture 2" descr="http://www.puzzleweb.ru/images/teacher/ur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7" y="4293096"/>
            <a:ext cx="842868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joomla-abc.ru/images/Domennoe-imja/Domennoe-imja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288" y="1412776"/>
            <a:ext cx="5923420" cy="236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95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Доменное имя и </a:t>
            </a:r>
            <a:r>
              <a:rPr lang="en-US" sz="3600" b="1" dirty="0" smtClean="0"/>
              <a:t>IP</a:t>
            </a:r>
            <a:r>
              <a:rPr lang="ru-RU" sz="3600" b="1" dirty="0" smtClean="0"/>
              <a:t>-адрес</a:t>
            </a:r>
            <a:endParaRPr lang="ru-RU" sz="36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10" y="2060848"/>
            <a:ext cx="7853180" cy="396044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38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Принцип работа </a:t>
            </a:r>
            <a:r>
              <a:rPr lang="en-US" sz="3600" b="1" dirty="0" smtClean="0"/>
              <a:t>DNS</a:t>
            </a:r>
            <a:endParaRPr lang="ru-RU" sz="3600" dirty="0"/>
          </a:p>
        </p:txBody>
      </p:sp>
      <p:pic>
        <p:nvPicPr>
          <p:cNvPr id="2050" name="Picture 2" descr="http://booki.flossmanuals.net/bypassing-ru/_draft/_v/1.0/%D0%9A%D0%90%D0%9A%20%D0%A0%D0%90%D0%91%D0%9E%D0%A2%D0%90%D0%95%D0%A2%20%D0%98%D0%9D%D0%A2%D0%95%D0%A0%D0%9D%D0%95%D0%A2/static/04webpage_n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8" y="2132856"/>
            <a:ext cx="877918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7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URL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URI </a:t>
            </a:r>
            <a:r>
              <a:rPr lang="ru-RU" dirty="0" smtClean="0"/>
              <a:t>(</a:t>
            </a:r>
            <a:r>
              <a:rPr lang="en-US" dirty="0" smtClean="0"/>
              <a:t>Uniform Resource Identifier) — </a:t>
            </a:r>
            <a:r>
              <a:rPr lang="ru-RU" dirty="0" smtClean="0"/>
              <a:t>унифицированный (единообразный) идентификатор ресурса</a:t>
            </a:r>
          </a:p>
          <a:p>
            <a:pPr marL="0" indent="0">
              <a:buNone/>
            </a:pPr>
            <a:r>
              <a:rPr lang="en-US" dirty="0"/>
              <a:t>URL (Uniform Resource </a:t>
            </a:r>
            <a:r>
              <a:rPr lang="en-US" dirty="0" smtClean="0"/>
              <a:t>Locator</a:t>
            </a:r>
            <a:r>
              <a:rPr lang="ru-RU" dirty="0" smtClean="0"/>
              <a:t>, Унифицированный </a:t>
            </a:r>
            <a:r>
              <a:rPr lang="ru-RU" dirty="0"/>
              <a:t>локатор </a:t>
            </a:r>
            <a:r>
              <a:rPr lang="ru-RU" dirty="0" smtClean="0"/>
              <a:t>ресурса) –  </a:t>
            </a:r>
            <a:r>
              <a:rPr lang="ru-RU" dirty="0"/>
              <a:t>вид </a:t>
            </a:r>
            <a:r>
              <a:rPr lang="en-US" dirty="0"/>
              <a:t>URI, </a:t>
            </a:r>
            <a:r>
              <a:rPr lang="ru-RU" dirty="0"/>
              <a:t>его </a:t>
            </a:r>
            <a:r>
              <a:rPr lang="ru-RU" dirty="0" smtClean="0"/>
              <a:t>называют</a:t>
            </a:r>
            <a:r>
              <a:rPr lang="ru-RU" dirty="0"/>
              <a:t> </a:t>
            </a:r>
            <a:r>
              <a:rPr lang="ru-RU" i="1" dirty="0" smtClean="0"/>
              <a:t>веб-адресом.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Примеры: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https://github.com/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https://habr.com/ru/articles/733456/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https://vk.com/im?sel=2202102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22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Части </a:t>
            </a:r>
            <a:r>
              <a:rPr lang="en-US" b="1" dirty="0" smtClean="0"/>
              <a:t>URL</a:t>
            </a:r>
            <a:endParaRPr lang="ru-RU" b="1" dirty="0"/>
          </a:p>
        </p:txBody>
      </p:sp>
      <p:pic>
        <p:nvPicPr>
          <p:cNvPr id="1026" name="Picture 2" descr="Protoco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53724"/>
            <a:ext cx="628650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maine Na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541614"/>
            <a:ext cx="6286500" cy="100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o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320" y="4561809"/>
            <a:ext cx="6286500" cy="100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634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Части </a:t>
            </a:r>
            <a:r>
              <a:rPr lang="en-US" b="1" dirty="0" smtClean="0"/>
              <a:t>URL</a:t>
            </a:r>
            <a:endParaRPr lang="ru-RU" b="1" dirty="0"/>
          </a:p>
        </p:txBody>
      </p:sp>
      <p:pic>
        <p:nvPicPr>
          <p:cNvPr id="2050" name="Picture 2" descr="Path to the fil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7" y="2312483"/>
            <a:ext cx="628650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rame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7" y="3576431"/>
            <a:ext cx="6286500" cy="100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ch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7" y="4840380"/>
            <a:ext cx="6286500" cy="100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68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URL</a:t>
            </a:r>
            <a:r>
              <a:rPr lang="ru-RU" b="1" dirty="0" smtClean="0"/>
              <a:t> подробнее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https://developer.mozilla.org/ru/docs/Web/HTTP/Basics_of_HTTP/Identifying_resources_on_the_Web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468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HTTP</a:t>
            </a:r>
            <a:r>
              <a:rPr lang="ru-RU" dirty="0"/>
              <a:t> — это протокол, позволяющий получать различные ресурсы, например HTML-документы.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HTTP </a:t>
            </a:r>
            <a:r>
              <a:rPr lang="ru-RU" dirty="0"/>
              <a:t>является протоколом клиент-серверного взаимодействия, что означает инициирование запросов к серверу самим получателем, обычно веб-браузером (</a:t>
            </a:r>
            <a:r>
              <a:rPr lang="ru-RU" dirty="0" err="1"/>
              <a:t>web-browser</a:t>
            </a:r>
            <a:r>
              <a:rPr lang="ru-RU" dirty="0"/>
              <a:t>).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181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</a:t>
            </a:r>
            <a:endParaRPr lang="ru-RU" b="1" dirty="0"/>
          </a:p>
        </p:txBody>
      </p:sp>
      <p:pic>
        <p:nvPicPr>
          <p:cNvPr id="3074" name="Picture 2" descr="A Web document is the composition of different resourc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022" y="2226469"/>
            <a:ext cx="5547956" cy="32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468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</a:t>
            </a:r>
            <a:r>
              <a:rPr lang="en-US" b="1" dirty="0" smtClean="0"/>
              <a:t>http-</a:t>
            </a:r>
            <a:r>
              <a:rPr lang="ru-RU" b="1" dirty="0" smtClean="0"/>
              <a:t>методов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472122"/>
          </a:xfrm>
        </p:spPr>
        <p:txBody>
          <a:bodyPr>
            <a:normAutofit/>
          </a:bodyPr>
          <a:lstStyle/>
          <a:p>
            <a:r>
              <a:rPr lang="en-US" dirty="0"/>
              <a:t>GET – </a:t>
            </a:r>
            <a:r>
              <a:rPr lang="ru-RU" dirty="0"/>
              <a:t>метод получения данных от веб-сервиса, параметры указываются прямо в </a:t>
            </a:r>
            <a:r>
              <a:rPr lang="en-US" dirty="0"/>
              <a:t>URL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POST – </a:t>
            </a:r>
            <a:r>
              <a:rPr lang="ru-RU" dirty="0"/>
              <a:t>метод создания нового объекта, используется для отправки информации на веб-сервис. </a:t>
            </a:r>
            <a:endParaRPr lang="ru-RU" dirty="0" smtClean="0"/>
          </a:p>
          <a:p>
            <a:r>
              <a:rPr lang="en-US" dirty="0" smtClean="0"/>
              <a:t>DELETE</a:t>
            </a:r>
            <a:r>
              <a:rPr lang="ru-RU" dirty="0" smtClean="0"/>
              <a:t> </a:t>
            </a:r>
            <a:r>
              <a:rPr lang="ru-RU" dirty="0"/>
              <a:t>– метод удаления объекта, используется для отправки запроса на удаление определенного объекта. </a:t>
            </a:r>
            <a:endParaRPr lang="ru-RU" dirty="0" smtClean="0"/>
          </a:p>
          <a:p>
            <a:r>
              <a:rPr lang="en-US" dirty="0" smtClean="0"/>
              <a:t>PUT</a:t>
            </a:r>
            <a:r>
              <a:rPr lang="ru-RU" dirty="0" smtClean="0"/>
              <a:t> </a:t>
            </a:r>
            <a:r>
              <a:rPr lang="ru-RU" dirty="0"/>
              <a:t>– метод обновления объекта, используется для отправки обновлений на сервер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PATCH</a:t>
            </a:r>
            <a:r>
              <a:rPr lang="ru-RU" dirty="0"/>
              <a:t> – метод </a:t>
            </a:r>
            <a:r>
              <a:rPr lang="ru-RU" dirty="0" smtClean="0"/>
              <a:t>частичного обновления </a:t>
            </a:r>
            <a:r>
              <a:rPr lang="ru-RU" dirty="0"/>
              <a:t>объекта, используется для отправки обновлений на сервер.</a:t>
            </a:r>
            <a:endParaRPr lang="en-US" dirty="0"/>
          </a:p>
          <a:p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553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</a:t>
            </a:r>
            <a:r>
              <a:rPr lang="ru-RU" b="1" dirty="0" smtClean="0"/>
              <a:t> подробнее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https://developer.mozilla.org/ru/docs/Web/HTTP/Basics_of_HTTP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12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Запросы и ответы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/>
              <a:t>Запросы (HTTP </a:t>
            </a:r>
            <a:r>
              <a:rPr lang="ru-RU" b="1" dirty="0" err="1"/>
              <a:t>Requests</a:t>
            </a:r>
            <a:r>
              <a:rPr lang="ru-RU" b="1" dirty="0"/>
              <a:t>) </a:t>
            </a:r>
            <a:r>
              <a:rPr lang="ru-RU" dirty="0"/>
              <a:t>— сообщения, которые отправляются клиентом на сервер, чтобы вызвать выполнение некоторых действий. Зачастую для получения доступа к определенному ресурсу. Основой запроса является HTTP-заголовок.</a:t>
            </a:r>
          </a:p>
          <a:p>
            <a:pPr fontAlgn="base"/>
            <a:r>
              <a:rPr lang="ru-RU" b="1" dirty="0"/>
              <a:t>Ответы (HTTP </a:t>
            </a:r>
            <a:r>
              <a:rPr lang="ru-RU" b="1" dirty="0" err="1"/>
              <a:t>Responses</a:t>
            </a:r>
            <a:r>
              <a:rPr lang="ru-RU" b="1" dirty="0"/>
              <a:t>)</a:t>
            </a:r>
            <a:r>
              <a:rPr lang="ru-RU" dirty="0"/>
              <a:t> — сообщения, которые сервер отправляет </a:t>
            </a:r>
            <a:r>
              <a:rPr lang="ru-RU" i="1" dirty="0"/>
              <a:t>в ответ</a:t>
            </a:r>
            <a:r>
              <a:rPr lang="ru-RU" dirty="0"/>
              <a:t> на клиентский запрос.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912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Статусы ответа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Информационные 100 - 199</a:t>
            </a:r>
          </a:p>
          <a:p>
            <a:r>
              <a:rPr lang="ru-RU" dirty="0"/>
              <a:t>Успешные 200 - 299</a:t>
            </a:r>
          </a:p>
          <a:p>
            <a:r>
              <a:rPr lang="ru-RU" dirty="0"/>
              <a:t>Перенаправления 300 - 399</a:t>
            </a:r>
          </a:p>
          <a:p>
            <a:r>
              <a:rPr lang="ru-RU" dirty="0"/>
              <a:t>Клиентские ошибки 400 - 499</a:t>
            </a:r>
          </a:p>
          <a:p>
            <a:r>
              <a:rPr lang="ru-RU" dirty="0"/>
              <a:t>Серверные ошибки 500 - 599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https://developer.mozilla.org/ru/docs/Web/HTTP/Status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8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DevTools</a:t>
            </a:r>
            <a:r>
              <a:rPr lang="en-US" b="1" dirty="0" smtClean="0"/>
              <a:t> Network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https://htmlacademy.ru/blog/soft/chrome-devtools-2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21DFD-49DC-4924-8453-4CBD3B80C641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970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457201" y="380247"/>
            <a:ext cx="5223849" cy="2227152"/>
          </a:xfrm>
          <a:prstGeom prst="roundRect">
            <a:avLst/>
          </a:prstGeom>
          <a:noFill/>
          <a:ln w="168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Компьютер-клиент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0368" y="3666654"/>
            <a:ext cx="8193385" cy="2716039"/>
          </a:xfrm>
          <a:prstGeom prst="roundRect">
            <a:avLst/>
          </a:prstGeom>
          <a:noFill/>
          <a:ln w="168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Компьютер-сервер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68720" y="985323"/>
            <a:ext cx="4255129" cy="12312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Браузер</a:t>
            </a:r>
          </a:p>
          <a:p>
            <a:pPr algn="ct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Google Chrome, Internet Explorer, Mozilla Firefox, Safari, Opera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23041" y="4187227"/>
            <a:ext cx="4590107" cy="1674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Веб-сервер</a:t>
            </a:r>
          </a:p>
          <a:p>
            <a:pPr algn="ctr"/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444935" y="4187227"/>
            <a:ext cx="2046083" cy="1674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СУБД</a:t>
            </a:r>
          </a:p>
          <a:p>
            <a:pPr algn="ctr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(система управления базами данных)</a:t>
            </a:r>
          </a:p>
        </p:txBody>
      </p:sp>
      <p:sp>
        <p:nvSpPr>
          <p:cNvPr id="10" name="Скругленная прямоугольная выноска 9"/>
          <p:cNvSpPr/>
          <p:nvPr/>
        </p:nvSpPr>
        <p:spPr>
          <a:xfrm>
            <a:off x="6036397" y="380247"/>
            <a:ext cx="2806575" cy="605076"/>
          </a:xfrm>
          <a:prstGeom prst="wedgeRoundRectCallout">
            <a:avLst>
              <a:gd name="adj1" fmla="val -89543"/>
              <a:gd name="adj2" fmla="val 8644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Структурный слой (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Скругленная прямоугольная выноска 10"/>
          <p:cNvSpPr/>
          <p:nvPr/>
        </p:nvSpPr>
        <p:spPr>
          <a:xfrm>
            <a:off x="6036397" y="1191285"/>
            <a:ext cx="2806575" cy="605076"/>
          </a:xfrm>
          <a:prstGeom prst="wedgeRoundRectCallout">
            <a:avLst>
              <a:gd name="adj1" fmla="val -91156"/>
              <a:gd name="adj2" fmla="val 3556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Презентационный слой (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CSS</a:t>
            </a:r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6036397" y="2023451"/>
            <a:ext cx="2806575" cy="605076"/>
          </a:xfrm>
          <a:prstGeom prst="wedgeRoundRectCallout">
            <a:avLst>
              <a:gd name="adj1" fmla="val -90834"/>
              <a:gd name="adj2" fmla="val -5869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Поведенческий слой (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JavaScript</a:t>
            </a:r>
            <a:r>
              <a:rPr lang="ru-RU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Стрелка вниз 13"/>
          <p:cNvSpPr/>
          <p:nvPr/>
        </p:nvSpPr>
        <p:spPr>
          <a:xfrm>
            <a:off x="1195060" y="2100404"/>
            <a:ext cx="334978" cy="2239221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1413919" y="2670145"/>
            <a:ext cx="34371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http-</a:t>
            </a:r>
            <a:r>
              <a:rPr lang="ru-RU" dirty="0" smtClean="0"/>
              <a:t>запрос (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http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://vk.com/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https://vk.com/lab_web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https://vk.com/lab_web?act=edit 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16" name="Стрелка вправо 15"/>
          <p:cNvSpPr/>
          <p:nvPr/>
        </p:nvSpPr>
        <p:spPr>
          <a:xfrm>
            <a:off x="5524876" y="4698749"/>
            <a:ext cx="1023041" cy="325923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5386789" y="4339625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SQL</a:t>
            </a:r>
            <a:r>
              <a:rPr lang="ru-RU" dirty="0" smtClean="0"/>
              <a:t>-запрос</a:t>
            </a:r>
            <a:endParaRPr lang="ru-RU" dirty="0"/>
          </a:p>
        </p:txBody>
      </p:sp>
      <p:sp>
        <p:nvSpPr>
          <p:cNvPr id="18" name="Стрелка влево 17"/>
          <p:cNvSpPr/>
          <p:nvPr/>
        </p:nvSpPr>
        <p:spPr>
          <a:xfrm>
            <a:off x="5524876" y="5223849"/>
            <a:ext cx="1023041" cy="321395"/>
          </a:xfrm>
          <a:prstGeom prst="lef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5594474" y="4935816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данные</a:t>
            </a:r>
            <a:endParaRPr lang="ru-RU" dirty="0"/>
          </a:p>
        </p:txBody>
      </p:sp>
      <p:sp>
        <p:nvSpPr>
          <p:cNvPr id="20" name="Стрелка вниз 19"/>
          <p:cNvSpPr/>
          <p:nvPr/>
        </p:nvSpPr>
        <p:spPr>
          <a:xfrm flipV="1">
            <a:off x="4779076" y="2023451"/>
            <a:ext cx="334978" cy="231617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5069937" y="2822913"/>
            <a:ext cx="2848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HTML, CSS, JavaScript, </a:t>
            </a:r>
            <a:r>
              <a:rPr lang="ru-RU" dirty="0" smtClean="0"/>
              <a:t>данные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tx2"/>
                </a:solidFill>
              </a:rPr>
              <a:t>Компоненты </a:t>
            </a:r>
            <a:r>
              <a:rPr lang="en-US" b="1" dirty="0" smtClean="0">
                <a:solidFill>
                  <a:schemeClr val="tx2"/>
                </a:solidFill>
              </a:rPr>
              <a:t>web</a:t>
            </a:r>
            <a:r>
              <a:rPr lang="ru-RU" b="1" dirty="0" smtClean="0">
                <a:solidFill>
                  <a:schemeClr val="tx2"/>
                </a:solidFill>
              </a:rPr>
              <a:t>-страницы</a:t>
            </a:r>
            <a:endParaRPr lang="ru-RU" b="1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57251" y="2057400"/>
            <a:ext cx="7747197" cy="4038600"/>
          </a:xfrm>
        </p:spPr>
        <p:txBody>
          <a:bodyPr/>
          <a:lstStyle/>
          <a:p>
            <a:pPr marL="777240" lvl="0" indent="-742950">
              <a:buFont typeface="+mj-lt"/>
              <a:buAutoNum type="arabicPeriod"/>
            </a:pPr>
            <a:r>
              <a:rPr lang="ru-RU" sz="2800" dirty="0" smtClean="0"/>
              <a:t>контент</a:t>
            </a:r>
            <a:r>
              <a:rPr lang="en-US" sz="2800" dirty="0" smtClean="0"/>
              <a:t> (</a:t>
            </a:r>
            <a:r>
              <a:rPr lang="ru-RU" sz="2800" dirty="0" smtClean="0"/>
              <a:t>текст, картинки, видео, музыка и т.п. , в том числе из баз данных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pPr marL="777240" lvl="0" indent="-742950">
              <a:buFont typeface="+mj-lt"/>
              <a:buAutoNum type="arabicPeriod"/>
            </a:pPr>
            <a:r>
              <a:rPr lang="ru-RU" sz="2800" dirty="0" smtClean="0"/>
              <a:t>логическая структура </a:t>
            </a:r>
            <a:endParaRPr lang="en-US" sz="2800" dirty="0" smtClean="0"/>
          </a:p>
          <a:p>
            <a:pPr marL="777240" lvl="0" indent="-742950">
              <a:buFont typeface="+mj-lt"/>
              <a:buAutoNum type="arabicPeriod"/>
            </a:pPr>
            <a:r>
              <a:rPr lang="ru-RU" sz="2800" dirty="0" smtClean="0"/>
              <a:t>оформление </a:t>
            </a:r>
            <a:endParaRPr lang="en-US" sz="2800" dirty="0" smtClean="0"/>
          </a:p>
          <a:p>
            <a:pPr marL="777240" lvl="0" indent="-742950">
              <a:buFont typeface="+mj-lt"/>
              <a:buAutoNum type="arabicPeriod"/>
            </a:pPr>
            <a:r>
              <a:rPr lang="ru-RU" sz="2800" dirty="0" smtClean="0"/>
              <a:t>поведение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7251" y="332656"/>
            <a:ext cx="7406640" cy="1356360"/>
          </a:xfrm>
        </p:spPr>
        <p:txBody>
          <a:bodyPr/>
          <a:lstStyle/>
          <a:p>
            <a:r>
              <a:rPr lang="ru-RU" b="1" dirty="0" smtClean="0">
                <a:solidFill>
                  <a:schemeClr val="tx2"/>
                </a:solidFill>
              </a:rPr>
              <a:t>Веб-технологии</a:t>
            </a:r>
            <a:endParaRPr lang="ru-RU" b="1" dirty="0">
              <a:solidFill>
                <a:schemeClr val="tx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5" y="1628800"/>
            <a:ext cx="8352928" cy="4968552"/>
          </a:xfrm>
        </p:spPr>
        <p:txBody>
          <a:bodyPr>
            <a:normAutofit lnSpcReduction="10000"/>
          </a:bodyPr>
          <a:lstStyle/>
          <a:p>
            <a:pPr marL="624078" indent="-514350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</a:rPr>
              <a:t>Языки гипертекстовой разметки </a:t>
            </a:r>
            <a:r>
              <a:rPr lang="en-US" sz="2400" dirty="0">
                <a:solidFill>
                  <a:schemeClr val="tx1"/>
                </a:solidFill>
              </a:rPr>
              <a:t>(HTML – </a:t>
            </a:r>
            <a:r>
              <a:rPr lang="en-US" sz="2400" dirty="0" smtClean="0">
                <a:solidFill>
                  <a:schemeClr val="tx1"/>
                </a:solidFill>
              </a:rPr>
              <a:t>Hyper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Text </a:t>
            </a:r>
            <a:r>
              <a:rPr lang="en-US" sz="2400" dirty="0">
                <a:solidFill>
                  <a:schemeClr val="tx1"/>
                </a:solidFill>
              </a:rPr>
              <a:t>Markup </a:t>
            </a:r>
            <a:r>
              <a:rPr lang="en-US" sz="2400" dirty="0" smtClean="0">
                <a:solidFill>
                  <a:schemeClr val="tx1"/>
                </a:solidFill>
              </a:rPr>
              <a:t>Language)</a:t>
            </a:r>
            <a:endParaRPr lang="en-US" sz="2400" dirty="0">
              <a:solidFill>
                <a:schemeClr val="tx1"/>
              </a:solidFill>
            </a:endParaRPr>
          </a:p>
          <a:p>
            <a:pPr marL="624078" indent="-514350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</a:rPr>
              <a:t>Каскадные таблицы стилей (</a:t>
            </a:r>
            <a:r>
              <a:rPr lang="en-US" sz="2400" dirty="0">
                <a:solidFill>
                  <a:schemeClr val="tx1"/>
                </a:solidFill>
              </a:rPr>
              <a:t>CSS – Cascading Style Sheets</a:t>
            </a:r>
            <a:r>
              <a:rPr lang="ru-RU" sz="2400" dirty="0">
                <a:solidFill>
                  <a:schemeClr val="tx1"/>
                </a:solidFill>
              </a:rPr>
              <a:t>)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endParaRPr lang="ru-RU" sz="2400" dirty="0">
              <a:solidFill>
                <a:schemeClr val="tx1"/>
              </a:solidFill>
            </a:endParaRPr>
          </a:p>
          <a:p>
            <a:pPr marL="624078" indent="-514350">
              <a:buFont typeface="+mj-lt"/>
              <a:buAutoNum type="arabicPeriod"/>
            </a:pPr>
            <a:r>
              <a:rPr lang="ru-RU" sz="2400" dirty="0" smtClean="0">
                <a:solidFill>
                  <a:schemeClr val="tx1"/>
                </a:solidFill>
              </a:rPr>
              <a:t>Языки </a:t>
            </a:r>
            <a:r>
              <a:rPr lang="ru-RU" sz="2400" dirty="0">
                <a:solidFill>
                  <a:schemeClr val="tx1"/>
                </a:solidFill>
              </a:rPr>
              <a:t>разработки клиентских </a:t>
            </a:r>
            <a:r>
              <a:rPr lang="en-US" sz="2400" dirty="0">
                <a:solidFill>
                  <a:schemeClr val="tx1"/>
                </a:solidFill>
              </a:rPr>
              <a:t>web</a:t>
            </a:r>
            <a:r>
              <a:rPr lang="ru-RU" sz="2400" dirty="0">
                <a:solidFill>
                  <a:schemeClr val="tx1"/>
                </a:solidFill>
              </a:rPr>
              <a:t>-приложений (</a:t>
            </a:r>
            <a:r>
              <a:rPr lang="en-US" sz="2400" dirty="0">
                <a:solidFill>
                  <a:schemeClr val="tx1"/>
                </a:solidFill>
              </a:rPr>
              <a:t>JavaScript</a:t>
            </a:r>
            <a:r>
              <a:rPr lang="ru-RU" sz="2400" dirty="0">
                <a:solidFill>
                  <a:schemeClr val="tx1"/>
                </a:solidFill>
              </a:rPr>
              <a:t>, </a:t>
            </a:r>
            <a:r>
              <a:rPr lang="en-US" sz="2400" dirty="0" err="1" smtClean="0"/>
              <a:t>TypeScript</a:t>
            </a:r>
            <a:r>
              <a:rPr lang="en-US" sz="2400" dirty="0" smtClean="0"/>
              <a:t>, </a:t>
            </a:r>
            <a:r>
              <a:rPr lang="ru-RU" sz="2400" dirty="0" smtClean="0">
                <a:solidFill>
                  <a:schemeClr val="tx1"/>
                </a:solidFill>
              </a:rPr>
              <a:t>библиотеки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 smtClean="0">
                <a:solidFill>
                  <a:schemeClr val="tx1"/>
                </a:solidFill>
              </a:rPr>
              <a:t>и </a:t>
            </a:r>
            <a:r>
              <a:rPr lang="ru-RU" sz="2400" dirty="0" err="1" smtClean="0">
                <a:solidFill>
                  <a:schemeClr val="tx1"/>
                </a:solidFill>
              </a:rPr>
              <a:t>фреймворки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/>
              <a:t>React JS, </a:t>
            </a:r>
            <a:r>
              <a:rPr lang="en-US" sz="2400" dirty="0" err="1" smtClean="0"/>
              <a:t>Vue</a:t>
            </a:r>
            <a:r>
              <a:rPr lang="en-US" sz="2400" dirty="0" smtClean="0"/>
              <a:t> JS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и др.);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</a:rPr>
              <a:t>Языки разработки серверных  </a:t>
            </a:r>
            <a:r>
              <a:rPr lang="en-US" sz="2400" dirty="0">
                <a:solidFill>
                  <a:schemeClr val="tx1"/>
                </a:solidFill>
              </a:rPr>
              <a:t>web</a:t>
            </a:r>
            <a:r>
              <a:rPr lang="ru-RU" sz="2400" dirty="0">
                <a:solidFill>
                  <a:schemeClr val="tx1"/>
                </a:solidFill>
              </a:rPr>
              <a:t>-приложений ( </a:t>
            </a:r>
            <a:r>
              <a:rPr lang="en-US" sz="2400" dirty="0">
                <a:solidFill>
                  <a:schemeClr val="tx1"/>
                </a:solidFill>
              </a:rPr>
              <a:t>PHP</a:t>
            </a:r>
            <a:r>
              <a:rPr lang="ru-RU" sz="2400" dirty="0">
                <a:solidFill>
                  <a:schemeClr val="tx1"/>
                </a:solidFill>
              </a:rPr>
              <a:t>, </a:t>
            </a:r>
            <a:r>
              <a:rPr lang="en-US" sz="2400" dirty="0" smtClean="0"/>
              <a:t>Python</a:t>
            </a:r>
            <a:r>
              <a:rPr lang="en-US" sz="2400" dirty="0" smtClean="0">
                <a:solidFill>
                  <a:schemeClr val="tx1"/>
                </a:solidFill>
              </a:rPr>
              <a:t>, C#, </a:t>
            </a:r>
            <a:r>
              <a:rPr lang="ru-RU" sz="2400" dirty="0"/>
              <a:t>библиотеки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ru-RU" sz="2400" dirty="0" err="1" smtClean="0"/>
              <a:t>фреймворки</a:t>
            </a:r>
            <a:r>
              <a:rPr lang="en-US" sz="2400" dirty="0" smtClean="0"/>
              <a:t> </a:t>
            </a:r>
            <a:r>
              <a:rPr lang="en-US" sz="2400" dirty="0" err="1" smtClean="0"/>
              <a:t>Laravel</a:t>
            </a:r>
            <a:r>
              <a:rPr lang="ru-RU" sz="2400" dirty="0" smtClean="0"/>
              <a:t>, </a:t>
            </a:r>
            <a:r>
              <a:rPr lang="en-US" sz="2400" dirty="0" smtClean="0"/>
              <a:t>ASP Net, Django </a:t>
            </a:r>
            <a:r>
              <a:rPr lang="ru-RU" sz="2400" dirty="0" smtClean="0"/>
              <a:t> и др.)</a:t>
            </a:r>
            <a:endParaRPr lang="en-US" sz="2400" dirty="0">
              <a:solidFill>
                <a:schemeClr val="tx1"/>
              </a:solidFill>
            </a:endParaRPr>
          </a:p>
          <a:p>
            <a:pPr marL="624078" indent="-514350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</a:rPr>
              <a:t>Технологии обмена данными </a:t>
            </a:r>
            <a:r>
              <a:rPr lang="ru-RU" sz="2400" dirty="0" smtClean="0">
                <a:solidFill>
                  <a:schemeClr val="tx1"/>
                </a:solidFill>
              </a:rPr>
              <a:t>(</a:t>
            </a:r>
            <a:r>
              <a:rPr lang="en-US" sz="2400" dirty="0"/>
              <a:t>JSON – JavaScript Object </a:t>
            </a:r>
            <a:r>
              <a:rPr lang="en-US" sz="2400" dirty="0" smtClean="0"/>
              <a:t>Notation, </a:t>
            </a:r>
            <a:r>
              <a:rPr lang="en-US" sz="2400" dirty="0" smtClean="0">
                <a:solidFill>
                  <a:schemeClr val="tx1"/>
                </a:solidFill>
              </a:rPr>
              <a:t>XML </a:t>
            </a:r>
            <a:r>
              <a:rPr lang="en-US" sz="2400" dirty="0">
                <a:solidFill>
                  <a:schemeClr val="tx1"/>
                </a:solidFill>
              </a:rPr>
              <a:t>– Extensible Markup </a:t>
            </a:r>
            <a:r>
              <a:rPr lang="en-US" sz="2400" dirty="0" smtClean="0">
                <a:solidFill>
                  <a:schemeClr val="tx1"/>
                </a:solidFill>
              </a:rPr>
              <a:t>Language</a:t>
            </a:r>
            <a:r>
              <a:rPr lang="ru-RU" sz="2400" dirty="0" smtClean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  <a:p>
            <a:pPr marL="624078" indent="-514350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</a:rPr>
              <a:t>Технологии хранения данных </a:t>
            </a:r>
            <a:r>
              <a:rPr lang="en-US" sz="2400" dirty="0" smtClean="0">
                <a:solidFill>
                  <a:schemeClr val="tx1"/>
                </a:solidFill>
              </a:rPr>
              <a:t>(</a:t>
            </a:r>
            <a:r>
              <a:rPr lang="ru-RU" sz="2400" dirty="0" smtClean="0">
                <a:solidFill>
                  <a:schemeClr val="tx1"/>
                </a:solidFill>
              </a:rPr>
              <a:t>СУБД </a:t>
            </a:r>
            <a:r>
              <a:rPr lang="en-US" sz="2400" dirty="0">
                <a:solidFill>
                  <a:schemeClr val="tx1"/>
                </a:solidFill>
              </a:rPr>
              <a:t>MySQL</a:t>
            </a:r>
            <a:r>
              <a:rPr lang="ru-RU" sz="2400" dirty="0">
                <a:solidFill>
                  <a:schemeClr val="tx1"/>
                </a:solidFill>
              </a:rPr>
              <a:t>, </a:t>
            </a:r>
            <a:r>
              <a:rPr lang="en-US" sz="2400" dirty="0">
                <a:solidFill>
                  <a:schemeClr val="tx1"/>
                </a:solidFill>
              </a:rPr>
              <a:t>MS SQL </a:t>
            </a:r>
            <a:r>
              <a:rPr lang="en-US" sz="2400" dirty="0"/>
              <a:t>Server, </a:t>
            </a:r>
            <a:r>
              <a:rPr lang="en-US" sz="2400" dirty="0" smtClean="0"/>
              <a:t>PostgreSQL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ru-RU" sz="2400" dirty="0" smtClean="0"/>
              <a:t>и др.</a:t>
            </a:r>
            <a:r>
              <a:rPr lang="en-US" sz="2400" dirty="0" smtClean="0"/>
              <a:t>)</a:t>
            </a:r>
            <a:endParaRPr lang="ru-RU" sz="2400" dirty="0">
              <a:solidFill>
                <a:schemeClr val="tx1"/>
              </a:solidFill>
            </a:endParaRPr>
          </a:p>
          <a:p>
            <a:pPr marL="3429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67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chemeClr val="tx2"/>
                </a:solidFill>
              </a:rPr>
              <a:t>Способы создания веб-сайтов и веб-приложений</a:t>
            </a:r>
            <a:endParaRPr lang="ru-RU" sz="3600" b="1" dirty="0">
              <a:solidFill>
                <a:schemeClr val="tx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7251" y="2057400"/>
            <a:ext cx="7963221" cy="4323928"/>
          </a:xfrm>
        </p:spPr>
        <p:txBody>
          <a:bodyPr>
            <a:no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«с нуля» - полностью писать код </a:t>
            </a:r>
            <a:r>
              <a:rPr lang="en-US" sz="2400" dirty="0" smtClean="0"/>
              <a:t>HTML</a:t>
            </a:r>
            <a:r>
              <a:rPr lang="ru-RU" sz="2400" dirty="0" smtClean="0"/>
              <a:t>, </a:t>
            </a:r>
            <a:r>
              <a:rPr lang="en-US" sz="2400" dirty="0" smtClean="0"/>
              <a:t>CSS</a:t>
            </a:r>
            <a:r>
              <a:rPr lang="ru-RU" sz="2400" dirty="0" smtClean="0"/>
              <a:t>, </a:t>
            </a:r>
            <a:r>
              <a:rPr lang="en-US" sz="2400" dirty="0" smtClean="0"/>
              <a:t>JavaScript </a:t>
            </a:r>
            <a:r>
              <a:rPr lang="ru-RU" sz="2400" dirty="0" smtClean="0"/>
              <a:t>и </a:t>
            </a:r>
            <a:r>
              <a:rPr lang="en-US" sz="2400" dirty="0" smtClean="0"/>
              <a:t>PHP</a:t>
            </a:r>
            <a:r>
              <a:rPr lang="ru-RU" sz="2400" dirty="0" smtClean="0"/>
              <a:t> или других языков программирования, проектировать и создавать базу данных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Конструкторы сайтов (</a:t>
            </a:r>
            <a:r>
              <a:rPr lang="en-US" sz="2400" dirty="0" smtClean="0"/>
              <a:t>Tilda</a:t>
            </a:r>
            <a:r>
              <a:rPr lang="en-US" sz="2400" dirty="0"/>
              <a:t>, </a:t>
            </a:r>
            <a:r>
              <a:rPr lang="en-US" sz="2400" dirty="0" err="1" smtClean="0"/>
              <a:t>Mobirise</a:t>
            </a:r>
            <a:r>
              <a:rPr lang="en-US" sz="2400" dirty="0" smtClean="0"/>
              <a:t> </a:t>
            </a:r>
            <a:r>
              <a:rPr lang="ru-RU" sz="2400" dirty="0" smtClean="0"/>
              <a:t>и т.д.) </a:t>
            </a:r>
            <a:endParaRPr lang="en-US" sz="2400" dirty="0" smtClean="0"/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Системы </a:t>
            </a:r>
            <a:r>
              <a:rPr lang="ru-RU" sz="2400" dirty="0" smtClean="0"/>
              <a:t>управления контентом сайта </a:t>
            </a:r>
            <a:r>
              <a:rPr lang="en-US" sz="2400" dirty="0" smtClean="0"/>
              <a:t>(CMS – Content Management System</a:t>
            </a:r>
            <a:r>
              <a:rPr lang="ru-RU" sz="2400" dirty="0" smtClean="0"/>
              <a:t>например </a:t>
            </a:r>
            <a:r>
              <a:rPr lang="en-US" sz="2400" dirty="0" smtClean="0"/>
              <a:t>WordPress, Joomla, </a:t>
            </a:r>
            <a:r>
              <a:rPr lang="en-US" sz="2400" dirty="0" err="1" smtClean="0"/>
              <a:t>OpenCart</a:t>
            </a:r>
            <a:r>
              <a:rPr lang="en-US" sz="2400" dirty="0" smtClean="0"/>
              <a:t>, </a:t>
            </a:r>
            <a:r>
              <a:rPr lang="en-US" sz="2400" dirty="0" err="1" smtClean="0"/>
              <a:t>Bitrix</a:t>
            </a:r>
            <a:r>
              <a:rPr lang="en-US" sz="2400" dirty="0" smtClean="0"/>
              <a:t>, </a:t>
            </a:r>
            <a:r>
              <a:rPr lang="en-US" sz="2400" dirty="0" err="1" smtClean="0"/>
              <a:t>Netcat</a:t>
            </a:r>
            <a:r>
              <a:rPr lang="en-US" sz="2400" dirty="0" smtClean="0"/>
              <a:t> </a:t>
            </a:r>
            <a:r>
              <a:rPr lang="ru-RU" sz="2400" dirty="0" smtClean="0"/>
              <a:t>и т.д.</a:t>
            </a:r>
            <a:r>
              <a:rPr lang="en-US" sz="2400" dirty="0"/>
              <a:t> </a:t>
            </a:r>
            <a:r>
              <a:rPr lang="en-US" sz="2400" dirty="0" smtClean="0"/>
              <a:t>)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Фреймворки(это </a:t>
            </a:r>
            <a:r>
              <a:rPr lang="ru-RU" sz="2400" dirty="0" smtClean="0"/>
              <a:t>программное обеспечение, </a:t>
            </a:r>
            <a:r>
              <a:rPr lang="ru-RU" sz="2400" dirty="0"/>
              <a:t>облегчающее разработку и объединение разных компонентов большого программного проекта</a:t>
            </a:r>
            <a:r>
              <a:rPr lang="ru-RU" sz="2400" dirty="0" smtClean="0"/>
              <a:t>) – </a:t>
            </a:r>
            <a:r>
              <a:rPr lang="en-US" sz="2400" dirty="0" err="1" smtClean="0"/>
              <a:t>Symfony</a:t>
            </a:r>
            <a:r>
              <a:rPr lang="en-US" sz="2400" dirty="0" smtClean="0"/>
              <a:t>, </a:t>
            </a:r>
            <a:r>
              <a:rPr lang="en-US" sz="2400" dirty="0" err="1" smtClean="0"/>
              <a:t>Yii</a:t>
            </a:r>
            <a:r>
              <a:rPr lang="en-US" sz="2400" dirty="0" smtClean="0"/>
              <a:t>, </a:t>
            </a:r>
            <a:r>
              <a:rPr lang="en-US" sz="2400" dirty="0" err="1" smtClean="0"/>
              <a:t>Laravel</a:t>
            </a:r>
            <a:r>
              <a:rPr lang="en-US" sz="2400" dirty="0" smtClean="0"/>
              <a:t>,</a:t>
            </a:r>
            <a:r>
              <a:rPr lang="ru-RU" sz="2400" dirty="0" smtClean="0"/>
              <a:t> </a:t>
            </a:r>
            <a:r>
              <a:rPr lang="en-US" sz="2400" dirty="0" err="1"/>
              <a:t>ASP.Net</a:t>
            </a:r>
            <a:r>
              <a:rPr lang="en-US" sz="2400" dirty="0"/>
              <a:t>, </a:t>
            </a:r>
            <a:r>
              <a:rPr lang="en-US" sz="2400" dirty="0" smtClean="0"/>
              <a:t>Django </a:t>
            </a:r>
            <a:r>
              <a:rPr lang="ru-RU" sz="2400" dirty="0" smtClean="0"/>
              <a:t> и т.д.</a:t>
            </a:r>
            <a:endParaRPr lang="en-US" sz="24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80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806" y="764704"/>
            <a:ext cx="7839610" cy="101727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2"/>
                </a:solidFill>
              </a:rPr>
              <a:t>Этапы разработки веб-приложений</a:t>
            </a:r>
            <a:endParaRPr lang="ru-RU" b="1" dirty="0">
              <a:solidFill>
                <a:schemeClr val="tx2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576935"/>
              </p:ext>
            </p:extLst>
          </p:nvPr>
        </p:nvGraphicFramePr>
        <p:xfrm>
          <a:off x="502468" y="2060848"/>
          <a:ext cx="8297501" cy="36598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583">
                <a:tc>
                  <a:txBody>
                    <a:bodyPr/>
                    <a:lstStyle/>
                    <a:p>
                      <a:r>
                        <a:rPr lang="ru-RU" sz="1800" b="1" dirty="0" smtClean="0"/>
                        <a:t>№</a:t>
                      </a:r>
                      <a:endParaRPr lang="ru-RU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b="1" dirty="0" smtClean="0"/>
                        <a:t>Этап</a:t>
                      </a:r>
                      <a:endParaRPr lang="ru-RU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b="1" dirty="0" smtClean="0"/>
                        <a:t>Результат</a:t>
                      </a:r>
                      <a:endParaRPr lang="ru-RU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8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Формирование требований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Техническое</a:t>
                      </a:r>
                      <a:r>
                        <a:rPr lang="ru-RU" sz="1800" baseline="0" dirty="0" smtClean="0"/>
                        <a:t> задание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8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Разработка дизайна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Макет сайта (обычно</a:t>
                      </a:r>
                      <a:r>
                        <a:rPr lang="ru-RU" sz="1800" baseline="0" dirty="0" smtClean="0"/>
                        <a:t> </a:t>
                      </a:r>
                      <a:r>
                        <a:rPr lang="en-US" sz="1800" baseline="0" dirty="0" err="1" smtClean="0"/>
                        <a:t>Figma</a:t>
                      </a:r>
                      <a:r>
                        <a:rPr lang="ru-RU" sz="1800" baseline="0" dirty="0" smtClean="0"/>
                        <a:t>-файлы</a:t>
                      </a:r>
                      <a:r>
                        <a:rPr lang="ru-RU" sz="1800" dirty="0" smtClean="0"/>
                        <a:t>)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58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Верстка сайта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Шаблон сайта (</a:t>
                      </a:r>
                      <a:r>
                        <a:rPr lang="en-US" sz="1800" dirty="0" smtClean="0"/>
                        <a:t>html, </a:t>
                      </a:r>
                      <a:r>
                        <a:rPr lang="en-US" sz="1800" dirty="0" err="1" smtClean="0"/>
                        <a:t>css</a:t>
                      </a:r>
                      <a:r>
                        <a:rPr lang="en-US" sz="1800" dirty="0" smtClean="0"/>
                        <a:t>, </a:t>
                      </a:r>
                      <a:r>
                        <a:rPr lang="en-US" sz="1800" dirty="0" err="1" smtClean="0"/>
                        <a:t>js</a:t>
                      </a:r>
                      <a:r>
                        <a:rPr lang="ru-RU" sz="1800" dirty="0" smtClean="0"/>
                        <a:t>)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65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Разработка</a:t>
                      </a:r>
                      <a:r>
                        <a:rPr lang="ru-RU" sz="1800" baseline="0" dirty="0" smtClean="0"/>
                        <a:t> логики приложения (программирование)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Готовое приложение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583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Тестирование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Исправление ошибок, оптимизация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65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Публикация</a:t>
                      </a:r>
                      <a:r>
                        <a:rPr lang="ru-RU" sz="1800" baseline="0" dirty="0" smtClean="0"/>
                        <a:t> сайта в сети Интернет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Размещение сайта на хостинге, настройка хостинга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065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latin typeface="+mn-lt"/>
                        </a:rPr>
                        <a:t>Продвижение сайта,</a:t>
                      </a:r>
                      <a:r>
                        <a:rPr lang="ru-RU" sz="1800" b="0" baseline="0" dirty="0" smtClean="0">
                          <a:latin typeface="+mn-lt"/>
                        </a:rPr>
                        <a:t> </a:t>
                      </a:r>
                      <a:r>
                        <a:rPr lang="en-US" sz="1800" b="0" baseline="0" dirty="0" smtClean="0">
                          <a:latin typeface="+mn-lt"/>
                        </a:rPr>
                        <a:t>SEO</a:t>
                      </a:r>
                      <a:r>
                        <a:rPr lang="ru-RU" sz="1800" b="0" baseline="0" dirty="0" smtClean="0">
                          <a:latin typeface="+mn-lt"/>
                        </a:rPr>
                        <a:t> (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 Engine Optimization</a:t>
                      </a:r>
                      <a:r>
                        <a:rPr lang="ru-RU" sz="1800" b="0" baseline="0" dirty="0" smtClean="0">
                          <a:latin typeface="+mn-lt"/>
                        </a:rPr>
                        <a:t>)</a:t>
                      </a:r>
                      <a:endParaRPr lang="ru-RU" sz="1800" b="0" dirty="0">
                        <a:latin typeface="+mn-lt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Увеличение</a:t>
                      </a:r>
                      <a:r>
                        <a:rPr lang="ru-RU" sz="1800" baseline="0" dirty="0" smtClean="0"/>
                        <a:t> видимости сайта в поисковых системах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6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направления в веб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Веб-дизайн, дизайн интерфейсов, </a:t>
            </a:r>
            <a:r>
              <a:rPr lang="en-US" dirty="0" smtClean="0"/>
              <a:t>UI/UX</a:t>
            </a:r>
            <a:r>
              <a:rPr lang="ru-RU" dirty="0" smtClean="0"/>
              <a:t> дизайн</a:t>
            </a:r>
            <a:endParaRPr lang="en-US" dirty="0" smtClean="0"/>
          </a:p>
          <a:p>
            <a:r>
              <a:rPr lang="ru-RU" dirty="0" smtClean="0"/>
              <a:t>Верстка</a:t>
            </a:r>
            <a:endParaRPr lang="en-US" dirty="0" smtClean="0"/>
          </a:p>
          <a:p>
            <a:r>
              <a:rPr lang="ru-RU" dirty="0" err="1" smtClean="0"/>
              <a:t>Фронтенд</a:t>
            </a:r>
            <a:r>
              <a:rPr lang="ru-RU" dirty="0" smtClean="0"/>
              <a:t>-разработка</a:t>
            </a:r>
          </a:p>
          <a:p>
            <a:r>
              <a:rPr lang="ru-RU" dirty="0" err="1" smtClean="0"/>
              <a:t>Бэкенд</a:t>
            </a:r>
            <a:r>
              <a:rPr lang="ru-RU" dirty="0" smtClean="0"/>
              <a:t>-разработка</a:t>
            </a:r>
          </a:p>
          <a:p>
            <a:r>
              <a:rPr lang="ru-RU" dirty="0" smtClean="0"/>
              <a:t>Тестирование</a:t>
            </a:r>
          </a:p>
          <a:p>
            <a:r>
              <a:rPr lang="ru-RU" dirty="0" smtClean="0"/>
              <a:t>Контент-менеджмент</a:t>
            </a:r>
          </a:p>
          <a:p>
            <a:r>
              <a:rPr lang="en-US" dirty="0"/>
              <a:t>SEO (search engine optimization)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376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вам понадобиться: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" indent="0">
              <a:buNone/>
            </a:pPr>
            <a:r>
              <a:rPr lang="ru-RU" dirty="0" smtClean="0"/>
              <a:t>Установить</a:t>
            </a:r>
            <a:endParaRPr lang="en-US" dirty="0" smtClean="0"/>
          </a:p>
          <a:p>
            <a:r>
              <a:rPr lang="en-US" dirty="0" smtClean="0"/>
              <a:t>Visual Studio Code</a:t>
            </a:r>
            <a:r>
              <a:rPr lang="ru-RU" dirty="0" smtClean="0"/>
              <a:t> </a:t>
            </a:r>
            <a:r>
              <a:rPr lang="ru-RU" dirty="0" smtClean="0"/>
              <a:t>(</a:t>
            </a:r>
            <a:r>
              <a:rPr lang="en-US" dirty="0" smtClean="0"/>
              <a:t>C</a:t>
            </a:r>
            <a:r>
              <a:rPr lang="en-US" dirty="0" smtClean="0"/>
              <a:t>ursor</a:t>
            </a:r>
            <a:r>
              <a:rPr lang="en-US" dirty="0" smtClean="0"/>
              <a:t>, Atom </a:t>
            </a:r>
            <a:r>
              <a:rPr lang="ru-RU" dirty="0" smtClean="0"/>
              <a:t> и т.п.)</a:t>
            </a:r>
            <a:endParaRPr lang="en-US" dirty="0" smtClean="0"/>
          </a:p>
          <a:p>
            <a:r>
              <a:rPr lang="en-US" dirty="0" smtClean="0"/>
              <a:t>GIT</a:t>
            </a:r>
            <a:endParaRPr lang="ru-RU" dirty="0" smtClean="0"/>
          </a:p>
          <a:p>
            <a:r>
              <a:rPr lang="ru-RU" dirty="0" smtClean="0"/>
              <a:t>Браузеры (</a:t>
            </a:r>
            <a:r>
              <a:rPr lang="en-US" dirty="0" smtClean="0"/>
              <a:t>Chrome, Firefox </a:t>
            </a:r>
            <a:r>
              <a:rPr lang="ru-RU" dirty="0" smtClean="0"/>
              <a:t>и др.)</a:t>
            </a:r>
            <a:endParaRPr lang="en-US" dirty="0" smtClean="0"/>
          </a:p>
          <a:p>
            <a:endParaRPr lang="ru-RU" dirty="0" smtClean="0"/>
          </a:p>
          <a:p>
            <a:pPr marL="34290" indent="0">
              <a:buNone/>
            </a:pPr>
            <a:r>
              <a:rPr lang="ru-RU" dirty="0" smtClean="0"/>
              <a:t>Зарегистрироваться:</a:t>
            </a:r>
          </a:p>
          <a:p>
            <a:r>
              <a:rPr lang="en-US" dirty="0"/>
              <a:t>f</a:t>
            </a:r>
            <a:r>
              <a:rPr lang="en-US" dirty="0" smtClean="0"/>
              <a:t>igma.com</a:t>
            </a:r>
          </a:p>
          <a:p>
            <a:r>
              <a:rPr lang="en-US" dirty="0" smtClean="0"/>
              <a:t>github.com</a:t>
            </a:r>
            <a:endParaRPr lang="en-US" dirty="0"/>
          </a:p>
          <a:p>
            <a:r>
              <a:rPr lang="en-US" dirty="0"/>
              <a:t>htmlacademy.ru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037980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Основа</Template>
  <TotalTime>427</TotalTime>
  <Words>743</Words>
  <Application>Microsoft Office PowerPoint</Application>
  <PresentationFormat>Экран (4:3)</PresentationFormat>
  <Paragraphs>161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Calibri</vt:lpstr>
      <vt:lpstr>Corbel</vt:lpstr>
      <vt:lpstr>Courier New</vt:lpstr>
      <vt:lpstr>Базис</vt:lpstr>
      <vt:lpstr>Web-технологии</vt:lpstr>
      <vt:lpstr>Презентация PowerPoint</vt:lpstr>
      <vt:lpstr>Тим Бернерс-Ли</vt:lpstr>
      <vt:lpstr>Тим Бернерс-Ли</vt:lpstr>
      <vt:lpstr>Презентация PowerPoint</vt:lpstr>
      <vt:lpstr>Презентация PowerPoint</vt:lpstr>
      <vt:lpstr>Презентация PowerPoint</vt:lpstr>
      <vt:lpstr>Адрес сайта </vt:lpstr>
      <vt:lpstr>Доменное имя и IP-адрес</vt:lpstr>
      <vt:lpstr>Принцип работа DNS</vt:lpstr>
      <vt:lpstr>URL</vt:lpstr>
      <vt:lpstr>Части URL</vt:lpstr>
      <vt:lpstr>Части URL</vt:lpstr>
      <vt:lpstr>URL подробнее</vt:lpstr>
      <vt:lpstr>HTTP</vt:lpstr>
      <vt:lpstr>HTTP</vt:lpstr>
      <vt:lpstr>Типы http-методов</vt:lpstr>
      <vt:lpstr>HTTP подробнее</vt:lpstr>
      <vt:lpstr>Запросы и ответы</vt:lpstr>
      <vt:lpstr>Статусы ответа</vt:lpstr>
      <vt:lpstr>DevTools Network</vt:lpstr>
      <vt:lpstr>Презентация PowerPoint</vt:lpstr>
      <vt:lpstr>Компоненты web-страницы</vt:lpstr>
      <vt:lpstr>Веб-технологии</vt:lpstr>
      <vt:lpstr>Способы создания веб-сайтов и веб-приложений</vt:lpstr>
      <vt:lpstr>Этапы разработки веб-приложений</vt:lpstr>
      <vt:lpstr>Основные направления в веб</vt:lpstr>
      <vt:lpstr>Что вам понадобиться: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Web-технологии</dc:title>
  <dc:creator>Юлия</dc:creator>
  <cp:lastModifiedBy>julia</cp:lastModifiedBy>
  <cp:revision>77</cp:revision>
  <cp:lastPrinted>2020-09-03T05:43:20Z</cp:lastPrinted>
  <dcterms:created xsi:type="dcterms:W3CDTF">2013-01-24T05:01:35Z</dcterms:created>
  <dcterms:modified xsi:type="dcterms:W3CDTF">2026-08-11T05:46:31Z</dcterms:modified>
</cp:coreProperties>
</file>