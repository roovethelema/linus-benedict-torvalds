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6" r:id="rId17"/>
    <p:sldId id="277" r:id="rId18"/>
    <p:sldId id="278" r:id="rId19"/>
    <p:sldId id="279" r:id="rId20"/>
    <p:sldId id="280" r:id="rId21"/>
    <p:sldId id="281" r:id="rId22"/>
    <p:sldId id="272" r:id="rId23"/>
    <p:sldId id="273" r:id="rId24"/>
    <p:sldId id="274" r:id="rId25"/>
    <p:sldId id="275" r:id="rId26"/>
    <p:sldId id="285" r:id="rId27"/>
    <p:sldId id="282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57B6C-43EA-4390-8C5A-94345E5B35A7}" type="datetimeFigureOut">
              <a:rPr lang="ru-RU" smtClean="0"/>
              <a:t>27.10.2021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6ABB4-1F88-4660-BD6E-A5FDED5D36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452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F6ABB4-1F88-4660-BD6E-A5FDED5D369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728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A240-ABA3-472D-88A7-77221D3FE4DA}" type="datetime1">
              <a:rPr lang="ru-RU" smtClean="0"/>
              <a:t>27.10.2021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04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A000-87F1-4CB3-9FB4-C420F403326C}" type="datetime1">
              <a:rPr lang="ru-RU" smtClean="0"/>
              <a:t>27.10.2021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51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E8C9-A807-4F95-8BCD-DE8D5B48F787}" type="datetime1">
              <a:rPr lang="ru-RU" smtClean="0"/>
              <a:t>27.10.2021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382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2E05-B70F-461E-9D13-7AF538D80613}" type="datetime1">
              <a:rPr lang="ru-RU" smtClean="0"/>
              <a:t>27.10.2021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87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89A36-5192-43AA-A48E-B7186F7BF6AD}" type="datetime1">
              <a:rPr lang="ru-RU" smtClean="0"/>
              <a:t>27.10.2021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87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ED161-5BFB-4611-91F6-95AEDDED62CE}" type="datetime1">
              <a:rPr lang="ru-RU" smtClean="0"/>
              <a:t>27.10.2021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6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5B14-319A-43F1-B7A0-97570525EA42}" type="datetime1">
              <a:rPr lang="ru-RU" smtClean="0"/>
              <a:t>27.10.2021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00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65AD-07B2-48A1-B536-4EA0466E7ADC}" type="datetime1">
              <a:rPr lang="ru-RU" smtClean="0"/>
              <a:t>27.10.2021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81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F434-3D50-4EA0-83C6-854B10563DA2}" type="datetime1">
              <a:rPr lang="ru-RU" smtClean="0"/>
              <a:t>27.10.2021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808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AA64-985F-4271-8365-A60FE845788C}" type="datetime1">
              <a:rPr lang="ru-RU" smtClean="0"/>
              <a:t>27.10.2021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39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921B-964E-4E35-95BD-0019AD13CD53}" type="datetime1">
              <a:rPr lang="ru-RU" smtClean="0"/>
              <a:t>27.10.2021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15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6D091-D44D-4145-9D56-61520080DCD1}" type="datetime1">
              <a:rPr lang="ru-RU" smtClean="0"/>
              <a:t>27.10.2021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3BDDF-6426-4B05-A77E-5E0E8EEC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132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%D0%A0%D0%B5%D0%B3%D1%83%D0%BB%D1%8F%D1%80%D0%BD%D1%8B%D0%B5_%D0%B2%D1%8B%D1%80%D0%B0%D0%B6%D0%B5%D0%BD%D0%B8%D1%8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ТАБЛИЦЫ И ФОРМЫ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smtClean="0"/>
              <a:t>Рамилевна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01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Таблицы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55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Теги таблицы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611518"/>
            <a:ext cx="8622672" cy="5033726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&lt;table border=1&gt;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thead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9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9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Пункт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1&lt;/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Пункт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2&lt;/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thead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tbody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td&gt;1&lt;/td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td&gt;2&lt;/td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td&gt;3&lt;/td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td&gt;4&lt;/td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tbody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table&gt;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66" y="3718664"/>
            <a:ext cx="4498582" cy="2686086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25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Объединение столбцов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910250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&lt;table border=1&gt;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thead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  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Пункт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1&lt;/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Пункт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2&lt;/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thead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tbody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  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&gt;&lt;td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colspan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=2&gt;12&lt;/td&gt;&lt;/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  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&gt;&lt;td&gt;3&lt;/td&gt;&lt;td&gt;4&lt;/td&gt;&lt;/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tbody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&lt;/table&gt;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415" y="3582386"/>
            <a:ext cx="4383385" cy="2594577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10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Объединение строк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4"/>
            <a:ext cx="8079463" cy="4611389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&lt;table border=1&gt;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thead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 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Пункт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1&lt;/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Пункт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2&lt;/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thead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tbody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 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&gt;&lt;td&gt;1&lt;/td&gt;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&lt;td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rowspan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=2&gt;24&lt;/td&gt;&lt;/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  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&gt;&lt;td&gt;3&lt;/td&gt;&lt;/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tbody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&lt;/table&gt;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113" y="3835335"/>
            <a:ext cx="4341451" cy="2601678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062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 </a:t>
            </a:r>
            <a:r>
              <a:rPr lang="en-US" b="1" dirty="0" smtClean="0"/>
              <a:t>caption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97494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&lt;table&gt;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&lt;caption&gt;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Заголовок&lt;/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caption&gt;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&lt;td&gt;...&lt;/td&gt;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&lt;/table&gt;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756" y="2819840"/>
            <a:ext cx="4457369" cy="3136963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550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Схлопывание границ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68029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table {      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border-collapse: collapse;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border: 5px solid gray;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td,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border: 2px solid black;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064" y="1825625"/>
            <a:ext cx="3727292" cy="2788566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40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Псевдоклассы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:first-child – </a:t>
            </a:r>
            <a:r>
              <a:rPr lang="ru-RU" dirty="0" smtClean="0"/>
              <a:t>первый дочерний элемент</a:t>
            </a:r>
          </a:p>
          <a:p>
            <a:pPr marL="0" indent="0">
              <a:buNone/>
            </a:pPr>
            <a:r>
              <a:rPr lang="en-US" dirty="0" smtClean="0"/>
              <a:t>:last-child – </a:t>
            </a:r>
            <a:r>
              <a:rPr lang="ru-RU" dirty="0" smtClean="0"/>
              <a:t>последний дочерний элемент</a:t>
            </a:r>
          </a:p>
          <a:p>
            <a:pPr marL="0" indent="0">
              <a:buNone/>
            </a:pPr>
            <a:r>
              <a:rPr lang="en-US" dirty="0" smtClean="0"/>
              <a:t>:nth-child</a:t>
            </a:r>
            <a:r>
              <a:rPr lang="ru-RU" dirty="0" smtClean="0"/>
              <a:t>(</a:t>
            </a:r>
            <a:r>
              <a:rPr lang="en-US" dirty="0" smtClean="0"/>
              <a:t>odd</a:t>
            </a:r>
            <a:r>
              <a:rPr lang="ru-RU" dirty="0" smtClean="0"/>
              <a:t>)</a:t>
            </a:r>
            <a:r>
              <a:rPr lang="en-US" dirty="0" smtClean="0"/>
              <a:t> – </a:t>
            </a:r>
            <a:r>
              <a:rPr lang="ru-RU" dirty="0" smtClean="0"/>
              <a:t>все нечетные дочерние элементы</a:t>
            </a:r>
          </a:p>
          <a:p>
            <a:pPr marL="0" indent="0">
              <a:buNone/>
            </a:pPr>
            <a:r>
              <a:rPr lang="en-US" dirty="0" smtClean="0"/>
              <a:t>:nth-child</a:t>
            </a:r>
            <a:r>
              <a:rPr lang="ru-RU" dirty="0" smtClean="0"/>
              <a:t>(</a:t>
            </a:r>
            <a:r>
              <a:rPr lang="en-US" dirty="0" smtClean="0"/>
              <a:t>even</a:t>
            </a:r>
            <a:r>
              <a:rPr lang="ru-RU" dirty="0" smtClean="0"/>
              <a:t>)</a:t>
            </a:r>
            <a:r>
              <a:rPr lang="en-US" dirty="0" smtClean="0"/>
              <a:t> – </a:t>
            </a:r>
            <a:r>
              <a:rPr lang="ru-RU" dirty="0" smtClean="0"/>
              <a:t>все четные дочерние элементы</a:t>
            </a:r>
          </a:p>
          <a:p>
            <a:pPr marL="0" indent="0">
              <a:buNone/>
            </a:pPr>
            <a:r>
              <a:rPr lang="en-US" dirty="0" smtClean="0"/>
              <a:t>:nth-child</a:t>
            </a:r>
            <a:r>
              <a:rPr lang="ru-RU" dirty="0" smtClean="0"/>
              <a:t>(</a:t>
            </a:r>
            <a:r>
              <a:rPr lang="en-US" dirty="0" smtClean="0"/>
              <a:t>3n</a:t>
            </a:r>
            <a:r>
              <a:rPr lang="ru-RU" dirty="0" smtClean="0"/>
              <a:t>)</a:t>
            </a:r>
            <a:r>
              <a:rPr lang="en-US" dirty="0" smtClean="0"/>
              <a:t> – </a:t>
            </a:r>
            <a:r>
              <a:rPr lang="ru-RU" dirty="0" smtClean="0"/>
              <a:t>каждый третий дочерни</a:t>
            </a:r>
            <a:r>
              <a:rPr lang="ru-RU" dirty="0"/>
              <a:t>й</a:t>
            </a:r>
            <a:r>
              <a:rPr lang="ru-RU" dirty="0" smtClean="0"/>
              <a:t> элементы</a:t>
            </a:r>
          </a:p>
          <a:p>
            <a:pPr marL="0" indent="0">
              <a:buNone/>
            </a:pPr>
            <a:r>
              <a:rPr lang="en-US" dirty="0" smtClean="0"/>
              <a:t>:nth-child</a:t>
            </a:r>
            <a:r>
              <a:rPr lang="ru-RU" dirty="0" smtClean="0"/>
              <a:t>(3</a:t>
            </a:r>
            <a:r>
              <a:rPr lang="en-US" dirty="0" smtClean="0"/>
              <a:t>n</a:t>
            </a:r>
            <a:r>
              <a:rPr lang="ru-RU" dirty="0" smtClean="0"/>
              <a:t>+2)</a:t>
            </a:r>
            <a:r>
              <a:rPr lang="en-US" dirty="0" smtClean="0"/>
              <a:t> – </a:t>
            </a:r>
            <a:r>
              <a:rPr lang="ru-RU" dirty="0" smtClean="0"/>
              <a:t>каждый третий дочерний элементы начиная со второго</a:t>
            </a:r>
          </a:p>
          <a:p>
            <a:pPr marL="0" indent="0">
              <a:buNone/>
            </a:pPr>
            <a:r>
              <a:rPr lang="en-US" dirty="0" smtClean="0"/>
              <a:t>:nth-child(3)</a:t>
            </a:r>
            <a:r>
              <a:rPr lang="ru-RU" dirty="0" smtClean="0"/>
              <a:t> – третий дочерний элемент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13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Псевдоклассы</a:t>
            </a:r>
            <a:r>
              <a:rPr lang="ru-RU" b="1" dirty="0" smtClean="0"/>
              <a:t> и таблицы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tr:nth-child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(even){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background-color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:#8642da;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td:first-child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 40%;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td:nth-child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(3){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text-align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 left;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214" y="3047843"/>
            <a:ext cx="5857875" cy="2895600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58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Формы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43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Формы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Веб-форма </a:t>
            </a:r>
            <a:r>
              <a:rPr lang="ru-RU" dirty="0"/>
              <a:t>является специально ограниченной областью на странице сайта. В эти области посетитель сайта может внести ту или иную информацию, а также выбрать конкретные действия из предложенных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&lt;form id="form1" action="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обработчик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91FB-C33E-4523-946F-09C0FF6278D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22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Формы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1130481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&lt;form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id="form1" action="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action.php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method="POST"&gt;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input type="submit" value="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Отправить"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&lt;form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id="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form1"&gt;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button" value="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Отправить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();"&gt;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91FB-C33E-4523-946F-09C0FF6278D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86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Стили формы</a:t>
            </a:r>
            <a:endParaRPr lang="ru-RU" b="1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91FB-C33E-4523-946F-09C0FF6278D9}" type="slidenum">
              <a:rPr lang="ru-RU" smtClean="0"/>
              <a:t>13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5931"/>
            <a:ext cx="8405483" cy="472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</a:t>
            </a:r>
            <a:r>
              <a:rPr lang="en-US" b="1" dirty="0" smtClean="0"/>
              <a:t>input</a:t>
            </a:r>
            <a:r>
              <a:rPr lang="ru-RU" b="1" dirty="0" smtClean="0"/>
              <a:t>-</a:t>
            </a:r>
            <a:r>
              <a:rPr lang="ru-RU" b="1" dirty="0" err="1" smtClean="0"/>
              <a:t>ов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/>
          </p:nvPr>
        </p:nvGraphicFramePr>
        <p:xfrm>
          <a:off x="905606" y="1690688"/>
          <a:ext cx="10448194" cy="4909964"/>
        </p:xfrm>
        <a:graphic>
          <a:graphicData uri="http://schemas.openxmlformats.org/drawingml/2006/table">
            <a:tbl>
              <a:tblPr/>
              <a:tblGrid>
                <a:gridCol w="1740880">
                  <a:extLst>
                    <a:ext uri="{9D8B030D-6E8A-4147-A177-3AD203B41FA5}">
                      <a16:colId xmlns:a16="http://schemas.microsoft.com/office/drawing/2014/main" xmlns="" val="3720067169"/>
                    </a:ext>
                  </a:extLst>
                </a:gridCol>
                <a:gridCol w="8707314">
                  <a:extLst>
                    <a:ext uri="{9D8B030D-6E8A-4147-A177-3AD203B41FA5}">
                      <a16:colId xmlns:a16="http://schemas.microsoft.com/office/drawing/2014/main" xmlns="" val="1987541455"/>
                    </a:ext>
                  </a:extLst>
                </a:gridCol>
              </a:tblGrid>
              <a:tr h="293322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button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effectLst/>
                        </a:rPr>
                        <a:t>Кнопка</a:t>
                      </a:r>
                      <a:endParaRPr lang="ru-RU" sz="2000" dirty="0">
                        <a:effectLst/>
                      </a:endParaRP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72072583"/>
                  </a:ext>
                </a:extLst>
              </a:tr>
              <a:tr h="356810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checkbox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Флажки. Позволяют выбрать более одного варианта из предложенных.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19233759"/>
                  </a:ext>
                </a:extLst>
              </a:tr>
              <a:tr h="356810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file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Поле для ввода имени файла, который пересылается на сервер.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97473527"/>
                  </a:ext>
                </a:extLst>
              </a:tr>
              <a:tr h="356810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hidden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Скрытое поле. Оно никак не отображается на веб-странице.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06483595"/>
                  </a:ext>
                </a:extLst>
              </a:tr>
              <a:tr h="51345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image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Поле с изображением. При нажатии на рисунок данные формы отправляются на сервер.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19515455"/>
                  </a:ext>
                </a:extLst>
              </a:tr>
              <a:tr h="82675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password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Обычное текстовое поле, но отличается от него тем, что все символы показываются звездочками. Предназначено для того, чтобы никто не подглядел вводимый пароль.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3969944"/>
                  </a:ext>
                </a:extLst>
              </a:tr>
              <a:tr h="513458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radio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Переключатели. Используются, когда следует выбрать один вариант из нескольких предложенных.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99432835"/>
                  </a:ext>
                </a:extLst>
              </a:tr>
              <a:tr h="356810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reset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Кнопка для возвращения данных формы в первоначальное значение.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31716039"/>
                  </a:ext>
                </a:extLst>
              </a:tr>
              <a:tr h="356810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submit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Кнопка для отправки данных формы на сервер.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30771639"/>
                  </a:ext>
                </a:extLst>
              </a:tr>
              <a:tr h="513458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text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Текстовое поле. Предназначено для ввода символов с помощью клавиатуры.</a:t>
                      </a:r>
                    </a:p>
                  </a:txBody>
                  <a:tcPr marL="21757" marR="21757" marT="21757" marB="21757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38265577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91FB-C33E-4523-946F-09C0FF6278D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43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</a:t>
            </a:r>
            <a:r>
              <a:rPr lang="en-US" b="1" dirty="0" smtClean="0"/>
              <a:t>input</a:t>
            </a:r>
            <a:r>
              <a:rPr lang="ru-RU" b="1" dirty="0" smtClean="0"/>
              <a:t>-</a:t>
            </a:r>
            <a:r>
              <a:rPr lang="ru-RU" b="1" dirty="0" err="1" smtClean="0"/>
              <a:t>ов</a:t>
            </a:r>
            <a:r>
              <a:rPr lang="ru-RU" b="1" dirty="0" smtClean="0"/>
              <a:t> – </a:t>
            </a:r>
            <a:r>
              <a:rPr lang="en-US" b="1" dirty="0" smtClean="0"/>
              <a:t>HTML5</a:t>
            </a:r>
            <a:endParaRPr lang="ru-RU" b="1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690688"/>
          <a:ext cx="10515600" cy="4841512"/>
        </p:xfrm>
        <a:graphic>
          <a:graphicData uri="http://schemas.openxmlformats.org/drawingml/2006/table">
            <a:tbl>
              <a:tblPr/>
              <a:tblGrid>
                <a:gridCol w="1992923">
                  <a:extLst>
                    <a:ext uri="{9D8B030D-6E8A-4147-A177-3AD203B41FA5}">
                      <a16:colId xmlns:a16="http://schemas.microsoft.com/office/drawing/2014/main" xmlns="" val="464017069"/>
                    </a:ext>
                  </a:extLst>
                </a:gridCol>
                <a:gridCol w="8522677">
                  <a:extLst>
                    <a:ext uri="{9D8B030D-6E8A-4147-A177-3AD203B41FA5}">
                      <a16:colId xmlns:a16="http://schemas.microsoft.com/office/drawing/2014/main" xmlns="" val="1016709218"/>
                    </a:ext>
                  </a:extLst>
                </a:gridCol>
              </a:tblGrid>
              <a:tr h="31107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</a:rPr>
                        <a:t>color</a:t>
                      </a:r>
                      <a:endParaRPr lang="en-US" sz="2000" dirty="0">
                        <a:effectLst/>
                      </a:endParaRP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err="1">
                          <a:effectLst/>
                        </a:rPr>
                        <a:t>Виджет</a:t>
                      </a:r>
                      <a:r>
                        <a:rPr lang="ru-RU" sz="2000" dirty="0">
                          <a:effectLst/>
                        </a:rPr>
                        <a:t> для выбора цвета.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05218479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date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Поле для выбора календарной даты.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0764020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datetime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Указание даты и времени.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6191059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</a:rPr>
                        <a:t>datetime</a:t>
                      </a:r>
                      <a:r>
                        <a:rPr lang="en-US" sz="2000" dirty="0">
                          <a:effectLst/>
                        </a:rPr>
                        <a:t>-local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Указание местной даты и времени.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23334035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email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Для адресов электронной почты.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05686524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number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Ввод чисел.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82590580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range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Ползунок для выбора чисел в указанном диапазоне.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5688152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search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Поле для поиска.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5709220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tel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Для телефонных номеров.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24110597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time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Для времени.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1150343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url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Для веб-адресов.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55134365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month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Выбор месяца.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46075790"/>
                  </a:ext>
                </a:extLst>
              </a:tr>
              <a:tr h="31107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week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Выбор недели.</a:t>
                      </a:r>
                    </a:p>
                  </a:txBody>
                  <a:tcPr marL="33812" marR="33812" marT="33812" marB="33812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81767548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91FB-C33E-4523-946F-09C0FF6278D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46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Label </a:t>
            </a:r>
            <a:r>
              <a:rPr lang="ru-RU" b="1" dirty="0" smtClean="0"/>
              <a:t>и </a:t>
            </a:r>
            <a:r>
              <a:rPr lang="en-US" b="1" dirty="0" smtClean="0"/>
              <a:t>input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610" cy="182292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&lt;label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for="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input"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Пример ввода&lt;/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input type="text" 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id="input"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placeholder="</a:t>
            </a:r>
            <a:r>
              <a:rPr lang="ru-RU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Пример ввода"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50" y="3783484"/>
            <a:ext cx="7274866" cy="643661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19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Чекбоксы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0342831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&lt;label&gt;</a:t>
            </a:r>
          </a:p>
          <a:p>
            <a:pPr marL="457200" lvl="1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 type="checkbox" value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=""&gt;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Чекбокс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1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input type="checkbox" value=""  checked 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Чекбокс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2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5617676"/>
            <a:ext cx="5269772" cy="783124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19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Радио-кнопки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48143"/>
            <a:ext cx="10895091" cy="411932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&lt;label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361950" indent="0">
              <a:lnSpc>
                <a:spcPct val="120000"/>
              </a:lnSpc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input type="radio" name="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optionsR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id="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optionsR1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 value="option1" checked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=""&gt;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Вариант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один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pPr marL="533400" indent="0">
              <a:lnSpc>
                <a:spcPct val="120000"/>
              </a:lnSpc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input type="radio" name="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optionsR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id="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optionsR3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 value="option3" disabled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=""&gt;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Вариант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третий - отключена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667469"/>
            <a:ext cx="9148825" cy="534155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60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Выбор </a:t>
            </a:r>
            <a:r>
              <a:rPr lang="en-US" b="1" dirty="0" smtClean="0"/>
              <a:t>select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047368" cy="46928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&lt;label for="select"&gt;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Пример выбора&lt;/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&lt;select id="select"&gt;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&lt;option value=""&gt;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Выберете...&lt;/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option&gt;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optgroup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label="Option group 1"&gt;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&lt;option value=""&gt;Option 1&lt;/option&gt;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optgroup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optgroup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label="Option group 2"&gt;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&lt;option value=""&gt;Option 4&lt;/option&gt;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…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optgroup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&lt;/select&gt;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938" y="1690688"/>
            <a:ext cx="4350334" cy="3560322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18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Многострочный текст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100373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&lt;label for="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Пример текстового поля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label&gt;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id="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 rows="3"&gt;&lt;/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368949"/>
            <a:ext cx="6780587" cy="1271360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13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Кнопки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78752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&lt;p&gt;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&lt;button type="submit"&gt;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Кнопка отправки&lt;/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button&gt;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&lt;input type="submit" value="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Кнопка отправки" /&gt;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input type="button" value="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Кнопка ввода" /&gt;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&lt;button type="submit" disabled=""&gt;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Кнопка отправки&lt;/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button&gt;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&lt;input type="submit" value="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Кнопка отправки"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disabled="" /&gt;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&lt;input type="button" value="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Кнопка ввода"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disabled="" /&gt;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88132"/>
            <a:ext cx="6850833" cy="1229952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93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Автофокус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7240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Атрибут </a:t>
            </a:r>
            <a:r>
              <a:rPr lang="en-US" dirty="0" smtClean="0"/>
              <a:t>autofocus</a:t>
            </a:r>
            <a:r>
              <a:rPr lang="ru-RU" dirty="0" smtClean="0"/>
              <a:t> без параметра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77" y="2649745"/>
            <a:ext cx="10115028" cy="1817324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91FB-C33E-4523-946F-09C0FF6278D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54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Обязательные поля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62349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Атрибут </a:t>
            </a:r>
            <a:r>
              <a:rPr lang="en-US" dirty="0" smtClean="0"/>
              <a:t>required</a:t>
            </a:r>
            <a:r>
              <a:rPr lang="ru-RU" dirty="0" smtClean="0"/>
              <a:t> без параметра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06" y="2659348"/>
            <a:ext cx="8799693" cy="1552887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91FB-C33E-4523-946F-09C0FF6278D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32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Паттерны заполнения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Паттерн – это шаблон формата ввода текстовых полей.</a:t>
            </a:r>
          </a:p>
          <a:p>
            <a:pPr marL="0" indent="0">
              <a:buNone/>
            </a:pPr>
            <a:r>
              <a:rPr lang="ru-RU" dirty="0" smtClean="0"/>
              <a:t>Паттерны основаны на </a:t>
            </a:r>
            <a:r>
              <a:rPr lang="ru-RU" dirty="0" smtClean="0">
                <a:hlinkClick r:id="rId2"/>
              </a:rPr>
              <a:t>регулярных выражениях</a:t>
            </a:r>
            <a:r>
              <a:rPr lang="ru-RU" dirty="0" smtClean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91FB-C33E-4523-946F-09C0FF6278D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75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Паттерны заполнения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985626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pattern="\+7\-[0-9]{3}\-[0-9]{3}\-[0-9]{2}\-[0-9]{2}"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/>
              <a:t>д</a:t>
            </a:r>
            <a:r>
              <a:rPr lang="ru-RU" dirty="0" smtClean="0"/>
              <a:t>ля </a:t>
            </a:r>
            <a:r>
              <a:rPr lang="ru-RU" dirty="0"/>
              <a:t>формата </a:t>
            </a:r>
            <a:r>
              <a:rPr lang="en-US" dirty="0"/>
              <a:t>+</a:t>
            </a:r>
            <a:r>
              <a:rPr lang="en-US" dirty="0" smtClean="0"/>
              <a:t>7-xxx-xxx-xx-xx</a:t>
            </a:r>
            <a:endParaRPr lang="ru-RU" dirty="0" smtClean="0"/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pattern="[0-9]{2}\.[0-9]{2}\.[0-9]{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4}"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/>
              <a:t>для формата </a:t>
            </a:r>
            <a:r>
              <a:rPr lang="ru-RU" dirty="0" err="1"/>
              <a:t>дд.мм.гггг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91FB-C33E-4523-946F-09C0FF6278D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90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Собственные стили для </a:t>
            </a:r>
            <a:r>
              <a:rPr lang="ru-RU" b="1" dirty="0" err="1" smtClean="0"/>
              <a:t>валидации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&lt;form 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novalidate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&gt;...&lt;/form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input: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invalid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background: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rgba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(128,0,0,0.2);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0" indent="0"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:valid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background: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rgba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(0,128,0,0.2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918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Селекторы атрибутов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input[type="text"]{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input[type=submit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input[type=submit]: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hover{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BDDF-6426-4B05-A77E-5E0E8EECA98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50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776</Words>
  <Application>Microsoft Office PowerPoint</Application>
  <PresentationFormat>Широкоэкранный</PresentationFormat>
  <Paragraphs>243</Paragraphs>
  <Slides>27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Тема Office</vt:lpstr>
      <vt:lpstr>ТАБЛИЦЫ И ФОРМЫ</vt:lpstr>
      <vt:lpstr>Таблицы</vt:lpstr>
      <vt:lpstr>Теги таблицы</vt:lpstr>
      <vt:lpstr>Объединение столбцов</vt:lpstr>
      <vt:lpstr>Объединение строк</vt:lpstr>
      <vt:lpstr>Тег caption</vt:lpstr>
      <vt:lpstr>Схлопывание границ</vt:lpstr>
      <vt:lpstr>Псевдоклассы</vt:lpstr>
      <vt:lpstr>Псевдоклассы и таблицы</vt:lpstr>
      <vt:lpstr>Формы</vt:lpstr>
      <vt:lpstr>Формы</vt:lpstr>
      <vt:lpstr>Формы</vt:lpstr>
      <vt:lpstr>Стили формы</vt:lpstr>
      <vt:lpstr>Типы input-ов</vt:lpstr>
      <vt:lpstr>Типы input-ов – HTML5</vt:lpstr>
      <vt:lpstr>Label и input</vt:lpstr>
      <vt:lpstr>Чекбоксы</vt:lpstr>
      <vt:lpstr>Радио-кнопки</vt:lpstr>
      <vt:lpstr>Выбор select</vt:lpstr>
      <vt:lpstr>Многострочный текст</vt:lpstr>
      <vt:lpstr>Кнопки</vt:lpstr>
      <vt:lpstr>Автофокус</vt:lpstr>
      <vt:lpstr>Обязательные поля</vt:lpstr>
      <vt:lpstr>Паттерны заполнения</vt:lpstr>
      <vt:lpstr>Паттерны заполнения</vt:lpstr>
      <vt:lpstr>Собственные стили для валидации</vt:lpstr>
      <vt:lpstr>Селекторы атрибутов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Таблицы и формы</dc:title>
  <dc:creator>Yulya</dc:creator>
  <cp:lastModifiedBy>Yulya</cp:lastModifiedBy>
  <cp:revision>23</cp:revision>
  <dcterms:created xsi:type="dcterms:W3CDTF">2020-10-23T16:55:41Z</dcterms:created>
  <dcterms:modified xsi:type="dcterms:W3CDTF">2021-10-27T04:45:58Z</dcterms:modified>
</cp:coreProperties>
</file>