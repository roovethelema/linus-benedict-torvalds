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17"/>
  </p:notesMasterIdLst>
  <p:handoutMasterIdLst>
    <p:handoutMasterId r:id="rId18"/>
  </p:handoutMasterIdLst>
  <p:sldIdLst>
    <p:sldId id="265" r:id="rId2"/>
    <p:sldId id="312" r:id="rId3"/>
    <p:sldId id="313" r:id="rId4"/>
    <p:sldId id="264" r:id="rId5"/>
    <p:sldId id="331" r:id="rId6"/>
    <p:sldId id="315" r:id="rId7"/>
    <p:sldId id="316" r:id="rId8"/>
    <p:sldId id="355" r:id="rId9"/>
    <p:sldId id="318" r:id="rId10"/>
    <p:sldId id="321" r:id="rId11"/>
    <p:sldId id="320" r:id="rId12"/>
    <p:sldId id="324" r:id="rId13"/>
    <p:sldId id="325" r:id="rId14"/>
    <p:sldId id="326" r:id="rId15"/>
    <p:sldId id="327" r:id="rId16"/>
  </p:sldIdLst>
  <p:sldSz cx="9144000" cy="6858000" type="screen4x3"/>
  <p:notesSz cx="6797675" cy="992505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4" d="100"/>
          <a:sy n="104" d="100"/>
        </p:scale>
        <p:origin x="1746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797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797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4635ED-C96D-4E6B-B219-F6B2AEDA12D9}" type="datetimeFigureOut">
              <a:rPr lang="ru-RU" smtClean="0"/>
              <a:t>11.08.2026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9427076"/>
            <a:ext cx="2945659" cy="4979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3850443" y="9427076"/>
            <a:ext cx="2945659" cy="4979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C63B73-F82D-4114-B0E5-FACA89D34D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1264871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797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797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A50139-D9AC-4B72-87D5-7B530A5AD42A}" type="datetimeFigureOut">
              <a:rPr lang="ru-RU" smtClean="0"/>
              <a:t>11.08.2026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65225" y="1239838"/>
            <a:ext cx="4467225" cy="33512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79768" y="4776431"/>
            <a:ext cx="5438140" cy="390798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9427076"/>
            <a:ext cx="2945659" cy="4979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50443" y="9427076"/>
            <a:ext cx="2945659" cy="4979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10AAD0-1B5A-4B35-8378-5DD3FB48E2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013428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610AAD0-1B5A-4B35-8378-5DD3FB48E2F0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472322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82879" y="182879"/>
            <a:ext cx="8778240" cy="649224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2485" y="882376"/>
            <a:ext cx="7475220" cy="2926080"/>
          </a:xfrm>
        </p:spPr>
        <p:txBody>
          <a:bodyPr anchor="b">
            <a:normAutofit/>
          </a:bodyPr>
          <a:lstStyle>
            <a:lvl1pPr algn="ctr">
              <a:lnSpc>
                <a:spcPct val="85000"/>
              </a:lnSpc>
              <a:defRPr sz="6000" b="1" cap="all" baseline="0">
                <a:solidFill>
                  <a:schemeClr val="tx1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82148" y="3869635"/>
            <a:ext cx="6575895" cy="1388165"/>
          </a:xfrm>
        </p:spPr>
        <p:txBody>
          <a:bodyPr>
            <a:normAutofit/>
          </a:bodyPr>
          <a:lstStyle>
            <a:lvl1pPr marL="0" indent="0" algn="ctr">
              <a:spcBef>
                <a:spcPts val="1000"/>
              </a:spcBef>
              <a:buNone/>
              <a:defRPr sz="1800">
                <a:solidFill>
                  <a:schemeClr val="tx1"/>
                </a:solidFill>
              </a:defRPr>
            </a:lvl1pPr>
            <a:lvl2pPr marL="342900" indent="0" algn="ctr">
              <a:buNone/>
              <a:defRPr sz="1800"/>
            </a:lvl2pPr>
            <a:lvl3pPr marL="685800" indent="0" algn="ctr">
              <a:buNone/>
              <a:defRPr sz="1800"/>
            </a:lvl3pPr>
            <a:lvl4pPr marL="1028700" indent="0" algn="ctr">
              <a:buNone/>
              <a:defRPr sz="1500"/>
            </a:lvl4pPr>
            <a:lvl5pPr marL="1371600" indent="0" algn="ctr">
              <a:buNone/>
              <a:defRPr sz="1500"/>
            </a:lvl5pPr>
            <a:lvl6pPr marL="1714500" indent="0" algn="ctr">
              <a:buNone/>
              <a:defRPr sz="1500"/>
            </a:lvl6pPr>
            <a:lvl7pPr marL="2057400" indent="0" algn="ctr">
              <a:buNone/>
              <a:defRPr sz="1500"/>
            </a:lvl7pPr>
            <a:lvl8pPr marL="2400300" indent="0" algn="ctr">
              <a:buNone/>
              <a:defRPr sz="1500"/>
            </a:lvl8pPr>
            <a:lvl9pPr marL="2743200" indent="0" algn="ctr">
              <a:buNone/>
              <a:defRPr sz="1500"/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9664AED-8BAE-4FCA-856B-7E32557A50B0}" type="datetime1">
              <a:rPr lang="ru-RU" smtClean="0"/>
              <a:t>11.08.2026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  <p:cxnSp>
        <p:nvCxnSpPr>
          <p:cNvPr id="8" name="Straight Connector 7"/>
          <p:cNvCxnSpPr/>
          <p:nvPr/>
        </p:nvCxnSpPr>
        <p:spPr>
          <a:xfrm>
            <a:off x="1483995" y="3733800"/>
            <a:ext cx="617220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014506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spcBef>
                <a:spcPts val="1000"/>
              </a:spcBef>
              <a:defRPr/>
            </a:lvl1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B3947-3E41-42CD-8074-CFF0E7C4CB19}" type="datetime1">
              <a:rPr lang="ru-RU" smtClean="0"/>
              <a:t>11.08.2026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417028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9818" y="1173575"/>
            <a:ext cx="7475220" cy="2926080"/>
          </a:xfrm>
        </p:spPr>
        <p:txBody>
          <a:bodyPr anchor="b">
            <a:noAutofit/>
          </a:bodyPr>
          <a:lstStyle>
            <a:lvl1pPr algn="ctr">
              <a:lnSpc>
                <a:spcPct val="85000"/>
              </a:lnSpc>
              <a:defRPr sz="6000" b="0" cap="all" baseline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82446" y="4154520"/>
            <a:ext cx="6576822" cy="1363806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39AED9-945A-4C0B-938F-868B37327335}" type="datetime1">
              <a:rPr lang="ru-RU" smtClean="0"/>
              <a:t>11.08.2026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  <p:cxnSp>
        <p:nvCxnSpPr>
          <p:cNvPr id="7" name="Straight Connector 6"/>
          <p:cNvCxnSpPr/>
          <p:nvPr/>
        </p:nvCxnSpPr>
        <p:spPr>
          <a:xfrm>
            <a:off x="1485900" y="4020408"/>
            <a:ext cx="617220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26707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57250" y="2057399"/>
            <a:ext cx="3566160" cy="4023360"/>
          </a:xfrm>
        </p:spPr>
        <p:txBody>
          <a:bodyPr/>
          <a:lstStyle>
            <a:lvl1pPr>
              <a:defRPr sz="165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00709" y="2057400"/>
            <a:ext cx="3566160" cy="4023360"/>
          </a:xfrm>
        </p:spPr>
        <p:txBody>
          <a:bodyPr/>
          <a:lstStyle>
            <a:lvl1pPr>
              <a:defRPr sz="165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70ADF5-CA4A-46DF-BB0A-E12279E685E7}" type="datetime1">
              <a:rPr lang="ru-RU" smtClean="0"/>
              <a:t>11.08.2026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619946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7250" y="2001511"/>
            <a:ext cx="356616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57250" y="2721483"/>
            <a:ext cx="3566160" cy="3383280"/>
          </a:xfrm>
        </p:spPr>
        <p:txBody>
          <a:bodyPr/>
          <a:lstStyle>
            <a:lvl1pPr>
              <a:defRPr sz="165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01880" y="1999032"/>
            <a:ext cx="356616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01880" y="2719322"/>
            <a:ext cx="3566160" cy="3383280"/>
          </a:xfrm>
        </p:spPr>
        <p:txBody>
          <a:bodyPr/>
          <a:lstStyle>
            <a:lvl1pPr>
              <a:defRPr sz="165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A23E5A-683C-43EA-9ABA-287CC00C56AE}" type="datetime1">
              <a:rPr lang="ru-RU" smtClean="0"/>
              <a:t>11.08.2026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924068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12C858-4DF6-465E-BF85-7DE1A67206A3}" type="datetime1">
              <a:rPr lang="ru-RU" smtClean="0"/>
              <a:t>11.08.2026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379931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5573F4-3A98-451E-B316-65C341FA282D}" type="datetime1">
              <a:rPr lang="ru-RU" smtClean="0"/>
              <a:t>11.08.2026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829486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7250" y="1097280"/>
            <a:ext cx="283464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30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29314" y="1097280"/>
            <a:ext cx="4149638" cy="4663440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7250" y="2834640"/>
            <a:ext cx="2834640" cy="292608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275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B441F7-3FFC-44A3-862A-58D5C805A41A}" type="datetime1">
              <a:rPr lang="ru-RU" smtClean="0"/>
              <a:t>11.08.2026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372512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7250" y="1097280"/>
            <a:ext cx="283464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30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019107" y="1069847"/>
            <a:ext cx="4257703" cy="4645153"/>
          </a:xfrm>
        </p:spPr>
        <p:txBody>
          <a:bodyPr lIns="274320" tIns="182880" anchor="t">
            <a:normAutofit/>
          </a:bodyPr>
          <a:lstStyle>
            <a:lvl1pPr marL="0" indent="0">
              <a:buNone/>
              <a:defRPr sz="21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7250" y="2834640"/>
            <a:ext cx="2834640" cy="288036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275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7F65A4-DBE4-4AC2-B53A-5C5A573CC008}" type="datetime1">
              <a:rPr lang="ru-RU" smtClean="0"/>
              <a:t>11.08.2026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041150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E223E-ED26-4C05-B233-751EDDAB6268}" type="datetime1">
              <a:rPr lang="ru-RU" smtClean="0"/>
              <a:t>11.08.2026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367178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762000"/>
            <a:ext cx="1743075" cy="5410200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57250" y="762000"/>
            <a:ext cx="5572125" cy="5410200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3DDB1-C0BF-456A-802A-AD29BD07B1C7}" type="datetime1">
              <a:rPr lang="ru-RU" smtClean="0"/>
              <a:t>11.08.2026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831310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82880" y="182880"/>
            <a:ext cx="8778240" cy="649224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57250" y="609600"/>
            <a:ext cx="7406640" cy="1356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7251" y="2057400"/>
            <a:ext cx="7404653" cy="4038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7247" y="6223829"/>
            <a:ext cx="174680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fld id="{F5CA85BA-4684-4C9F-A921-4489FBAFC245}" type="datetime1">
              <a:rPr lang="ru-RU" smtClean="0"/>
              <a:t>11.08.2026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961861" y="6223829"/>
            <a:ext cx="353833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7148" y="6223829"/>
            <a:ext cx="1279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779473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37160" algn="l" defTabSz="685800" rtl="0" eaLnBrk="1" latinLnBrk="0" hangingPunct="1">
        <a:lnSpc>
          <a:spcPct val="90000"/>
        </a:lnSpc>
        <a:spcBef>
          <a:spcPts val="1000"/>
        </a:spcBef>
        <a:buClr>
          <a:schemeClr val="tx1"/>
        </a:buClr>
        <a:buSzPct val="80000"/>
        <a:buFont typeface="Corbe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tx1"/>
        </a:buClr>
        <a:buSzPct val="80000"/>
        <a:buFont typeface="Corbe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548640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tx1"/>
        </a:buClr>
        <a:buSzPct val="80000"/>
        <a:buFont typeface="Corbe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754380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tx1"/>
        </a:buClr>
        <a:buSzPct val="80000"/>
        <a:buFont typeface="Corbe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920120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tx1"/>
        </a:buClr>
        <a:buSzPct val="80000"/>
        <a:buFont typeface="Corbe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100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tx1"/>
        </a:buClr>
        <a:buSzPct val="80000"/>
        <a:buFont typeface="Corbe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300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tx1"/>
        </a:buClr>
        <a:buSzPct val="80000"/>
        <a:buFont typeface="Corbe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500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tx1"/>
        </a:buClr>
        <a:buSzPct val="80000"/>
        <a:buFont typeface="Corbe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700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tx1"/>
        </a:buClr>
        <a:buSzPct val="80000"/>
        <a:buFont typeface="Corbe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://docs.cntd.ru/document/1200141127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figma.com/proto/HXAYgkdi8Z4ZLLZgqAJ0yz/%D0%90%D0%B2%D1%82%D0%BE%D0%BC%D0%BE%D0%BB%D0%BB?node-id=897-925&amp;p=f&amp;t=pQZtK4QpI2RhGtSf-0&amp;scaling=min-zoom&amp;content-scaling=fixed&amp;page-id=897%3A662&amp;starting-point-node-id=897%3A663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800" dirty="0" err="1" smtClean="0">
                <a:latin typeface="Arial Black" panose="020B0A04020102020204" pitchFamily="34" charset="0"/>
              </a:rPr>
              <a:t>Figma</a:t>
            </a:r>
            <a:r>
              <a:rPr lang="en-US" sz="4800" dirty="0" smtClean="0">
                <a:latin typeface="Arial Black" panose="020B0A04020102020204" pitchFamily="34" charset="0"/>
              </a:rPr>
              <a:t>: </a:t>
            </a:r>
            <a:r>
              <a:rPr lang="ru-RU" sz="4800" dirty="0" smtClean="0">
                <a:latin typeface="Arial Black" panose="020B0A04020102020204" pitchFamily="34" charset="0"/>
              </a:rPr>
              <a:t>знакомство</a:t>
            </a:r>
            <a:endParaRPr lang="ru-RU" sz="4800" dirty="0">
              <a:latin typeface="Arial Black" panose="020B0A04020102020204" pitchFamily="34" charset="0"/>
            </a:endParaRPr>
          </a:p>
        </p:txBody>
      </p:sp>
      <p:sp>
        <p:nvSpPr>
          <p:cNvPr id="5" name="Подзаголовок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1</a:t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70171" y="476672"/>
            <a:ext cx="7406640" cy="1356360"/>
          </a:xfrm>
        </p:spPr>
        <p:txBody>
          <a:bodyPr/>
          <a:lstStyle/>
          <a:p>
            <a:pPr algn="just"/>
            <a:r>
              <a:rPr lang="en-US" b="1" dirty="0" smtClean="0">
                <a:latin typeface="+mn-lt"/>
              </a:rPr>
              <a:t>UX</a:t>
            </a:r>
            <a:r>
              <a:rPr lang="ru-RU" b="1" dirty="0" smtClean="0">
                <a:latin typeface="+mn-lt"/>
              </a:rPr>
              <a:t> и </a:t>
            </a:r>
            <a:r>
              <a:rPr lang="en-US" b="1" dirty="0" smtClean="0">
                <a:latin typeface="+mn-lt"/>
              </a:rPr>
              <a:t>UI</a:t>
            </a:r>
            <a:endParaRPr lang="ru-RU" b="1" dirty="0">
              <a:latin typeface="+mn-lt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" indent="0">
              <a:buNone/>
            </a:pPr>
            <a:r>
              <a:rPr lang="ru-RU" sz="2400" b="1" dirty="0" err="1" smtClean="0">
                <a:cs typeface="Arial" panose="020B0604020202020204" pitchFamily="34" charset="0"/>
              </a:rPr>
              <a:t>User</a:t>
            </a:r>
            <a:r>
              <a:rPr lang="ru-RU" sz="2400" b="1" dirty="0" smtClean="0">
                <a:cs typeface="Arial" panose="020B0604020202020204" pitchFamily="34" charset="0"/>
              </a:rPr>
              <a:t> </a:t>
            </a:r>
            <a:r>
              <a:rPr lang="ru-RU" sz="2400" b="1" dirty="0" err="1">
                <a:cs typeface="Arial" panose="020B0604020202020204" pitchFamily="34" charset="0"/>
              </a:rPr>
              <a:t>Experience</a:t>
            </a:r>
            <a:r>
              <a:rPr lang="ru-RU" sz="2400" b="1" dirty="0">
                <a:cs typeface="Arial" panose="020B0604020202020204" pitchFamily="34" charset="0"/>
              </a:rPr>
              <a:t> (UX) или опыт взаимодействия </a:t>
            </a:r>
            <a:r>
              <a:rPr lang="ru-RU" sz="2400" dirty="0">
                <a:cs typeface="Arial" panose="020B0604020202020204" pitchFamily="34" charset="0"/>
              </a:rPr>
              <a:t>— это восприятие и ответные действия пользователя, возникающие в результате использования и/или предстоящего использования продукции, системы или </a:t>
            </a:r>
            <a:r>
              <a:rPr lang="ru-RU" sz="2400" dirty="0" smtClean="0">
                <a:cs typeface="Arial" panose="020B0604020202020204" pitchFamily="34" charset="0"/>
              </a:rPr>
              <a:t>услуги. </a:t>
            </a:r>
          </a:p>
          <a:p>
            <a:pPr marL="34290" indent="0">
              <a:buNone/>
            </a:pPr>
            <a:r>
              <a:rPr lang="ru-RU" sz="2400" b="1" dirty="0" err="1" smtClean="0">
                <a:cs typeface="Arial" panose="020B0604020202020204" pitchFamily="34" charset="0"/>
              </a:rPr>
              <a:t>User</a:t>
            </a:r>
            <a:r>
              <a:rPr lang="ru-RU" sz="2400" b="1" dirty="0" smtClean="0">
                <a:cs typeface="Arial" panose="020B0604020202020204" pitchFamily="34" charset="0"/>
              </a:rPr>
              <a:t> </a:t>
            </a:r>
            <a:r>
              <a:rPr lang="ru-RU" sz="2400" b="1" dirty="0" err="1">
                <a:cs typeface="Arial" panose="020B0604020202020204" pitchFamily="34" charset="0"/>
              </a:rPr>
              <a:t>Interface</a:t>
            </a:r>
            <a:r>
              <a:rPr lang="ru-RU" sz="2400" b="1" dirty="0">
                <a:cs typeface="Arial" panose="020B0604020202020204" pitchFamily="34" charset="0"/>
              </a:rPr>
              <a:t> (UI) или пользовательский интерфейс </a:t>
            </a:r>
            <a:r>
              <a:rPr lang="ru-RU" sz="2400" dirty="0">
                <a:cs typeface="Arial" panose="020B0604020202020204" pitchFamily="34" charset="0"/>
              </a:rPr>
              <a:t>— это все компоненты интерактивной системы (программное обеспечение или аппаратное обеспечение), которые предоставляют пользователю информацию и являются инструментами управления для выполнения определенных </a:t>
            </a:r>
            <a:r>
              <a:rPr lang="ru-RU" sz="2400" dirty="0" smtClean="0">
                <a:cs typeface="Arial" panose="020B0604020202020204" pitchFamily="34" charset="0"/>
              </a:rPr>
              <a:t>задач.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461494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70171" y="637126"/>
            <a:ext cx="7406640" cy="1356360"/>
          </a:xfrm>
        </p:spPr>
        <p:txBody>
          <a:bodyPr/>
          <a:lstStyle/>
          <a:p>
            <a:pPr algn="just"/>
            <a:r>
              <a:rPr lang="ru-RU" b="1" dirty="0" smtClean="0">
                <a:latin typeface="+mn-lt"/>
              </a:rPr>
              <a:t>Стандарт</a:t>
            </a:r>
            <a:endParaRPr lang="ru-RU" b="1" dirty="0">
              <a:latin typeface="+mn-lt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" indent="0">
              <a:buNone/>
            </a:pPr>
            <a:r>
              <a:rPr lang="ru-RU" sz="2400" dirty="0" smtClean="0"/>
              <a:t>Пользовательский интерфейс — это внешний вид программы, который видит человек, пользуясь ею. </a:t>
            </a:r>
          </a:p>
          <a:p>
            <a:pPr marL="34290" indent="0">
              <a:buNone/>
            </a:pPr>
            <a:r>
              <a:rPr lang="ru-RU" sz="2400" dirty="0" smtClean="0"/>
              <a:t>Национальный стандарт РФ «ЭРГОНОМИКА ВЗАИМОДЕЙСТВИЯ ЧЕЛОВЕК - СИСТЕМА» </a:t>
            </a:r>
            <a:r>
              <a:rPr lang="en-US" sz="2400" dirty="0" smtClean="0">
                <a:hlinkClick r:id="rId2"/>
              </a:rPr>
              <a:t>http://docs.cntd.ru/document/1200141127</a:t>
            </a:r>
            <a:r>
              <a:rPr lang="ru-RU" sz="2400" dirty="0" smtClean="0"/>
              <a:t> </a:t>
            </a:r>
            <a:endParaRPr lang="ru-RU" sz="240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634598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>
                <a:latin typeface="+mn-lt"/>
              </a:rPr>
              <a:t>Этапы разработки интерфейса сайта</a:t>
            </a:r>
            <a:endParaRPr lang="ru-RU" b="1" dirty="0">
              <a:latin typeface="+mn-lt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91490" indent="-457200">
              <a:buFont typeface="+mj-lt"/>
              <a:buAutoNum type="arabicPeriod"/>
            </a:pPr>
            <a:r>
              <a:rPr lang="ru-RU" sz="2400" dirty="0">
                <a:latin typeface="Arial Narrow" panose="020B0606020202030204" pitchFamily="34" charset="0"/>
              </a:rPr>
              <a:t>Исследование</a:t>
            </a:r>
          </a:p>
          <a:p>
            <a:pPr marL="491490" indent="-457200">
              <a:buFont typeface="+mj-lt"/>
              <a:buAutoNum type="arabicPeriod"/>
            </a:pPr>
            <a:r>
              <a:rPr lang="ru-RU" sz="2400" dirty="0" smtClean="0">
                <a:latin typeface="Arial Narrow" panose="020B0606020202030204" pitchFamily="34" charset="0"/>
              </a:rPr>
              <a:t>Создание пользовательских сценариев</a:t>
            </a:r>
            <a:endParaRPr lang="ru-RU" sz="2400" dirty="0">
              <a:latin typeface="Arial Narrow" panose="020B0606020202030204" pitchFamily="34" charset="0"/>
            </a:endParaRPr>
          </a:p>
          <a:p>
            <a:pPr marL="491490" indent="-457200">
              <a:buFont typeface="+mj-lt"/>
              <a:buAutoNum type="arabicPeriod"/>
            </a:pPr>
            <a:r>
              <a:rPr lang="ru-RU" sz="2400" dirty="0" smtClean="0">
                <a:latin typeface="Arial Narrow" panose="020B0606020202030204" pitchFamily="34" charset="0"/>
              </a:rPr>
              <a:t>Разработка структуры </a:t>
            </a:r>
            <a:r>
              <a:rPr lang="ru-RU" sz="2400" dirty="0">
                <a:latin typeface="Arial Narrow" panose="020B0606020202030204" pitchFamily="34" charset="0"/>
              </a:rPr>
              <a:t>интерфейса</a:t>
            </a:r>
          </a:p>
          <a:p>
            <a:pPr marL="491490" indent="-457200">
              <a:buFont typeface="+mj-lt"/>
              <a:buAutoNum type="arabicPeriod"/>
            </a:pPr>
            <a:r>
              <a:rPr lang="ru-RU" sz="2400" dirty="0" err="1">
                <a:latin typeface="Arial Narrow" panose="020B0606020202030204" pitchFamily="34" charset="0"/>
              </a:rPr>
              <a:t>Прототипирование</a:t>
            </a:r>
            <a:r>
              <a:rPr lang="ru-RU" sz="2400" dirty="0">
                <a:latin typeface="Arial Narrow" panose="020B0606020202030204" pitchFamily="34" charset="0"/>
              </a:rPr>
              <a:t> интерфейса</a:t>
            </a:r>
          </a:p>
          <a:p>
            <a:pPr marL="491490" indent="-457200">
              <a:buFont typeface="+mj-lt"/>
              <a:buAutoNum type="arabicPeriod"/>
            </a:pPr>
            <a:r>
              <a:rPr lang="ru-RU" sz="2400" dirty="0">
                <a:latin typeface="Arial Narrow" panose="020B0606020202030204" pitchFamily="34" charset="0"/>
              </a:rPr>
              <a:t>Определение стилистики</a:t>
            </a:r>
          </a:p>
          <a:p>
            <a:pPr marL="491490" indent="-457200">
              <a:buFont typeface="+mj-lt"/>
              <a:buAutoNum type="arabicPeriod"/>
            </a:pPr>
            <a:r>
              <a:rPr lang="ru-RU" sz="2400" dirty="0" smtClean="0">
                <a:latin typeface="Arial Narrow" panose="020B0606020202030204" pitchFamily="34" charset="0"/>
              </a:rPr>
              <a:t>Разработка дизайн концепции</a:t>
            </a:r>
            <a:endParaRPr lang="ru-RU" sz="2400" dirty="0">
              <a:latin typeface="Arial Narrow" panose="020B0606020202030204" pitchFamily="34" charset="0"/>
            </a:endParaRPr>
          </a:p>
          <a:p>
            <a:pPr marL="491490" indent="-457200">
              <a:buFont typeface="+mj-lt"/>
              <a:buAutoNum type="arabicPeriod"/>
            </a:pPr>
            <a:r>
              <a:rPr lang="ru-RU" sz="2400" dirty="0">
                <a:latin typeface="Arial Narrow" panose="020B0606020202030204" pitchFamily="34" charset="0"/>
              </a:rPr>
              <a:t>Оформление всех </a:t>
            </a:r>
            <a:r>
              <a:rPr lang="ru-RU" sz="2400" dirty="0" smtClean="0">
                <a:latin typeface="Arial Narrow" panose="020B0606020202030204" pitchFamily="34" charset="0"/>
              </a:rPr>
              <a:t>страниц (экранов)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4</a:t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err="1" smtClean="0"/>
              <a:t>Прототипирование</a:t>
            </a:r>
            <a:r>
              <a:rPr lang="ru-RU" b="1" dirty="0" smtClean="0"/>
              <a:t> в </a:t>
            </a:r>
            <a:r>
              <a:rPr lang="en-US" b="1" dirty="0" err="1" smtClean="0"/>
              <a:t>Figma</a:t>
            </a:r>
            <a:endParaRPr lang="ru-RU" b="1" dirty="0"/>
          </a:p>
        </p:txBody>
      </p:sp>
      <p:sp>
        <p:nvSpPr>
          <p:cNvPr id="6" name="Текст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093600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 smtClean="0">
                <a:latin typeface="+mn-lt"/>
              </a:rPr>
              <a:t>Прототип интерфейса</a:t>
            </a:r>
            <a:endParaRPr lang="ru-RU" b="1" dirty="0">
              <a:latin typeface="+mn-lt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6</a:t>
            </a:fld>
            <a:endParaRPr lang="ru-RU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551" y="1700808"/>
            <a:ext cx="7866037" cy="4642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59377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 smtClean="0">
                <a:latin typeface="+mn-lt"/>
              </a:rPr>
              <a:t>Интерактивный прототипы</a:t>
            </a:r>
            <a:endParaRPr lang="ru-RU" b="1" dirty="0">
              <a:latin typeface="+mn-lt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7</a:t>
            </a:fld>
            <a:endParaRPr lang="ru-RU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9695" y="2118457"/>
            <a:ext cx="6381750" cy="3952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72136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Пример интерактивных прототипов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https://www.figma.com/proto/HXAYgkdi8Z4ZLLZgqAJ0yz/%</a:t>
            </a:r>
            <a:r>
              <a:rPr lang="en-US" dirty="0" smtClean="0">
                <a:hlinkClick r:id="rId2"/>
              </a:rPr>
              <a:t>D0%90%D0%B2%D1%82%D0%BE%D0%BC%D0%BE%D0%BB%D0%BB?node-id=897-925&amp;p=f&amp;t=pQZtK4QpI2RhGtSf-0&amp;scaling=min-zoom&amp;content-scaling=fixed&amp;page-id=897%3A662&amp;starting-point-node-id=897%3A663</a:t>
            </a:r>
            <a:endParaRPr lang="ru-RU" dirty="0" smtClean="0"/>
          </a:p>
          <a:p>
            <a:endParaRPr lang="ru-RU" dirty="0"/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055136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latin typeface="+mn-lt"/>
              </a:rPr>
              <a:t>FIGMA  - </a:t>
            </a:r>
            <a:r>
              <a:rPr lang="ru-RU" b="1" dirty="0" smtClean="0">
                <a:latin typeface="+mn-lt"/>
              </a:rPr>
              <a:t>это редактор для…</a:t>
            </a:r>
            <a:endParaRPr lang="ru-RU" b="1" dirty="0">
              <a:latin typeface="+mn-lt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91490" indent="-457200">
              <a:buFont typeface="+mj-lt"/>
              <a:buAutoNum type="arabicPeriod"/>
            </a:pPr>
            <a:r>
              <a:rPr lang="ru-RU" sz="2400" dirty="0" err="1" smtClean="0"/>
              <a:t>отрисовки</a:t>
            </a:r>
            <a:r>
              <a:rPr lang="ru-RU" sz="2400" dirty="0" smtClean="0"/>
              <a:t> элементов интерфейса,</a:t>
            </a:r>
          </a:p>
          <a:p>
            <a:pPr marL="491490" indent="-457200">
              <a:buFont typeface="+mj-lt"/>
              <a:buAutoNum type="arabicPeriod"/>
            </a:pPr>
            <a:r>
              <a:rPr lang="ru-RU" sz="2400" dirty="0" smtClean="0"/>
              <a:t>создания интерактивных прототипов сайтов </a:t>
            </a:r>
            <a:r>
              <a:rPr lang="ru-RU" sz="2400" dirty="0"/>
              <a:t>и </a:t>
            </a:r>
            <a:r>
              <a:rPr lang="ru-RU" sz="2400" dirty="0" smtClean="0"/>
              <a:t>приложений, </a:t>
            </a:r>
          </a:p>
          <a:p>
            <a:pPr marL="491490" indent="-457200">
              <a:buFont typeface="+mj-lt"/>
              <a:buAutoNum type="arabicPeriod"/>
            </a:pPr>
            <a:r>
              <a:rPr lang="ru-RU" sz="2400" dirty="0" smtClean="0"/>
              <a:t>создания иллюстрации</a:t>
            </a:r>
            <a:r>
              <a:rPr lang="ru-RU" sz="2400" dirty="0"/>
              <a:t>, </a:t>
            </a:r>
            <a:endParaRPr lang="ru-RU" sz="2400" dirty="0" smtClean="0"/>
          </a:p>
          <a:p>
            <a:pPr marL="491490" indent="-457200">
              <a:buFont typeface="+mj-lt"/>
              <a:buAutoNum type="arabicPeriod"/>
            </a:pPr>
            <a:r>
              <a:rPr lang="ru-RU" sz="2400" dirty="0" smtClean="0"/>
              <a:t>создания векторной графику.</a:t>
            </a:r>
            <a:endParaRPr lang="ru-RU" sz="2400" dirty="0" smtClean="0">
              <a:latin typeface="Arial Narrow" panose="020B0606020202030204" pitchFamily="34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9195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>
                <a:latin typeface="+mn-lt"/>
              </a:rPr>
              <a:t>Интерфейс </a:t>
            </a:r>
            <a:r>
              <a:rPr lang="en-US" b="1" dirty="0" smtClean="0">
                <a:latin typeface="+mn-lt"/>
              </a:rPr>
              <a:t>FIGMA</a:t>
            </a:r>
            <a:endParaRPr lang="ru-RU" dirty="0">
              <a:latin typeface="+mn-lt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sz="2400" dirty="0" err="1" smtClean="0"/>
              <a:t>прототипирование</a:t>
            </a:r>
            <a:r>
              <a:rPr lang="en-US" sz="2400" dirty="0" smtClean="0"/>
              <a:t> (</a:t>
            </a:r>
            <a:r>
              <a:rPr lang="ru-RU" sz="2400" dirty="0" smtClean="0"/>
              <a:t>и интерактивное</a:t>
            </a:r>
            <a:r>
              <a:rPr lang="en-US" sz="2400" dirty="0" smtClean="0"/>
              <a:t>)</a:t>
            </a:r>
            <a:r>
              <a:rPr lang="ru-RU" sz="2400" dirty="0" smtClean="0"/>
              <a:t>;</a:t>
            </a:r>
            <a:endParaRPr lang="ru-RU" sz="2400" dirty="0"/>
          </a:p>
          <a:p>
            <a:r>
              <a:rPr lang="ru-RU" sz="2400" dirty="0"/>
              <a:t>атрибуты кода;</a:t>
            </a:r>
          </a:p>
          <a:p>
            <a:r>
              <a:rPr lang="ru-RU" sz="2400" dirty="0" smtClean="0"/>
              <a:t>хранение </a:t>
            </a:r>
            <a:r>
              <a:rPr lang="ru-RU" sz="2400" dirty="0"/>
              <a:t>документов без ограничений;</a:t>
            </a:r>
          </a:p>
          <a:p>
            <a:r>
              <a:rPr lang="ru-RU" sz="2400" dirty="0"/>
              <a:t>импорт документов из </a:t>
            </a:r>
            <a:r>
              <a:rPr lang="ru-RU" sz="2400" dirty="0" err="1"/>
              <a:t>Sketch</a:t>
            </a:r>
            <a:r>
              <a:rPr lang="ru-RU" sz="2400" dirty="0"/>
              <a:t> и других </a:t>
            </a:r>
            <a:r>
              <a:rPr lang="ru-RU" sz="2400" dirty="0" smtClean="0"/>
              <a:t>форматов;</a:t>
            </a:r>
            <a:endParaRPr lang="ru-RU" sz="2400" dirty="0"/>
          </a:p>
          <a:p>
            <a:r>
              <a:rPr lang="ru-RU" sz="2400" dirty="0" smtClean="0"/>
              <a:t>совместная работа над проектами;</a:t>
            </a:r>
            <a:endParaRPr lang="ru-RU" sz="2400" dirty="0"/>
          </a:p>
          <a:p>
            <a:r>
              <a:rPr lang="ru-RU" sz="2400" dirty="0"/>
              <a:t>х</a:t>
            </a:r>
            <a:r>
              <a:rPr lang="ru-RU" sz="2400" dirty="0" smtClean="0"/>
              <a:t>ранение истории версий.</a:t>
            </a:r>
            <a:endParaRPr lang="ru-RU" sz="2400" dirty="0"/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598657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>
                <a:latin typeface="+mn-lt"/>
              </a:rPr>
              <a:t>Элементы </a:t>
            </a:r>
            <a:r>
              <a:rPr lang="en-US" b="1" dirty="0" smtClean="0">
                <a:latin typeface="+mn-lt"/>
              </a:rPr>
              <a:t>FIGMA</a:t>
            </a:r>
            <a:endParaRPr lang="ru-RU" dirty="0">
              <a:latin typeface="+mn-lt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sz="2400" dirty="0" smtClean="0"/>
              <a:t>Страницы (</a:t>
            </a:r>
            <a:r>
              <a:rPr lang="en-US" sz="2400" dirty="0" smtClean="0"/>
              <a:t>Page</a:t>
            </a:r>
            <a:r>
              <a:rPr lang="ru-RU" sz="2400" dirty="0" smtClean="0"/>
              <a:t>)</a:t>
            </a:r>
            <a:endParaRPr lang="en-US" sz="2400" dirty="0" smtClean="0"/>
          </a:p>
          <a:p>
            <a:r>
              <a:rPr lang="ru-RU" sz="2400" dirty="0" smtClean="0"/>
              <a:t>Фреймы </a:t>
            </a:r>
            <a:r>
              <a:rPr lang="en-US" sz="2400" dirty="0" smtClean="0"/>
              <a:t>(Frame)</a:t>
            </a:r>
          </a:p>
          <a:p>
            <a:r>
              <a:rPr lang="ru-RU" sz="2400" dirty="0" smtClean="0"/>
              <a:t>Компоненты (</a:t>
            </a:r>
            <a:r>
              <a:rPr lang="en-US" sz="2400" dirty="0" smtClean="0"/>
              <a:t>Component</a:t>
            </a:r>
            <a:r>
              <a:rPr lang="ru-RU" sz="2400" dirty="0" smtClean="0"/>
              <a:t>)</a:t>
            </a:r>
            <a:endParaRPr lang="en-US" sz="2400" dirty="0" smtClean="0"/>
          </a:p>
          <a:p>
            <a:r>
              <a:rPr lang="ru-RU" sz="2400" dirty="0" smtClean="0"/>
              <a:t>Графические объекты (</a:t>
            </a:r>
            <a:r>
              <a:rPr lang="en-US" sz="2400" dirty="0" smtClean="0"/>
              <a:t>Rectangle, Line, Polygon </a:t>
            </a:r>
            <a:r>
              <a:rPr lang="ru-RU" sz="2400" dirty="0" smtClean="0"/>
              <a:t>и т.д.)</a:t>
            </a:r>
          </a:p>
          <a:p>
            <a:r>
              <a:rPr lang="ru-RU" sz="2400" dirty="0" smtClean="0"/>
              <a:t>Инструменты рисования (</a:t>
            </a:r>
            <a:r>
              <a:rPr lang="en-US" sz="2400" dirty="0" smtClean="0"/>
              <a:t>Pen, </a:t>
            </a:r>
            <a:r>
              <a:rPr lang="en-US" sz="2400" dirty="0" err="1" smtClean="0"/>
              <a:t>Pansil</a:t>
            </a:r>
            <a:r>
              <a:rPr lang="ru-RU" sz="2400" dirty="0" smtClean="0"/>
              <a:t>)</a:t>
            </a:r>
            <a:endParaRPr lang="ru-RU" sz="2400" dirty="0"/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356199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>
                <a:latin typeface="+mn-lt"/>
              </a:rPr>
              <a:t>События (триггеры)</a:t>
            </a:r>
            <a:endParaRPr lang="ru-RU" dirty="0">
              <a:latin typeface="+mn-lt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61936" y="1772816"/>
            <a:ext cx="7404653" cy="4038600"/>
          </a:xfrm>
        </p:spPr>
        <p:txBody>
          <a:bodyPr>
            <a:noAutofit/>
          </a:bodyPr>
          <a:lstStyle/>
          <a:p>
            <a:pPr marL="491490" indent="-457200">
              <a:buFont typeface="+mj-lt"/>
              <a:buAutoNum type="arabicPeriod"/>
            </a:pPr>
            <a:r>
              <a:rPr lang="ru-RU" sz="1800" dirty="0"/>
              <a:t>Клик или тап (</a:t>
            </a:r>
            <a:r>
              <a:rPr lang="ru-RU" sz="1800" dirty="0" err="1"/>
              <a:t>On</a:t>
            </a:r>
            <a:r>
              <a:rPr lang="ru-RU" sz="1800" dirty="0"/>
              <a:t> </a:t>
            </a:r>
            <a:r>
              <a:rPr lang="ru-RU" sz="1800" dirty="0" err="1"/>
              <a:t>Click</a:t>
            </a:r>
            <a:r>
              <a:rPr lang="ru-RU" sz="1800" dirty="0"/>
              <a:t>/</a:t>
            </a:r>
            <a:r>
              <a:rPr lang="ru-RU" sz="1800" dirty="0" err="1"/>
              <a:t>On</a:t>
            </a:r>
            <a:r>
              <a:rPr lang="ru-RU" sz="1800" dirty="0"/>
              <a:t> </a:t>
            </a:r>
            <a:r>
              <a:rPr lang="ru-RU" sz="1800" dirty="0" err="1"/>
              <a:t>Tap</a:t>
            </a:r>
            <a:r>
              <a:rPr lang="ru-RU" sz="1800" dirty="0" smtClean="0"/>
              <a:t>) .Наступает</a:t>
            </a:r>
            <a:r>
              <a:rPr lang="ru-RU" sz="1800" dirty="0"/>
              <a:t>, когда пользователь кликает по элементу курсором мышки или, в случае с сенсорными экранами, нажимает (однократно) пальцем</a:t>
            </a:r>
            <a:r>
              <a:rPr lang="ru-RU" sz="1800" dirty="0" smtClean="0"/>
              <a:t>.  Применяется </a:t>
            </a:r>
            <a:r>
              <a:rPr lang="ru-RU" sz="1800" dirty="0"/>
              <a:t>для навигации: переход по ссылкам, ввод данных.</a:t>
            </a:r>
          </a:p>
          <a:p>
            <a:pPr marL="491490" indent="-457200">
              <a:buFont typeface="+mj-lt"/>
              <a:buAutoNum type="arabicPeriod"/>
            </a:pPr>
            <a:r>
              <a:rPr lang="ru-RU" sz="1800" dirty="0" smtClean="0"/>
              <a:t>Перетаскивание </a:t>
            </a:r>
            <a:r>
              <a:rPr lang="ru-RU" sz="1800" dirty="0"/>
              <a:t>(</a:t>
            </a:r>
            <a:r>
              <a:rPr lang="ru-RU" sz="1800" dirty="0" err="1"/>
              <a:t>On</a:t>
            </a:r>
            <a:r>
              <a:rPr lang="ru-RU" sz="1800" dirty="0"/>
              <a:t> </a:t>
            </a:r>
            <a:r>
              <a:rPr lang="ru-RU" sz="1800" dirty="0" err="1"/>
              <a:t>Drag</a:t>
            </a:r>
            <a:r>
              <a:rPr lang="ru-RU" sz="1800" dirty="0" smtClean="0"/>
              <a:t>). Наступает</a:t>
            </a:r>
            <a:r>
              <a:rPr lang="ru-RU" sz="1800" dirty="0"/>
              <a:t>, когда пользователь перетаскивает элемент с помощью зажатой кнопки мыши или пальцем (на сенсорный экранах</a:t>
            </a:r>
            <a:r>
              <a:rPr lang="ru-RU" sz="1800" dirty="0" smtClean="0"/>
              <a:t>). Может </a:t>
            </a:r>
            <a:r>
              <a:rPr lang="ru-RU" sz="1800" dirty="0"/>
              <a:t>применяться для перемещения элементов (например, слайдер), и для более сложных манипуляций, </a:t>
            </a:r>
            <a:r>
              <a:rPr lang="ru-RU" sz="1800" dirty="0" smtClean="0"/>
              <a:t>например</a:t>
            </a:r>
            <a:r>
              <a:rPr lang="ru-RU" sz="1800" dirty="0"/>
              <a:t>, для перетаскивания вниз для обновления.</a:t>
            </a:r>
          </a:p>
          <a:p>
            <a:pPr marL="491490" indent="-457200">
              <a:buFont typeface="+mj-lt"/>
              <a:buAutoNum type="arabicPeriod"/>
            </a:pPr>
            <a:r>
              <a:rPr lang="ru-RU" sz="1800" dirty="0" smtClean="0"/>
              <a:t>При </a:t>
            </a:r>
            <a:r>
              <a:rPr lang="ru-RU" sz="1800" dirty="0"/>
              <a:t>наведении (</a:t>
            </a:r>
            <a:r>
              <a:rPr lang="ru-RU" sz="1800" dirty="0" err="1"/>
              <a:t>While</a:t>
            </a:r>
            <a:r>
              <a:rPr lang="ru-RU" sz="1800" dirty="0"/>
              <a:t> </a:t>
            </a:r>
            <a:r>
              <a:rPr lang="ru-RU" sz="1800" dirty="0" err="1"/>
              <a:t>Hovering</a:t>
            </a:r>
            <a:r>
              <a:rPr lang="ru-RU" sz="1800" dirty="0" smtClean="0"/>
              <a:t>). Используется </a:t>
            </a:r>
            <a:r>
              <a:rPr lang="ru-RU" sz="1800" dirty="0"/>
              <a:t>для изменения состояния при наведении (аналог </a:t>
            </a:r>
            <a:r>
              <a:rPr lang="ru-RU" sz="1800" dirty="0" err="1"/>
              <a:t>hover</a:t>
            </a:r>
            <a:r>
              <a:rPr lang="ru-RU" sz="1800" dirty="0"/>
              <a:t> в CSS) и демонстрации подсказок. Если убрать курсор с объекта, элемент будет возвращен в исходное состояние.</a:t>
            </a:r>
          </a:p>
          <a:p>
            <a:pPr marL="491490" indent="-457200">
              <a:buFont typeface="+mj-lt"/>
              <a:buAutoNum type="arabicPeriod"/>
            </a:pPr>
            <a:r>
              <a:rPr lang="ru-RU" sz="1800" dirty="0" smtClean="0"/>
              <a:t>Клавиатура </a:t>
            </a:r>
            <a:r>
              <a:rPr lang="ru-RU" sz="1800" dirty="0"/>
              <a:t>или </a:t>
            </a:r>
            <a:r>
              <a:rPr lang="ru-RU" sz="1800" dirty="0" err="1"/>
              <a:t>геймпад</a:t>
            </a:r>
            <a:r>
              <a:rPr lang="ru-RU" sz="1800" dirty="0"/>
              <a:t> (</a:t>
            </a:r>
            <a:r>
              <a:rPr lang="ru-RU" sz="1800" dirty="0" err="1"/>
              <a:t>Keyboard</a:t>
            </a:r>
            <a:r>
              <a:rPr lang="ru-RU" sz="1800" dirty="0"/>
              <a:t> </a:t>
            </a:r>
            <a:r>
              <a:rPr lang="ru-RU" sz="1800" dirty="0" err="1"/>
              <a:t>and</a:t>
            </a:r>
            <a:r>
              <a:rPr lang="ru-RU" sz="1800" dirty="0"/>
              <a:t> </a:t>
            </a:r>
            <a:r>
              <a:rPr lang="ru-RU" sz="1800" dirty="0" err="1"/>
              <a:t>Gamepad</a:t>
            </a:r>
            <a:r>
              <a:rPr lang="ru-RU" sz="1800" dirty="0"/>
              <a:t> </a:t>
            </a:r>
            <a:r>
              <a:rPr lang="ru-RU" sz="1800" dirty="0" err="1" smtClean="0"/>
              <a:t>Shortcuts</a:t>
            </a:r>
            <a:r>
              <a:rPr lang="ru-RU" sz="1800" dirty="0" smtClean="0"/>
              <a:t>). Используется </a:t>
            </a:r>
            <a:r>
              <a:rPr lang="ru-RU" sz="1800" dirty="0"/>
              <a:t>для считывания нажатия клавиатуры, в том числе сочетаний</a:t>
            </a:r>
            <a:r>
              <a:rPr lang="ru-RU" sz="1800" dirty="0" smtClean="0"/>
              <a:t>.</a:t>
            </a:r>
            <a:endParaRPr lang="ru-RU" sz="180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79215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>
                <a:latin typeface="+mn-lt"/>
              </a:rPr>
              <a:t>События (триггеры)</a:t>
            </a:r>
            <a:endParaRPr lang="ru-RU" dirty="0">
              <a:latin typeface="+mn-lt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57250" y="1844824"/>
            <a:ext cx="7404653" cy="4038600"/>
          </a:xfrm>
        </p:spPr>
        <p:txBody>
          <a:bodyPr>
            <a:noAutofit/>
          </a:bodyPr>
          <a:lstStyle/>
          <a:p>
            <a:pPr marL="491490" indent="-457200">
              <a:buFont typeface="+mj-lt"/>
              <a:buAutoNum type="arabicPeriod"/>
            </a:pPr>
            <a:r>
              <a:rPr lang="ru-RU" sz="1800" dirty="0"/>
              <a:t>Мышь в области (</a:t>
            </a:r>
            <a:r>
              <a:rPr lang="ru-RU" sz="1800" dirty="0" err="1"/>
              <a:t>Mouse</a:t>
            </a:r>
            <a:r>
              <a:rPr lang="ru-RU" sz="1800" dirty="0"/>
              <a:t> </a:t>
            </a:r>
            <a:r>
              <a:rPr lang="ru-RU" sz="1800" dirty="0" err="1"/>
              <a:t>enter</a:t>
            </a:r>
            <a:r>
              <a:rPr lang="ru-RU" sz="1800" dirty="0"/>
              <a:t>). Показывает целевой кадр назначения, если мышь наведена в специальную область.</a:t>
            </a:r>
          </a:p>
          <a:p>
            <a:pPr marL="491490" indent="-457200">
              <a:buFont typeface="+mj-lt"/>
              <a:buAutoNum type="arabicPeriod"/>
            </a:pPr>
            <a:r>
              <a:rPr lang="ru-RU" sz="1800" dirty="0"/>
              <a:t>Когда мышь покидает область (</a:t>
            </a:r>
            <a:r>
              <a:rPr lang="ru-RU" sz="1800" dirty="0" err="1"/>
              <a:t>Mouse</a:t>
            </a:r>
            <a:r>
              <a:rPr lang="ru-RU" sz="1800" dirty="0"/>
              <a:t> </a:t>
            </a:r>
            <a:r>
              <a:rPr lang="ru-RU" sz="1800" dirty="0" err="1"/>
              <a:t>Leave</a:t>
            </a:r>
            <a:r>
              <a:rPr lang="ru-RU" sz="1800" dirty="0"/>
              <a:t>). Показывает целевой кадр, когда курсор покидает специальную область. Может использоваться, например, для демонстрации подсказок, когда пользователь покинул поле, не заполнив его.</a:t>
            </a:r>
          </a:p>
          <a:p>
            <a:pPr marL="491490" indent="-457200">
              <a:buFont typeface="+mj-lt"/>
              <a:buAutoNum type="arabicPeriod"/>
            </a:pPr>
            <a:r>
              <a:rPr lang="ru-RU" sz="1800" dirty="0"/>
              <a:t>Начало касания (</a:t>
            </a:r>
            <a:r>
              <a:rPr lang="ru-RU" sz="1800" dirty="0" err="1"/>
              <a:t>Mouse</a:t>
            </a:r>
            <a:r>
              <a:rPr lang="ru-RU" sz="1800" dirty="0"/>
              <a:t> </a:t>
            </a:r>
            <a:r>
              <a:rPr lang="ru-RU" sz="1800" dirty="0" err="1"/>
              <a:t>Down</a:t>
            </a:r>
            <a:r>
              <a:rPr lang="ru-RU" sz="1800" dirty="0"/>
              <a:t> (</a:t>
            </a:r>
            <a:r>
              <a:rPr lang="ru-RU" sz="1800" dirty="0" err="1"/>
              <a:t>Touch</a:t>
            </a:r>
            <a:r>
              <a:rPr lang="ru-RU" sz="1800" dirty="0"/>
              <a:t> </a:t>
            </a:r>
            <a:r>
              <a:rPr lang="ru-RU" sz="1800" dirty="0" err="1"/>
              <a:t>Down</a:t>
            </a:r>
            <a:r>
              <a:rPr lang="ru-RU" sz="1800" dirty="0"/>
              <a:t>)). Событие, когда мышь только была нажата (начало клика), либо, для сенсорных экранов, когда палец только коснулся элемента.</a:t>
            </a:r>
          </a:p>
          <a:p>
            <a:pPr marL="491490" indent="-457200">
              <a:buFont typeface="+mj-lt"/>
              <a:buAutoNum type="arabicPeriod"/>
            </a:pPr>
            <a:r>
              <a:rPr lang="ru-RU" sz="1800" dirty="0"/>
              <a:t>Конец касания (</a:t>
            </a:r>
            <a:r>
              <a:rPr lang="ru-RU" sz="1800" dirty="0" err="1"/>
              <a:t>Mouse</a:t>
            </a:r>
            <a:r>
              <a:rPr lang="ru-RU" sz="1800" dirty="0"/>
              <a:t> </a:t>
            </a:r>
            <a:r>
              <a:rPr lang="ru-RU" sz="1800" dirty="0" err="1"/>
              <a:t>Up</a:t>
            </a:r>
            <a:r>
              <a:rPr lang="ru-RU" sz="1800" dirty="0"/>
              <a:t> (</a:t>
            </a:r>
            <a:r>
              <a:rPr lang="ru-RU" sz="1800" dirty="0" err="1"/>
              <a:t>Touch</a:t>
            </a:r>
            <a:r>
              <a:rPr lang="ru-RU" sz="1800" dirty="0"/>
              <a:t> </a:t>
            </a:r>
            <a:r>
              <a:rPr lang="ru-RU" sz="1800" dirty="0" err="1"/>
              <a:t>Up</a:t>
            </a:r>
            <a:r>
              <a:rPr lang="ru-RU" sz="1800" dirty="0"/>
              <a:t>)). Событие, когда мышь больше не нажата, либо, в случае с сенсорным экраном, палец больше не касается точки на экране.</a:t>
            </a:r>
          </a:p>
          <a:p>
            <a:pPr marL="491490" indent="-457200">
              <a:buFont typeface="+mj-lt"/>
              <a:buAutoNum type="arabicPeriod"/>
            </a:pPr>
            <a:r>
              <a:rPr lang="ru-RU" sz="1800" dirty="0"/>
              <a:t>Задержка (</a:t>
            </a:r>
            <a:r>
              <a:rPr lang="ru-RU" sz="1800" dirty="0" err="1"/>
              <a:t>After</a:t>
            </a:r>
            <a:r>
              <a:rPr lang="ru-RU" sz="1800" dirty="0"/>
              <a:t> </a:t>
            </a:r>
            <a:r>
              <a:rPr lang="ru-RU" sz="1800" dirty="0" err="1"/>
              <a:t>Delay</a:t>
            </a:r>
            <a:r>
              <a:rPr lang="ru-RU" sz="1800" dirty="0"/>
              <a:t>). Позволяет запускать событие после паузы. Указывается в миллисекундах.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841084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>
                <a:latin typeface="+mn-lt"/>
              </a:rPr>
              <a:t>Виды взаимодействия</a:t>
            </a:r>
            <a:endParaRPr lang="ru-RU" dirty="0">
              <a:latin typeface="+mn-lt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57250" y="1844824"/>
            <a:ext cx="7404653" cy="4038600"/>
          </a:xfrm>
        </p:spPr>
        <p:txBody>
          <a:bodyPr>
            <a:noAutofit/>
          </a:bodyPr>
          <a:lstStyle/>
          <a:p>
            <a:pPr marL="491490" indent="-457200">
              <a:buFont typeface="+mj-lt"/>
              <a:buAutoNum type="arabicPeriod"/>
            </a:pPr>
            <a:r>
              <a:rPr lang="ru-RU" sz="1800" dirty="0"/>
              <a:t>Навигация (</a:t>
            </a:r>
            <a:r>
              <a:rPr lang="ru-RU" sz="1800" dirty="0" err="1"/>
              <a:t>Navigate</a:t>
            </a:r>
            <a:r>
              <a:rPr lang="ru-RU" sz="1800" dirty="0" smtClean="0"/>
              <a:t>). Осуществляет </a:t>
            </a:r>
            <a:r>
              <a:rPr lang="ru-RU" sz="1800" dirty="0"/>
              <a:t>переход от одного фрейма к другому</a:t>
            </a:r>
            <a:r>
              <a:rPr lang="ru-RU" sz="1800" dirty="0" smtClean="0"/>
              <a:t>.</a:t>
            </a:r>
            <a:endParaRPr lang="ru-RU" sz="1800" dirty="0"/>
          </a:p>
          <a:p>
            <a:pPr marL="491490" indent="-457200">
              <a:buFont typeface="+mj-lt"/>
              <a:buAutoNum type="arabicPeriod"/>
            </a:pPr>
            <a:r>
              <a:rPr lang="ru-RU" sz="1800" dirty="0"/>
              <a:t> </a:t>
            </a:r>
            <a:r>
              <a:rPr lang="ru-RU" sz="1800" dirty="0" smtClean="0"/>
              <a:t>Наложить </a:t>
            </a:r>
            <a:r>
              <a:rPr lang="ru-RU" sz="1800" dirty="0"/>
              <a:t>поверх текущего фрейма (</a:t>
            </a:r>
            <a:r>
              <a:rPr lang="ru-RU" sz="1800" dirty="0" err="1"/>
              <a:t>Open</a:t>
            </a:r>
            <a:r>
              <a:rPr lang="ru-RU" sz="1800" dirty="0"/>
              <a:t> </a:t>
            </a:r>
            <a:r>
              <a:rPr lang="ru-RU" sz="1800" dirty="0" err="1"/>
              <a:t>Overlay</a:t>
            </a:r>
            <a:r>
              <a:rPr lang="ru-RU" sz="1800" dirty="0" smtClean="0"/>
              <a:t>). Открывает </a:t>
            </a:r>
            <a:r>
              <a:rPr lang="ru-RU" sz="1800" dirty="0"/>
              <a:t>целевой фрейм над (поверх) исходного. Может использоваться для отображения всплывающих окон.</a:t>
            </a:r>
          </a:p>
          <a:p>
            <a:pPr marL="491490" indent="-457200">
              <a:buFont typeface="+mj-lt"/>
              <a:buAutoNum type="arabicPeriod"/>
            </a:pPr>
            <a:r>
              <a:rPr lang="ru-RU" sz="1800" dirty="0" smtClean="0"/>
              <a:t>Пролистать </a:t>
            </a:r>
            <a:r>
              <a:rPr lang="ru-RU" sz="1800" dirty="0"/>
              <a:t>до (</a:t>
            </a:r>
            <a:r>
              <a:rPr lang="ru-RU" sz="1800" dirty="0" err="1"/>
              <a:t>Scroll</a:t>
            </a:r>
            <a:r>
              <a:rPr lang="ru-RU" sz="1800" dirty="0"/>
              <a:t> </a:t>
            </a:r>
            <a:r>
              <a:rPr lang="ru-RU" sz="1800" dirty="0" err="1"/>
              <a:t>To</a:t>
            </a:r>
            <a:r>
              <a:rPr lang="ru-RU" sz="1800" dirty="0" smtClean="0"/>
              <a:t>). Пролистывает </a:t>
            </a:r>
            <a:r>
              <a:rPr lang="ru-RU" sz="1800" dirty="0"/>
              <a:t>текущую страницу до вложенного элемента или фрейма. Может использоваться для создания меню с якорными ссылками. </a:t>
            </a:r>
          </a:p>
          <a:p>
            <a:pPr marL="491490" indent="-457200">
              <a:buFont typeface="+mj-lt"/>
              <a:buAutoNum type="arabicPeriod"/>
            </a:pPr>
            <a:r>
              <a:rPr lang="ru-RU" sz="1800" dirty="0"/>
              <a:t>Замена (</a:t>
            </a:r>
            <a:r>
              <a:rPr lang="ru-RU" sz="1800" dirty="0" err="1"/>
              <a:t>Swap</a:t>
            </a:r>
            <a:r>
              <a:rPr lang="ru-RU" sz="1800" dirty="0"/>
              <a:t> </a:t>
            </a:r>
            <a:r>
              <a:rPr lang="ru-RU" sz="1800" dirty="0" err="1"/>
              <a:t>With</a:t>
            </a:r>
            <a:r>
              <a:rPr lang="ru-RU" sz="1800" dirty="0" smtClean="0"/>
              <a:t>). Заменяет </a:t>
            </a:r>
            <a:r>
              <a:rPr lang="ru-RU" sz="1800" dirty="0"/>
              <a:t>один фрейм другим. При этом, в отличие от перехода «Навигация», в данном случае пользователь не сможет вернуться на предыдущую страницу с помощью команды «назад</a:t>
            </a:r>
            <a:r>
              <a:rPr lang="ru-RU" sz="1800" dirty="0" smtClean="0"/>
              <a:t>».</a:t>
            </a:r>
            <a:endParaRPr lang="ru-RU" sz="1800" dirty="0"/>
          </a:p>
          <a:p>
            <a:pPr marL="491490" indent="-457200">
              <a:buFont typeface="+mj-lt"/>
              <a:buAutoNum type="arabicPeriod"/>
            </a:pPr>
            <a:r>
              <a:rPr lang="ru-RU" sz="1800" dirty="0"/>
              <a:t>Закрыть наложения (</a:t>
            </a:r>
            <a:r>
              <a:rPr lang="ru-RU" sz="1800" dirty="0" err="1"/>
              <a:t>Close</a:t>
            </a:r>
            <a:r>
              <a:rPr lang="ru-RU" sz="1800" dirty="0"/>
              <a:t> </a:t>
            </a:r>
            <a:r>
              <a:rPr lang="ru-RU" sz="1800" dirty="0" err="1"/>
              <a:t>Overlay</a:t>
            </a:r>
            <a:r>
              <a:rPr lang="ru-RU" sz="1800" dirty="0" smtClean="0"/>
              <a:t>). Закрывает </a:t>
            </a:r>
            <a:r>
              <a:rPr lang="ru-RU" sz="1800" dirty="0"/>
              <a:t>окно, наложенное поверх фрейма с помощью </a:t>
            </a:r>
            <a:r>
              <a:rPr lang="ru-RU" sz="1800" dirty="0" err="1"/>
              <a:t>Open</a:t>
            </a:r>
            <a:r>
              <a:rPr lang="ru-RU" sz="1800" dirty="0"/>
              <a:t> </a:t>
            </a:r>
            <a:r>
              <a:rPr lang="ru-RU" sz="1800" dirty="0" err="1"/>
              <a:t>Overlay</a:t>
            </a:r>
            <a:r>
              <a:rPr lang="ru-RU" sz="1800" dirty="0"/>
              <a:t>.</a:t>
            </a:r>
          </a:p>
          <a:p>
            <a:pPr marL="491490" indent="-457200">
              <a:buFont typeface="+mj-lt"/>
              <a:buAutoNum type="arabicPeriod"/>
            </a:pPr>
            <a:r>
              <a:rPr lang="ru-RU" sz="1800" dirty="0" smtClean="0"/>
              <a:t>Переход </a:t>
            </a:r>
            <a:r>
              <a:rPr lang="ru-RU" sz="1800" dirty="0"/>
              <a:t>по ссылке (</a:t>
            </a:r>
            <a:r>
              <a:rPr lang="ru-RU" sz="1800" dirty="0" err="1"/>
              <a:t>Open</a:t>
            </a:r>
            <a:r>
              <a:rPr lang="ru-RU" sz="1800" dirty="0"/>
              <a:t> URL</a:t>
            </a:r>
            <a:r>
              <a:rPr lang="ru-RU" sz="1800" dirty="0" smtClean="0"/>
              <a:t>). Открывает </a:t>
            </a:r>
            <a:r>
              <a:rPr lang="ru-RU" sz="1800" dirty="0"/>
              <a:t>страницу по ссылке URL за пределами прототипа.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197982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>
                <a:latin typeface="+mn-lt"/>
              </a:rPr>
              <a:t>Анимации прототипа</a:t>
            </a:r>
            <a:endParaRPr lang="ru-RU" dirty="0">
              <a:latin typeface="+mn-lt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57250" y="1844824"/>
            <a:ext cx="7404653" cy="4038600"/>
          </a:xfrm>
        </p:spPr>
        <p:txBody>
          <a:bodyPr>
            <a:noAutofit/>
          </a:bodyPr>
          <a:lstStyle/>
          <a:p>
            <a:pPr marL="491490" indent="-457200">
              <a:buFont typeface="+mj-lt"/>
              <a:buAutoNum type="arabicPeriod"/>
            </a:pPr>
            <a:r>
              <a:rPr lang="ru-RU" sz="1800" dirty="0"/>
              <a:t>Мгновенно / без анимации (</a:t>
            </a:r>
            <a:r>
              <a:rPr lang="ru-RU" sz="1800" dirty="0" err="1" smtClean="0"/>
              <a:t>Instant</a:t>
            </a:r>
            <a:r>
              <a:rPr lang="ru-RU" sz="1800" dirty="0" smtClean="0"/>
              <a:t>). Мгновенно </a:t>
            </a:r>
            <a:r>
              <a:rPr lang="ru-RU" sz="1800" dirty="0"/>
              <a:t>отображает фрейм назначения</a:t>
            </a:r>
            <a:r>
              <a:rPr lang="ru-RU" sz="1800" dirty="0" smtClean="0"/>
              <a:t>.</a:t>
            </a:r>
            <a:endParaRPr lang="ru-RU" sz="1800" dirty="0"/>
          </a:p>
          <a:p>
            <a:pPr marL="491490" indent="-457200">
              <a:buFont typeface="+mj-lt"/>
              <a:buAutoNum type="arabicPeriod"/>
            </a:pPr>
            <a:r>
              <a:rPr lang="ru-RU" sz="1800" dirty="0" smtClean="0"/>
              <a:t>Растворение</a:t>
            </a:r>
            <a:r>
              <a:rPr lang="ru-RU" sz="1800" dirty="0"/>
              <a:t>(</a:t>
            </a:r>
            <a:r>
              <a:rPr lang="ru-RU" sz="1800" dirty="0" err="1"/>
              <a:t>Fade</a:t>
            </a:r>
            <a:r>
              <a:rPr lang="ru-RU" sz="1800" dirty="0"/>
              <a:t> </a:t>
            </a:r>
            <a:r>
              <a:rPr lang="ru-RU" sz="1800" dirty="0" err="1"/>
              <a:t>in</a:t>
            </a:r>
            <a:r>
              <a:rPr lang="ru-RU" sz="1800" dirty="0" smtClean="0"/>
              <a:t>). Фрейм </a:t>
            </a:r>
            <a:r>
              <a:rPr lang="ru-RU" sz="1800" dirty="0"/>
              <a:t>назначения будет плавно показан поверх </a:t>
            </a:r>
            <a:r>
              <a:rPr lang="ru-RU" sz="1800" dirty="0" smtClean="0"/>
              <a:t>исходного.</a:t>
            </a:r>
            <a:endParaRPr lang="ru-RU" sz="1800" dirty="0"/>
          </a:p>
          <a:p>
            <a:pPr marL="491490" indent="-457200">
              <a:buFont typeface="+mj-lt"/>
              <a:buAutoNum type="arabicPeriod"/>
            </a:pPr>
            <a:r>
              <a:rPr lang="ru-RU" sz="1800" dirty="0" err="1" smtClean="0"/>
              <a:t>Smart</a:t>
            </a:r>
            <a:r>
              <a:rPr lang="ru-RU" sz="1800" dirty="0" smtClean="0"/>
              <a:t> </a:t>
            </a:r>
            <a:r>
              <a:rPr lang="ru-RU" sz="1800" dirty="0" err="1" smtClean="0"/>
              <a:t>animate</a:t>
            </a:r>
            <a:r>
              <a:rPr lang="ru-RU" sz="1800" dirty="0" smtClean="0"/>
              <a:t>. </a:t>
            </a:r>
            <a:r>
              <a:rPr lang="ru-RU" sz="1800" dirty="0" err="1" smtClean="0"/>
              <a:t>Фигма</a:t>
            </a:r>
            <a:r>
              <a:rPr lang="ru-RU" sz="1800" dirty="0" smtClean="0"/>
              <a:t> </a:t>
            </a:r>
            <a:r>
              <a:rPr lang="ru-RU" sz="1800" dirty="0"/>
              <a:t>сама ищет подходящие кадры и вставляет плавную анимацию перехода</a:t>
            </a:r>
            <a:r>
              <a:rPr lang="ru-RU" sz="1800" dirty="0" smtClean="0"/>
              <a:t>.</a:t>
            </a:r>
            <a:endParaRPr lang="ru-RU" sz="1800" dirty="0"/>
          </a:p>
          <a:p>
            <a:pPr marL="491490" indent="-457200">
              <a:buFont typeface="+mj-lt"/>
              <a:buAutoNum type="arabicPeriod"/>
            </a:pPr>
            <a:r>
              <a:rPr lang="ru-RU" sz="1800" dirty="0" smtClean="0"/>
              <a:t>Перемещение</a:t>
            </a:r>
            <a:r>
              <a:rPr lang="ru-RU" sz="1800" dirty="0"/>
              <a:t>, перекрытие (</a:t>
            </a:r>
            <a:r>
              <a:rPr lang="ru-RU" sz="1800" dirty="0" err="1"/>
              <a:t>Move</a:t>
            </a:r>
            <a:r>
              <a:rPr lang="ru-RU" sz="1800" dirty="0"/>
              <a:t> </a:t>
            </a:r>
            <a:r>
              <a:rPr lang="ru-RU" sz="1800" dirty="0" err="1"/>
              <a:t>In</a:t>
            </a:r>
            <a:r>
              <a:rPr lang="ru-RU" sz="1800" dirty="0"/>
              <a:t> / </a:t>
            </a:r>
            <a:r>
              <a:rPr lang="ru-RU" sz="1800" dirty="0" err="1"/>
              <a:t>Move</a:t>
            </a:r>
            <a:r>
              <a:rPr lang="ru-RU" sz="1800" dirty="0"/>
              <a:t> </a:t>
            </a:r>
            <a:r>
              <a:rPr lang="ru-RU" sz="1800" dirty="0" err="1"/>
              <a:t>Out</a:t>
            </a:r>
            <a:r>
              <a:rPr lang="ru-RU" sz="1800" dirty="0" smtClean="0"/>
              <a:t>). Фрейм </a:t>
            </a:r>
            <a:r>
              <a:rPr lang="ru-RU" sz="1800" dirty="0"/>
              <a:t>назначения будет выезжать и перекрывать исходный фрейм.</a:t>
            </a:r>
          </a:p>
          <a:p>
            <a:pPr marL="491490" indent="-457200">
              <a:buFont typeface="+mj-lt"/>
              <a:buAutoNum type="arabicPeriod"/>
            </a:pPr>
            <a:r>
              <a:rPr lang="ru-RU" sz="1800" dirty="0" smtClean="0"/>
              <a:t>Смахивание </a:t>
            </a:r>
            <a:r>
              <a:rPr lang="ru-RU" sz="1800" dirty="0"/>
              <a:t>(</a:t>
            </a:r>
            <a:r>
              <a:rPr lang="ru-RU" sz="1800" dirty="0" err="1"/>
              <a:t>Push</a:t>
            </a:r>
            <a:r>
              <a:rPr lang="ru-RU" sz="1800" dirty="0" smtClean="0"/>
              <a:t>). Фрейм </a:t>
            </a:r>
            <a:r>
              <a:rPr lang="ru-RU" sz="1800" dirty="0"/>
              <a:t>назначения будет выталкивать исходный фрейм.</a:t>
            </a:r>
          </a:p>
          <a:p>
            <a:pPr marL="491490" indent="-457200">
              <a:buFont typeface="+mj-lt"/>
              <a:buAutoNum type="arabicPeriod"/>
            </a:pPr>
            <a:r>
              <a:rPr lang="ru-RU" sz="1800" dirty="0" err="1" smtClean="0"/>
              <a:t>Slide</a:t>
            </a:r>
            <a:r>
              <a:rPr lang="ru-RU" sz="1800" dirty="0" smtClean="0"/>
              <a:t> </a:t>
            </a:r>
            <a:r>
              <a:rPr lang="ru-RU" sz="1800" dirty="0" err="1"/>
              <a:t>In</a:t>
            </a:r>
            <a:r>
              <a:rPr lang="ru-RU" sz="1800" dirty="0"/>
              <a:t> / </a:t>
            </a:r>
            <a:r>
              <a:rPr lang="ru-RU" sz="1800" dirty="0" err="1"/>
              <a:t>Slide</a:t>
            </a:r>
            <a:r>
              <a:rPr lang="ru-RU" sz="1800" dirty="0"/>
              <a:t> </a:t>
            </a:r>
            <a:r>
              <a:rPr lang="ru-RU" sz="1800" dirty="0" err="1" smtClean="0"/>
              <a:t>Out</a:t>
            </a:r>
            <a:r>
              <a:rPr lang="ru-RU" sz="1800" dirty="0" smtClean="0"/>
              <a:t>. Перемещение </a:t>
            </a:r>
            <a:r>
              <a:rPr lang="ru-RU" sz="1800" dirty="0"/>
              <a:t>с растворением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23371224"/>
      </p:ext>
    </p:extLst>
  </p:cSld>
  <p:clrMapOvr>
    <a:masterClrMapping/>
  </p:clrMapOvr>
</p:sld>
</file>

<file path=ppt/theme/theme1.xml><?xml version="1.0" encoding="utf-8"?>
<a:theme xmlns:a="http://schemas.openxmlformats.org/drawingml/2006/main" name="Базис">
  <a:themeElements>
    <a:clrScheme name="Базис">
      <a:dk1>
        <a:srgbClr val="000000"/>
      </a:dk1>
      <a:lt1>
        <a:srgbClr val="FFFFFF"/>
      </a:lt1>
      <a:dk2>
        <a:srgbClr val="565349"/>
      </a:dk2>
      <a:lt2>
        <a:srgbClr val="DDDDDD"/>
      </a:lt2>
      <a:accent1>
        <a:srgbClr val="A6B727"/>
      </a:accent1>
      <a:accent2>
        <a:srgbClr val="DF5327"/>
      </a:accent2>
      <a:accent3>
        <a:srgbClr val="FE9E00"/>
      </a:accent3>
      <a:accent4>
        <a:srgbClr val="418AB3"/>
      </a:accent4>
      <a:accent5>
        <a:srgbClr val="D7D447"/>
      </a:accent5>
      <a:accent6>
        <a:srgbClr val="818183"/>
      </a:accent6>
      <a:hlink>
        <a:srgbClr val="F59E00"/>
      </a:hlink>
      <a:folHlink>
        <a:srgbClr val="B2B2B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Базис">
      <a:fillStyleLst>
        <a:solidFill>
          <a:schemeClr val="phClr"/>
        </a:solidFill>
        <a:solidFill>
          <a:schemeClr val="phClr">
            <a:tint val="55000"/>
            <a:satMod val="13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  <a:satMod val="105000"/>
              </a:schemeClr>
            </a:gs>
            <a:gs pos="100000">
              <a:schemeClr val="phClr"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27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95000"/>
            <a:satMod val="140000"/>
          </a:schemeClr>
        </a:solidFill>
        <a:solidFill>
          <a:schemeClr val="phClr">
            <a:tint val="90000"/>
            <a:shade val="85000"/>
            <a:satMod val="160000"/>
            <a:lumMod val="11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sis" id="{5665723A-49BA-4B57-8411-A56F8F207965}" vid="{ACC63D00-1EE0-4159-BF5A-6FF02000B710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Основа</Template>
  <TotalTime>2291</TotalTime>
  <Words>740</Words>
  <Application>Microsoft Office PowerPoint</Application>
  <PresentationFormat>Экран (4:3)</PresentationFormat>
  <Paragraphs>79</Paragraphs>
  <Slides>15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22" baseType="lpstr">
      <vt:lpstr>Arial</vt:lpstr>
      <vt:lpstr>Arial Black</vt:lpstr>
      <vt:lpstr>Arial Narrow</vt:lpstr>
      <vt:lpstr>Calibri</vt:lpstr>
      <vt:lpstr>Calibri Light</vt:lpstr>
      <vt:lpstr>Corbel</vt:lpstr>
      <vt:lpstr>Базис</vt:lpstr>
      <vt:lpstr>Figma: знакомство</vt:lpstr>
      <vt:lpstr>UX и UI</vt:lpstr>
      <vt:lpstr>Стандарт</vt:lpstr>
      <vt:lpstr>Этапы разработки интерфейса сайта</vt:lpstr>
      <vt:lpstr>Прототипирование в Figma</vt:lpstr>
      <vt:lpstr>Прототип интерфейса</vt:lpstr>
      <vt:lpstr>Интерактивный прототипы</vt:lpstr>
      <vt:lpstr>Пример интерактивных прототипов</vt:lpstr>
      <vt:lpstr>FIGMA  - это редактор для…</vt:lpstr>
      <vt:lpstr>Интерфейс FIGMA</vt:lpstr>
      <vt:lpstr>Элементы FIGMA</vt:lpstr>
      <vt:lpstr>События (триггеры)</vt:lpstr>
      <vt:lpstr>События (триггеры)</vt:lpstr>
      <vt:lpstr>Виды взаимодействия</vt:lpstr>
      <vt:lpstr>Анимации прототипа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Web-технологии</dc:title>
  <dc:creator>Юлия</dc:creator>
  <cp:lastModifiedBy>julia</cp:lastModifiedBy>
  <cp:revision>84</cp:revision>
  <cp:lastPrinted>2021-02-08T06:52:36Z</cp:lastPrinted>
  <dcterms:created xsi:type="dcterms:W3CDTF">2013-01-24T05:01:35Z</dcterms:created>
  <dcterms:modified xsi:type="dcterms:W3CDTF">2026-08-11T06:59:46Z</dcterms:modified>
</cp:coreProperties>
</file>